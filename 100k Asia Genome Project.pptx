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Barlow SemiCondensed" charset="1" panose="00000506000000000000"/>
      <p:regular r:id="rId30"/>
    </p:embeddedFont>
    <p:embeddedFont>
      <p:font typeface="Barlow SemiCondensed Bold" charset="1" panose="00000806000000000000"/>
      <p:regular r:id="rId31"/>
    </p:embeddedFont>
    <p:embeddedFont>
      <p:font typeface="Canva Sans" charset="1" panose="020B0503030501040103"/>
      <p:regular r:id="rId32"/>
    </p:embeddedFont>
    <p:embeddedFont>
      <p:font typeface="Canva Sans Bold" charset="1" panose="020B08030305010401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31" Target="../media/image3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29.png" Type="http://schemas.openxmlformats.org/officeDocument/2006/relationships/image"/><Relationship Id="rId13" Target="../media/image30.sv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48.svg" Type="http://schemas.openxmlformats.org/officeDocument/2006/relationships/image"/><Relationship Id="rId16" Target="../media/image49.png" Type="http://schemas.openxmlformats.org/officeDocument/2006/relationships/image"/><Relationship Id="rId17" Target="../media/image50.svg" Type="http://schemas.openxmlformats.org/officeDocument/2006/relationships/image"/><Relationship Id="rId18" Target="../media/image51.png" Type="http://schemas.openxmlformats.org/officeDocument/2006/relationships/image"/><Relationship Id="rId19" Target="../media/image52.svg" Type="http://schemas.openxmlformats.org/officeDocument/2006/relationships/image"/><Relationship Id="rId2" Target="../media/image1.png" Type="http://schemas.openxmlformats.org/officeDocument/2006/relationships/image"/><Relationship Id="rId20" Target="../media/image53.png" Type="http://schemas.openxmlformats.org/officeDocument/2006/relationships/image"/><Relationship Id="rId21" Target="../media/image54.sv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61.png" Type="http://schemas.openxmlformats.org/officeDocument/2006/relationships/image"/><Relationship Id="rId15" Target="../media/image62.svg" Type="http://schemas.openxmlformats.org/officeDocument/2006/relationships/image"/><Relationship Id="rId16" Target="../media/image6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4.png" Type="http://schemas.openxmlformats.org/officeDocument/2006/relationships/image"/><Relationship Id="rId5" Target="../media/image75.svg" Type="http://schemas.openxmlformats.org/officeDocument/2006/relationships/image"/><Relationship Id="rId6" Target="../media/image76.png" Type="http://schemas.openxmlformats.org/officeDocument/2006/relationships/image"/><Relationship Id="rId7" Target="../media/image77.png" Type="http://schemas.openxmlformats.org/officeDocument/2006/relationships/image"/><Relationship Id="rId8" Target="../media/image78.svg" Type="http://schemas.openxmlformats.org/officeDocument/2006/relationships/image"/><Relationship Id="rId9"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9.png" Type="http://schemas.openxmlformats.org/officeDocument/2006/relationships/image"/><Relationship Id="rId5" Target="../media/image80.png" Type="http://schemas.openxmlformats.org/officeDocument/2006/relationships/image"/><Relationship Id="rId6" Target="../media/image81.svg" Type="http://schemas.openxmlformats.org/officeDocument/2006/relationships/image"/><Relationship Id="rId7" Target="../media/image82.png" Type="http://schemas.openxmlformats.org/officeDocument/2006/relationships/image"/><Relationship Id="rId8" Target="../media/image8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2.svg" Type="http://schemas.openxmlformats.org/officeDocument/2006/relationships/image"/><Relationship Id="rId2" Target="../media/image84.png" Type="http://schemas.openxmlformats.org/officeDocument/2006/relationships/image"/><Relationship Id="rId3" Target="../media/image85.sv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 Id="rId6" Target="../media/image88.png" Type="http://schemas.openxmlformats.org/officeDocument/2006/relationships/image"/><Relationship Id="rId7" Target="../media/image89.png" Type="http://schemas.openxmlformats.org/officeDocument/2006/relationships/image"/><Relationship Id="rId8" Target="../media/image90.svg" Type="http://schemas.openxmlformats.org/officeDocument/2006/relationships/image"/><Relationship Id="rId9" Target="../media/image9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95.png" Type="http://schemas.openxmlformats.org/officeDocument/2006/relationships/image"/><Relationship Id="rId7" Target="../media/image9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9.png" Type="http://schemas.openxmlformats.org/officeDocument/2006/relationships/image"/><Relationship Id="rId11" Target="../media/image100.png" Type="http://schemas.openxmlformats.org/officeDocument/2006/relationships/image"/><Relationship Id="rId12" Target="../media/image10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4.png" Type="http://schemas.openxmlformats.org/officeDocument/2006/relationships/image"/><Relationship Id="rId3" Target="../media/image85.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102.png" Type="http://schemas.openxmlformats.org/officeDocument/2006/relationships/image"/><Relationship Id="rId7" Target="../media/image10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16" Target="../media/image29.png" Type="http://schemas.openxmlformats.org/officeDocument/2006/relationships/image"/><Relationship Id="rId17" Target="../media/image30.svg" Type="http://schemas.openxmlformats.org/officeDocument/2006/relationships/image"/><Relationship Id="rId18" Target="../media/image108.png" Type="http://schemas.openxmlformats.org/officeDocument/2006/relationships/image"/><Relationship Id="rId19" Target="../media/image109.svg" Type="http://schemas.openxmlformats.org/officeDocument/2006/relationships/image"/><Relationship Id="rId2" Target="../media/image84.png" Type="http://schemas.openxmlformats.org/officeDocument/2006/relationships/image"/><Relationship Id="rId20" Target="../media/image17.png" Type="http://schemas.openxmlformats.org/officeDocument/2006/relationships/image"/><Relationship Id="rId21" Target="../media/image18.svg" Type="http://schemas.openxmlformats.org/officeDocument/2006/relationships/image"/><Relationship Id="rId22" Target="../media/image5.png" Type="http://schemas.openxmlformats.org/officeDocument/2006/relationships/image"/><Relationship Id="rId23" Target="../media/image6.svg" Type="http://schemas.openxmlformats.org/officeDocument/2006/relationships/image"/><Relationship Id="rId24" Target="../media/image110.png" Type="http://schemas.openxmlformats.org/officeDocument/2006/relationships/image"/><Relationship Id="rId25" Target="../media/image111.svg" Type="http://schemas.openxmlformats.org/officeDocument/2006/relationships/image"/><Relationship Id="rId26" Target="../media/image112.png" Type="http://schemas.openxmlformats.org/officeDocument/2006/relationships/image"/><Relationship Id="rId27" Target="../media/image113.svg" Type="http://schemas.openxmlformats.org/officeDocument/2006/relationships/image"/><Relationship Id="rId28" Target="../media/image19.png" Type="http://schemas.openxmlformats.org/officeDocument/2006/relationships/image"/><Relationship Id="rId29" Target="../media/image20.svg" Type="http://schemas.openxmlformats.org/officeDocument/2006/relationships/image"/><Relationship Id="rId3" Target="../media/image85.svg" Type="http://schemas.openxmlformats.org/officeDocument/2006/relationships/image"/><Relationship Id="rId30" Target="../media/image114.png" Type="http://schemas.openxmlformats.org/officeDocument/2006/relationships/image"/><Relationship Id="rId31" Target="../media/image115.svg" Type="http://schemas.openxmlformats.org/officeDocument/2006/relationships/image"/><Relationship Id="rId32" Target="../media/image116.png" Type="http://schemas.openxmlformats.org/officeDocument/2006/relationships/image"/><Relationship Id="rId33" Target="../media/image117.svg" Type="http://schemas.openxmlformats.org/officeDocument/2006/relationships/image"/><Relationship Id="rId34" Target="../media/image118.png" Type="http://schemas.openxmlformats.org/officeDocument/2006/relationships/image"/><Relationship Id="rId35" Target="../media/image1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4.png" Type="http://schemas.openxmlformats.org/officeDocument/2006/relationships/image"/><Relationship Id="rId7" Target="../media/image105.svg" Type="http://schemas.openxmlformats.org/officeDocument/2006/relationships/image"/><Relationship Id="rId8" Target="../media/image106.png" Type="http://schemas.openxmlformats.org/officeDocument/2006/relationships/image"/><Relationship Id="rId9" Target="../media/image10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0.png" Type="http://schemas.openxmlformats.org/officeDocument/2006/relationships/image"/><Relationship Id="rId5" Target="../media/image121.svg" Type="http://schemas.openxmlformats.org/officeDocument/2006/relationships/image"/><Relationship Id="rId6" Target="../media/image1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4.png" Type="http://schemas.openxmlformats.org/officeDocument/2006/relationships/image"/><Relationship Id="rId3" Target="../media/image85.svg" Type="http://schemas.openxmlformats.org/officeDocument/2006/relationships/image"/><Relationship Id="rId4" Target="../media/image120.png" Type="http://schemas.openxmlformats.org/officeDocument/2006/relationships/image"/><Relationship Id="rId5" Target="../media/image121.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3.png" Type="http://schemas.openxmlformats.org/officeDocument/2006/relationships/image"/><Relationship Id="rId5" Target="../media/image124.svg" Type="http://schemas.openxmlformats.org/officeDocument/2006/relationships/image"/><Relationship Id="rId6" Target="../media/image125.png" Type="http://schemas.openxmlformats.org/officeDocument/2006/relationships/image"/><Relationship Id="rId7" Target="../media/image126.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127.png" Type="http://schemas.openxmlformats.org/officeDocument/2006/relationships/image"/><Relationship Id="rId7" Target="../media/image128.svg" Type="http://schemas.openxmlformats.org/officeDocument/2006/relationships/image"/><Relationship Id="rId8" Target="../media/image1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2.png" Type="http://schemas.openxmlformats.org/officeDocument/2006/relationships/image"/><Relationship Id="rId11" Target="../media/image13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130.png" Type="http://schemas.openxmlformats.org/officeDocument/2006/relationships/image"/><Relationship Id="rId9" Target="../media/image13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134.png" Type="http://schemas.openxmlformats.org/officeDocument/2006/relationships/image"/><Relationship Id="rId9" Target="../media/image13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7.png" Type="http://schemas.openxmlformats.org/officeDocument/2006/relationships/image"/><Relationship Id="rId15" Target="../media/image28.svg" Type="http://schemas.openxmlformats.org/officeDocument/2006/relationships/image"/><Relationship Id="rId16" Target="../media/image140.png" Type="http://schemas.openxmlformats.org/officeDocument/2006/relationships/image"/><Relationship Id="rId17" Target="../media/image14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6.png" Type="http://schemas.openxmlformats.org/officeDocument/2006/relationships/image"/><Relationship Id="rId5" Target="../media/image137.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8.png" Type="http://schemas.openxmlformats.org/officeDocument/2006/relationships/image"/><Relationship Id="rId9" Target="../media/image13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42.png" Type="http://schemas.openxmlformats.org/officeDocument/2006/relationships/image"/><Relationship Id="rId17" Target="../media/image143.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106.png" Type="http://schemas.openxmlformats.org/officeDocument/2006/relationships/image"/><Relationship Id="rId23" Target="../media/image107.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28" Target="../media/image29.png" Type="http://schemas.openxmlformats.org/officeDocument/2006/relationships/image"/><Relationship Id="rId29" Target="../media/image30.svg" Type="http://schemas.openxmlformats.org/officeDocument/2006/relationships/image"/><Relationship Id="rId3" Target="../media/image2.svg" Type="http://schemas.openxmlformats.org/officeDocument/2006/relationships/image"/><Relationship Id="rId30" Target="../media/image144.png" Type="http://schemas.openxmlformats.org/officeDocument/2006/relationships/image"/><Relationship Id="rId31" Target="../media/image145.svg" Type="http://schemas.openxmlformats.org/officeDocument/2006/relationships/image"/><Relationship Id="rId32" Target="../media/image146.png" Type="http://schemas.openxmlformats.org/officeDocument/2006/relationships/image"/><Relationship Id="rId33" Target="../media/image147.svg" Type="http://schemas.openxmlformats.org/officeDocument/2006/relationships/image"/><Relationship Id="rId34" Target="../media/image148.png" Type="http://schemas.openxmlformats.org/officeDocument/2006/relationships/image"/><Relationship Id="rId35" Target="../media/image149.svg" Type="http://schemas.openxmlformats.org/officeDocument/2006/relationships/image"/><Relationship Id="rId36" Target="../media/image150.png" Type="http://schemas.openxmlformats.org/officeDocument/2006/relationships/image"/><Relationship Id="rId37" Target="../media/image151.svg" Type="http://schemas.openxmlformats.org/officeDocument/2006/relationships/image"/><Relationship Id="rId38" Target="../media/image152.png" Type="http://schemas.openxmlformats.org/officeDocument/2006/relationships/image"/><Relationship Id="rId39" Target="../media/image153.svg" Type="http://schemas.openxmlformats.org/officeDocument/2006/relationships/image"/><Relationship Id="rId4" Target="../media/image3.png" Type="http://schemas.openxmlformats.org/officeDocument/2006/relationships/image"/><Relationship Id="rId40" Target="../media/image74.png" Type="http://schemas.openxmlformats.org/officeDocument/2006/relationships/image"/><Relationship Id="rId41" Target="../media/image75.svg" Type="http://schemas.openxmlformats.org/officeDocument/2006/relationships/image"/><Relationship Id="rId42" Target="../media/image59.png" Type="http://schemas.openxmlformats.org/officeDocument/2006/relationships/image"/><Relationship Id="rId43" Target="../media/image60.sv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53742" y="-214313"/>
            <a:ext cx="19566396" cy="11006098"/>
          </a:xfrm>
          <a:custGeom>
            <a:avLst/>
            <a:gdLst/>
            <a:ahLst/>
            <a:cxnLst/>
            <a:rect r="r" b="b" t="t" l="l"/>
            <a:pathLst>
              <a:path h="11006098" w="19566396">
                <a:moveTo>
                  <a:pt x="0" y="0"/>
                </a:moveTo>
                <a:lnTo>
                  <a:pt x="19566396" y="0"/>
                </a:lnTo>
                <a:lnTo>
                  <a:pt x="19566396" y="11006098"/>
                </a:lnTo>
                <a:lnTo>
                  <a:pt x="0" y="11006098"/>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5200426" y="2300378"/>
            <a:ext cx="7630710" cy="5090629"/>
            <a:chOff x="0" y="0"/>
            <a:chExt cx="2009734" cy="1340742"/>
          </a:xfrm>
        </p:grpSpPr>
        <p:sp>
          <p:nvSpPr>
            <p:cNvPr name="Freeform 4" id="4"/>
            <p:cNvSpPr/>
            <p:nvPr/>
          </p:nvSpPr>
          <p:spPr>
            <a:xfrm flipH="false" flipV="false" rot="0">
              <a:off x="0" y="0"/>
              <a:ext cx="2009734" cy="1340742"/>
            </a:xfrm>
            <a:custGeom>
              <a:avLst/>
              <a:gdLst/>
              <a:ahLst/>
              <a:cxnLst/>
              <a:rect r="r" b="b" t="t" l="l"/>
              <a:pathLst>
                <a:path h="1340742" w="2009734">
                  <a:moveTo>
                    <a:pt x="0" y="0"/>
                  </a:moveTo>
                  <a:lnTo>
                    <a:pt x="2009734" y="0"/>
                  </a:lnTo>
                  <a:lnTo>
                    <a:pt x="2009734" y="1340742"/>
                  </a:lnTo>
                  <a:lnTo>
                    <a:pt x="0" y="1340742"/>
                  </a:lnTo>
                  <a:close/>
                </a:path>
              </a:pathLst>
            </a:custGeom>
            <a:solidFill>
              <a:srgbClr val="000001"/>
            </a:solidFill>
            <a:ln cap="sq">
              <a:noFill/>
              <a:prstDash val="solid"/>
              <a:miter/>
            </a:ln>
          </p:spPr>
        </p:sp>
        <p:sp>
          <p:nvSpPr>
            <p:cNvPr name="TextBox 5" id="5"/>
            <p:cNvSpPr txBox="true"/>
            <p:nvPr/>
          </p:nvSpPr>
          <p:spPr>
            <a:xfrm>
              <a:off x="0" y="38100"/>
              <a:ext cx="2009734" cy="1302642"/>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6" id="6"/>
          <p:cNvGrpSpPr/>
          <p:nvPr/>
        </p:nvGrpSpPr>
        <p:grpSpPr>
          <a:xfrm rot="0">
            <a:off x="5021683" y="1938254"/>
            <a:ext cx="7620000" cy="5275614"/>
            <a:chOff x="0" y="0"/>
            <a:chExt cx="10160000" cy="7034151"/>
          </a:xfrm>
        </p:grpSpPr>
        <p:grpSp>
          <p:nvGrpSpPr>
            <p:cNvPr name="Group 7" id="7"/>
            <p:cNvGrpSpPr/>
            <p:nvPr/>
          </p:nvGrpSpPr>
          <p:grpSpPr>
            <a:xfrm rot="0">
              <a:off x="0" y="3553550"/>
              <a:ext cx="10160000" cy="3480601"/>
              <a:chOff x="0" y="0"/>
              <a:chExt cx="2006914" cy="687526"/>
            </a:xfrm>
          </p:grpSpPr>
          <p:sp>
            <p:nvSpPr>
              <p:cNvPr name="Freeform 8" id="8"/>
              <p:cNvSpPr/>
              <p:nvPr/>
            </p:nvSpPr>
            <p:spPr>
              <a:xfrm flipH="false" flipV="false" rot="0">
                <a:off x="0" y="0"/>
                <a:ext cx="2006914" cy="687526"/>
              </a:xfrm>
              <a:custGeom>
                <a:avLst/>
                <a:gdLst/>
                <a:ahLst/>
                <a:cxnLst/>
                <a:rect r="r" b="b" t="t" l="l"/>
                <a:pathLst>
                  <a:path h="687526" w="2006914">
                    <a:moveTo>
                      <a:pt x="0" y="0"/>
                    </a:moveTo>
                    <a:lnTo>
                      <a:pt x="2006914" y="0"/>
                    </a:lnTo>
                    <a:lnTo>
                      <a:pt x="2006914" y="687526"/>
                    </a:lnTo>
                    <a:lnTo>
                      <a:pt x="0" y="687526"/>
                    </a:lnTo>
                    <a:close/>
                  </a:path>
                </a:pathLst>
              </a:custGeom>
              <a:solidFill>
                <a:srgbClr val="FFFFFF"/>
              </a:solidFill>
              <a:ln w="66675" cap="sq">
                <a:solidFill>
                  <a:srgbClr val="000001"/>
                </a:solidFill>
                <a:prstDash val="solid"/>
                <a:miter/>
              </a:ln>
            </p:spPr>
          </p:sp>
          <p:sp>
            <p:nvSpPr>
              <p:cNvPr name="TextBox 9" id="9"/>
              <p:cNvSpPr txBox="true"/>
              <p:nvPr/>
            </p:nvSpPr>
            <p:spPr>
              <a:xfrm>
                <a:off x="0" y="-9525"/>
                <a:ext cx="2006914" cy="697051"/>
              </a:xfrm>
              <a:prstGeom prst="rect">
                <a:avLst/>
              </a:prstGeom>
            </p:spPr>
            <p:txBody>
              <a:bodyPr anchor="ctr" rtlCol="false" tIns="228600" lIns="228600" bIns="228600" rIns="228600"/>
              <a:lstStyle/>
              <a:p>
                <a:pPr algn="ctr" marL="0" indent="0" lvl="0">
                  <a:lnSpc>
                    <a:spcPts val="5160"/>
                  </a:lnSpc>
                  <a:spcBef>
                    <a:spcPct val="0"/>
                  </a:spcBef>
                </a:pPr>
                <a:r>
                  <a:rPr lang="en-US" sz="4300" spc="-21">
                    <a:solidFill>
                      <a:srgbClr val="000001"/>
                    </a:solidFill>
                    <a:latin typeface="Barlow SemiCondensed"/>
                    <a:ea typeface="Barlow SemiCondensed"/>
                    <a:cs typeface="Barlow SemiCondensed"/>
                    <a:sym typeface="Barlow SemiCondensed"/>
                  </a:rPr>
                  <a:t>Genetic Mutations and Adaptations Across Four Asian Countries</a:t>
                </a:r>
              </a:p>
            </p:txBody>
          </p:sp>
        </p:grpSp>
        <p:grpSp>
          <p:nvGrpSpPr>
            <p:cNvPr name="Group 10" id="10"/>
            <p:cNvGrpSpPr/>
            <p:nvPr/>
          </p:nvGrpSpPr>
          <p:grpSpPr>
            <a:xfrm rot="0">
              <a:off x="0" y="0"/>
              <a:ext cx="10160000" cy="3525611"/>
              <a:chOff x="0" y="0"/>
              <a:chExt cx="2006914" cy="696417"/>
            </a:xfrm>
          </p:grpSpPr>
          <p:sp>
            <p:nvSpPr>
              <p:cNvPr name="Freeform 11" id="11"/>
              <p:cNvSpPr/>
              <p:nvPr/>
            </p:nvSpPr>
            <p:spPr>
              <a:xfrm flipH="false" flipV="false" rot="0">
                <a:off x="0" y="0"/>
                <a:ext cx="2006914" cy="696417"/>
              </a:xfrm>
              <a:custGeom>
                <a:avLst/>
                <a:gdLst/>
                <a:ahLst/>
                <a:cxnLst/>
                <a:rect r="r" b="b" t="t" l="l"/>
                <a:pathLst>
                  <a:path h="696417" w="2006914">
                    <a:moveTo>
                      <a:pt x="0" y="0"/>
                    </a:moveTo>
                    <a:lnTo>
                      <a:pt x="2006914" y="0"/>
                    </a:lnTo>
                    <a:lnTo>
                      <a:pt x="2006914" y="696417"/>
                    </a:lnTo>
                    <a:lnTo>
                      <a:pt x="0" y="696417"/>
                    </a:lnTo>
                    <a:close/>
                  </a:path>
                </a:pathLst>
              </a:custGeom>
              <a:solidFill>
                <a:srgbClr val="E5A6F4"/>
              </a:solidFill>
              <a:ln w="66675" cap="sq">
                <a:solidFill>
                  <a:srgbClr val="000001"/>
                </a:solidFill>
                <a:prstDash val="solid"/>
                <a:miter/>
              </a:ln>
            </p:spPr>
          </p:sp>
          <p:sp>
            <p:nvSpPr>
              <p:cNvPr name="TextBox 12" id="12"/>
              <p:cNvSpPr txBox="true"/>
              <p:nvPr/>
            </p:nvSpPr>
            <p:spPr>
              <a:xfrm>
                <a:off x="0" y="57150"/>
                <a:ext cx="2006914" cy="639267"/>
              </a:xfrm>
              <a:prstGeom prst="rect">
                <a:avLst/>
              </a:prstGeom>
            </p:spPr>
            <p:txBody>
              <a:bodyPr anchor="t" rtlCol="false" tIns="203200" lIns="203200" bIns="203200" rIns="203200"/>
              <a:lstStyle/>
              <a:p>
                <a:pPr algn="ctr" marL="0" indent="0" lvl="0">
                  <a:lnSpc>
                    <a:spcPts val="7259"/>
                  </a:lnSpc>
                  <a:spcBef>
                    <a:spcPct val="0"/>
                  </a:spcBef>
                </a:pPr>
                <a:r>
                  <a:rPr lang="en-US" b="true" sz="6599">
                    <a:solidFill>
                      <a:srgbClr val="000001"/>
                    </a:solidFill>
                    <a:latin typeface="Barlow SemiCondensed Bold"/>
                    <a:ea typeface="Barlow SemiCondensed Bold"/>
                    <a:cs typeface="Barlow SemiCondensed Bold"/>
                    <a:sym typeface="Barlow SemiCondensed Bold"/>
                  </a:rPr>
                  <a:t>GENE ERRORS &amp; EVOLUTION</a:t>
                </a:r>
              </a:p>
            </p:txBody>
          </p:sp>
        </p:grpSp>
      </p:grpSp>
      <p:sp>
        <p:nvSpPr>
          <p:cNvPr name="Freeform 13" id="13"/>
          <p:cNvSpPr/>
          <p:nvPr/>
        </p:nvSpPr>
        <p:spPr>
          <a:xfrm flipH="false" flipV="false" rot="0">
            <a:off x="3199126" y="830587"/>
            <a:ext cx="804256" cy="857250"/>
          </a:xfrm>
          <a:custGeom>
            <a:avLst/>
            <a:gdLst/>
            <a:ahLst/>
            <a:cxnLst/>
            <a:rect r="r" b="b" t="t" l="l"/>
            <a:pathLst>
              <a:path h="857250" w="804256">
                <a:moveTo>
                  <a:pt x="0" y="0"/>
                </a:moveTo>
                <a:lnTo>
                  <a:pt x="804256" y="0"/>
                </a:lnTo>
                <a:lnTo>
                  <a:pt x="804256" y="857250"/>
                </a:lnTo>
                <a:lnTo>
                  <a:pt x="0" y="857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0446076" y="-1155570"/>
            <a:ext cx="1434000" cy="3520983"/>
          </a:xfrm>
          <a:custGeom>
            <a:avLst/>
            <a:gdLst/>
            <a:ahLst/>
            <a:cxnLst/>
            <a:rect r="r" b="b" t="t" l="l"/>
            <a:pathLst>
              <a:path h="3520983" w="1434000">
                <a:moveTo>
                  <a:pt x="0" y="0"/>
                </a:moveTo>
                <a:lnTo>
                  <a:pt x="1434000" y="0"/>
                </a:lnTo>
                <a:lnTo>
                  <a:pt x="1434000" y="3520983"/>
                </a:lnTo>
                <a:lnTo>
                  <a:pt x="0" y="35209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5" id="15"/>
          <p:cNvSpPr/>
          <p:nvPr/>
        </p:nvSpPr>
        <p:spPr>
          <a:xfrm flipH="false" flipV="false" rot="0">
            <a:off x="10446076" y="-1220604"/>
            <a:ext cx="1434000" cy="3520983"/>
          </a:xfrm>
          <a:custGeom>
            <a:avLst/>
            <a:gdLst/>
            <a:ahLst/>
            <a:cxnLst/>
            <a:rect r="r" b="b" t="t" l="l"/>
            <a:pathLst>
              <a:path h="3520983" w="1434000">
                <a:moveTo>
                  <a:pt x="0" y="0"/>
                </a:moveTo>
                <a:lnTo>
                  <a:pt x="1434000" y="0"/>
                </a:lnTo>
                <a:lnTo>
                  <a:pt x="1434000" y="3520982"/>
                </a:lnTo>
                <a:lnTo>
                  <a:pt x="0" y="3520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6" id="16"/>
          <p:cNvSpPr/>
          <p:nvPr/>
        </p:nvSpPr>
        <p:spPr>
          <a:xfrm flipH="false" flipV="false" rot="0">
            <a:off x="14121641" y="1638769"/>
            <a:ext cx="954000" cy="1218731"/>
          </a:xfrm>
          <a:custGeom>
            <a:avLst/>
            <a:gdLst/>
            <a:ahLst/>
            <a:cxnLst/>
            <a:rect r="r" b="b" t="t" l="l"/>
            <a:pathLst>
              <a:path h="1218731" w="954000">
                <a:moveTo>
                  <a:pt x="0" y="0"/>
                </a:moveTo>
                <a:lnTo>
                  <a:pt x="954000" y="0"/>
                </a:lnTo>
                <a:lnTo>
                  <a:pt x="954000" y="1218731"/>
                </a:lnTo>
                <a:lnTo>
                  <a:pt x="0" y="1218731"/>
                </a:lnTo>
                <a:lnTo>
                  <a:pt x="0" y="0"/>
                </a:lnTo>
                <a:close/>
              </a:path>
            </a:pathLst>
          </a:custGeom>
          <a:blipFill>
            <a:blip r:embed="rId10">
              <a:extLst>
                <a:ext uri="{96DAC541-7B7A-43D3-8B79-37D633B846F1}">
                  <asvg:svgBlip xmlns:asvg="http://schemas.microsoft.com/office/drawing/2016/SVG/main" r:embed="rId11"/>
                </a:ext>
              </a:extLst>
            </a:blip>
            <a:stretch>
              <a:fillRect l="0" t="-64545" r="-110205" b="0"/>
            </a:stretch>
          </a:blipFill>
          <a:ln cap="sq">
            <a:noFill/>
            <a:prstDash val="solid"/>
            <a:miter/>
          </a:ln>
        </p:spPr>
      </p:sp>
      <p:sp>
        <p:nvSpPr>
          <p:cNvPr name="Freeform 17" id="17"/>
          <p:cNvSpPr/>
          <p:nvPr/>
        </p:nvSpPr>
        <p:spPr>
          <a:xfrm flipH="false" flipV="false" rot="0">
            <a:off x="1809565" y="2306963"/>
            <a:ext cx="1791689" cy="1101074"/>
          </a:xfrm>
          <a:custGeom>
            <a:avLst/>
            <a:gdLst/>
            <a:ahLst/>
            <a:cxnLst/>
            <a:rect r="r" b="b" t="t" l="l"/>
            <a:pathLst>
              <a:path h="1101074" w="1791689">
                <a:moveTo>
                  <a:pt x="0" y="0"/>
                </a:moveTo>
                <a:lnTo>
                  <a:pt x="1791689" y="0"/>
                </a:lnTo>
                <a:lnTo>
                  <a:pt x="1791689" y="1101074"/>
                </a:lnTo>
                <a:lnTo>
                  <a:pt x="0" y="11010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8" id="18"/>
          <p:cNvSpPr/>
          <p:nvPr/>
        </p:nvSpPr>
        <p:spPr>
          <a:xfrm flipH="false" flipV="false" rot="0">
            <a:off x="1753619" y="2248134"/>
            <a:ext cx="1791689" cy="1101074"/>
          </a:xfrm>
          <a:custGeom>
            <a:avLst/>
            <a:gdLst/>
            <a:ahLst/>
            <a:cxnLst/>
            <a:rect r="r" b="b" t="t" l="l"/>
            <a:pathLst>
              <a:path h="1101074" w="1791689">
                <a:moveTo>
                  <a:pt x="0" y="0"/>
                </a:moveTo>
                <a:lnTo>
                  <a:pt x="1791689" y="0"/>
                </a:lnTo>
                <a:lnTo>
                  <a:pt x="1791689" y="1101075"/>
                </a:lnTo>
                <a:lnTo>
                  <a:pt x="0" y="110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5400000">
            <a:off x="534443" y="16012"/>
            <a:ext cx="2036263" cy="1047750"/>
          </a:xfrm>
          <a:custGeom>
            <a:avLst/>
            <a:gdLst/>
            <a:ahLst/>
            <a:cxnLst/>
            <a:rect r="r" b="b" t="t" l="l"/>
            <a:pathLst>
              <a:path h="1047750" w="2036263">
                <a:moveTo>
                  <a:pt x="0" y="0"/>
                </a:moveTo>
                <a:lnTo>
                  <a:pt x="2036264" y="0"/>
                </a:lnTo>
                <a:lnTo>
                  <a:pt x="2036264" y="1047750"/>
                </a:lnTo>
                <a:lnTo>
                  <a:pt x="0" y="10477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20" id="20"/>
          <p:cNvSpPr/>
          <p:nvPr/>
        </p:nvSpPr>
        <p:spPr>
          <a:xfrm flipH="false" flipV="false" rot="-4174034">
            <a:off x="12296128" y="3791659"/>
            <a:ext cx="2862566" cy="1250809"/>
          </a:xfrm>
          <a:custGeom>
            <a:avLst/>
            <a:gdLst/>
            <a:ahLst/>
            <a:cxnLst/>
            <a:rect r="r" b="b" t="t" l="l"/>
            <a:pathLst>
              <a:path h="1250809" w="2862566">
                <a:moveTo>
                  <a:pt x="0" y="0"/>
                </a:moveTo>
                <a:lnTo>
                  <a:pt x="2862566" y="0"/>
                </a:lnTo>
                <a:lnTo>
                  <a:pt x="2862566" y="1250810"/>
                </a:lnTo>
                <a:lnTo>
                  <a:pt x="0" y="125081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1483212">
            <a:off x="10996036" y="3697780"/>
            <a:ext cx="884040" cy="1209508"/>
          </a:xfrm>
          <a:custGeom>
            <a:avLst/>
            <a:gdLst/>
            <a:ahLst/>
            <a:cxnLst/>
            <a:rect r="r" b="b" t="t" l="l"/>
            <a:pathLst>
              <a:path h="1209508" w="884040">
                <a:moveTo>
                  <a:pt x="0" y="0"/>
                </a:moveTo>
                <a:lnTo>
                  <a:pt x="884040" y="0"/>
                </a:lnTo>
                <a:lnTo>
                  <a:pt x="884040" y="1209508"/>
                </a:lnTo>
                <a:lnTo>
                  <a:pt x="0" y="120950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22" id="22"/>
          <p:cNvSpPr/>
          <p:nvPr/>
        </p:nvSpPr>
        <p:spPr>
          <a:xfrm flipH="false" flipV="false" rot="0">
            <a:off x="342900" y="1137735"/>
            <a:ext cx="1390765" cy="4872106"/>
          </a:xfrm>
          <a:custGeom>
            <a:avLst/>
            <a:gdLst/>
            <a:ahLst/>
            <a:cxnLst/>
            <a:rect r="r" b="b" t="t" l="l"/>
            <a:pathLst>
              <a:path h="4872106" w="1390765">
                <a:moveTo>
                  <a:pt x="0" y="0"/>
                </a:moveTo>
                <a:lnTo>
                  <a:pt x="1390765" y="0"/>
                </a:lnTo>
                <a:lnTo>
                  <a:pt x="1390765" y="4872106"/>
                </a:lnTo>
                <a:lnTo>
                  <a:pt x="0" y="487210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23" id="23"/>
          <p:cNvSpPr/>
          <p:nvPr/>
        </p:nvSpPr>
        <p:spPr>
          <a:xfrm flipH="false" flipV="false" rot="0">
            <a:off x="5021683" y="604921"/>
            <a:ext cx="1086650" cy="2511165"/>
          </a:xfrm>
          <a:custGeom>
            <a:avLst/>
            <a:gdLst/>
            <a:ahLst/>
            <a:cxnLst/>
            <a:rect r="r" b="b" t="t" l="l"/>
            <a:pathLst>
              <a:path h="2511165" w="1086650">
                <a:moveTo>
                  <a:pt x="0" y="0"/>
                </a:moveTo>
                <a:lnTo>
                  <a:pt x="1086650" y="0"/>
                </a:lnTo>
                <a:lnTo>
                  <a:pt x="1086650" y="2511165"/>
                </a:lnTo>
                <a:lnTo>
                  <a:pt x="0" y="251116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4" id="24"/>
          <p:cNvSpPr/>
          <p:nvPr/>
        </p:nvSpPr>
        <p:spPr>
          <a:xfrm flipH="false" flipV="false" rot="0">
            <a:off x="13530806" y="6723429"/>
            <a:ext cx="4757194" cy="3563571"/>
          </a:xfrm>
          <a:custGeom>
            <a:avLst/>
            <a:gdLst/>
            <a:ahLst/>
            <a:cxnLst/>
            <a:rect r="r" b="b" t="t" l="l"/>
            <a:pathLst>
              <a:path h="3563571" w="4757194">
                <a:moveTo>
                  <a:pt x="0" y="0"/>
                </a:moveTo>
                <a:lnTo>
                  <a:pt x="4757194" y="0"/>
                </a:lnTo>
                <a:lnTo>
                  <a:pt x="4757194" y="3563571"/>
                </a:lnTo>
                <a:lnTo>
                  <a:pt x="0" y="356357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5" id="25"/>
          <p:cNvSpPr/>
          <p:nvPr/>
        </p:nvSpPr>
        <p:spPr>
          <a:xfrm flipH="false" flipV="false" rot="0">
            <a:off x="14827913" y="4709617"/>
            <a:ext cx="706120" cy="1248765"/>
          </a:xfrm>
          <a:custGeom>
            <a:avLst/>
            <a:gdLst/>
            <a:ahLst/>
            <a:cxnLst/>
            <a:rect r="r" b="b" t="t" l="l"/>
            <a:pathLst>
              <a:path h="1248765" w="706120">
                <a:moveTo>
                  <a:pt x="0" y="0"/>
                </a:moveTo>
                <a:lnTo>
                  <a:pt x="706121" y="0"/>
                </a:lnTo>
                <a:lnTo>
                  <a:pt x="706121" y="1248766"/>
                </a:lnTo>
                <a:lnTo>
                  <a:pt x="0" y="124876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6" id="26"/>
          <p:cNvSpPr/>
          <p:nvPr/>
        </p:nvSpPr>
        <p:spPr>
          <a:xfrm flipH="false" flipV="false" rot="0">
            <a:off x="7127508" y="403687"/>
            <a:ext cx="1053003" cy="1284150"/>
          </a:xfrm>
          <a:custGeom>
            <a:avLst/>
            <a:gdLst/>
            <a:ahLst/>
            <a:cxnLst/>
            <a:rect r="r" b="b" t="t" l="l"/>
            <a:pathLst>
              <a:path h="1284150" w="1053003">
                <a:moveTo>
                  <a:pt x="0" y="0"/>
                </a:moveTo>
                <a:lnTo>
                  <a:pt x="1053003" y="0"/>
                </a:lnTo>
                <a:lnTo>
                  <a:pt x="1053003" y="1284150"/>
                </a:lnTo>
                <a:lnTo>
                  <a:pt x="0" y="128415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AutoShape 27" id="27"/>
          <p:cNvSpPr/>
          <p:nvPr/>
        </p:nvSpPr>
        <p:spPr>
          <a:xfrm>
            <a:off x="7783933" y="8033944"/>
            <a:ext cx="2095500" cy="0"/>
          </a:xfrm>
          <a:prstGeom prst="line">
            <a:avLst/>
          </a:prstGeom>
          <a:ln cap="flat" w="66675">
            <a:solidFill>
              <a:srgbClr val="000001"/>
            </a:solidFill>
            <a:prstDash val="sysDot"/>
            <a:headEnd type="none" len="sm" w="sm"/>
            <a:tailEnd type="none" len="sm" w="sm"/>
          </a:ln>
        </p:spPr>
      </p:sp>
      <p:sp>
        <p:nvSpPr>
          <p:cNvPr name="AutoShape 28" id="28"/>
          <p:cNvSpPr/>
          <p:nvPr/>
        </p:nvSpPr>
        <p:spPr>
          <a:xfrm>
            <a:off x="4036720" y="3573788"/>
            <a:ext cx="0" cy="1333500"/>
          </a:xfrm>
          <a:prstGeom prst="line">
            <a:avLst/>
          </a:prstGeom>
          <a:ln cap="flat" w="66675">
            <a:solidFill>
              <a:srgbClr val="000001"/>
            </a:solidFill>
            <a:prstDash val="sysDot"/>
            <a:headEnd type="none" len="sm" w="sm"/>
            <a:tailEnd type="none" len="sm" w="sm"/>
          </a:ln>
        </p:spPr>
      </p:sp>
      <p:sp>
        <p:nvSpPr>
          <p:cNvPr name="AutoShape 29" id="29"/>
          <p:cNvSpPr/>
          <p:nvPr/>
        </p:nvSpPr>
        <p:spPr>
          <a:xfrm>
            <a:off x="13479639" y="1524681"/>
            <a:ext cx="1333500" cy="0"/>
          </a:xfrm>
          <a:prstGeom prst="line">
            <a:avLst/>
          </a:prstGeom>
          <a:ln cap="flat" w="66675">
            <a:solidFill>
              <a:srgbClr val="000001"/>
            </a:solidFill>
            <a:prstDash val="sysDot"/>
            <a:headEnd type="none" len="sm" w="sm"/>
            <a:tailEnd type="none" len="sm" w="sm"/>
          </a:ln>
        </p:spPr>
      </p:sp>
      <p:grpSp>
        <p:nvGrpSpPr>
          <p:cNvPr name="Group 30" id="30"/>
          <p:cNvGrpSpPr/>
          <p:nvPr/>
        </p:nvGrpSpPr>
        <p:grpSpPr>
          <a:xfrm rot="0">
            <a:off x="226689" y="7552932"/>
            <a:ext cx="5944874" cy="2585199"/>
            <a:chOff x="0" y="0"/>
            <a:chExt cx="1565728" cy="680875"/>
          </a:xfrm>
        </p:grpSpPr>
        <p:sp>
          <p:nvSpPr>
            <p:cNvPr name="Freeform 31" id="31"/>
            <p:cNvSpPr/>
            <p:nvPr/>
          </p:nvSpPr>
          <p:spPr>
            <a:xfrm flipH="false" flipV="false" rot="0">
              <a:off x="0" y="0"/>
              <a:ext cx="1565728" cy="680875"/>
            </a:xfrm>
            <a:custGeom>
              <a:avLst/>
              <a:gdLst/>
              <a:ahLst/>
              <a:cxnLst/>
              <a:rect r="r" b="b" t="t" l="l"/>
              <a:pathLst>
                <a:path h="680875" w="1565728">
                  <a:moveTo>
                    <a:pt x="0" y="0"/>
                  </a:moveTo>
                  <a:lnTo>
                    <a:pt x="1565728" y="0"/>
                  </a:lnTo>
                  <a:lnTo>
                    <a:pt x="1565728" y="680875"/>
                  </a:lnTo>
                  <a:lnTo>
                    <a:pt x="0" y="680875"/>
                  </a:lnTo>
                  <a:close/>
                </a:path>
              </a:pathLst>
            </a:custGeom>
            <a:solidFill>
              <a:srgbClr val="ECEB76"/>
            </a:solidFill>
            <a:ln cap="sq">
              <a:noFill/>
              <a:prstDash val="solid"/>
              <a:miter/>
            </a:ln>
          </p:spPr>
        </p:sp>
        <p:sp>
          <p:nvSpPr>
            <p:cNvPr name="TextBox 32" id="32"/>
            <p:cNvSpPr txBox="true"/>
            <p:nvPr/>
          </p:nvSpPr>
          <p:spPr>
            <a:xfrm>
              <a:off x="0" y="9525"/>
              <a:ext cx="1565728" cy="671350"/>
            </a:xfrm>
            <a:prstGeom prst="rect">
              <a:avLst/>
            </a:prstGeom>
          </p:spPr>
          <p:txBody>
            <a:bodyPr anchor="ctr" rtlCol="false" tIns="50800" lIns="50800" bIns="50800" rIns="50800"/>
            <a:lstStyle/>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PRESENTATION BY</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 </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YOGYA MADAHAR (TEAM LEADER)</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AAYAN SIDDIQI</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ADITYA SHARMA</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ANWAR AFRIDI</a:t>
              </a:r>
            </a:p>
            <a:p>
              <a:pPr algn="ctr">
                <a:lnSpc>
                  <a:spcPts val="1980"/>
                </a:lnSpc>
              </a:pPr>
              <a:r>
                <a:rPr lang="en-US" b="true" sz="1800" spc="-9">
                  <a:solidFill>
                    <a:srgbClr val="000001"/>
                  </a:solidFill>
                  <a:latin typeface="Barlow SemiCondensed Bold"/>
                  <a:ea typeface="Barlow SemiCondensed Bold"/>
                  <a:cs typeface="Barlow SemiCondensed Bold"/>
                  <a:sym typeface="Barlow SemiCondensed Bold"/>
                </a:rPr>
                <a:t>MICHAEL OJI</a:t>
              </a:r>
            </a:p>
            <a:p>
              <a:pPr algn="ctr">
                <a:lnSpc>
                  <a:spcPts val="1980"/>
                </a:lnSpc>
              </a:pPr>
            </a:p>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DEPARTMENT OF BIOTECHNOLOGY ENGINEERING </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381000" y="-190500"/>
            <a:ext cx="19050000" cy="2038350"/>
            <a:chOff x="0" y="0"/>
            <a:chExt cx="5017284" cy="536849"/>
          </a:xfrm>
        </p:grpSpPr>
        <p:sp>
          <p:nvSpPr>
            <p:cNvPr name="Freeform 4" id="4"/>
            <p:cNvSpPr/>
            <p:nvPr/>
          </p:nvSpPr>
          <p:spPr>
            <a:xfrm flipH="false" flipV="false" rot="0">
              <a:off x="0" y="0"/>
              <a:ext cx="5017284" cy="536849"/>
            </a:xfrm>
            <a:custGeom>
              <a:avLst/>
              <a:gdLst/>
              <a:ahLst/>
              <a:cxnLst/>
              <a:rect r="r" b="b" t="t" l="l"/>
              <a:pathLst>
                <a:path h="536849" w="5017284">
                  <a:moveTo>
                    <a:pt x="0" y="0"/>
                  </a:moveTo>
                  <a:lnTo>
                    <a:pt x="5017284" y="0"/>
                  </a:lnTo>
                  <a:lnTo>
                    <a:pt x="5017284" y="536849"/>
                  </a:lnTo>
                  <a:lnTo>
                    <a:pt x="0" y="536849"/>
                  </a:lnTo>
                  <a:close/>
                </a:path>
              </a:pathLst>
            </a:custGeom>
            <a:solidFill>
              <a:srgbClr val="EBEBEB"/>
            </a:solidFill>
            <a:ln w="66675" cap="sq">
              <a:solidFill>
                <a:srgbClr val="000001"/>
              </a:solidFill>
              <a:prstDash val="solid"/>
              <a:miter/>
            </a:ln>
          </p:spPr>
        </p:sp>
        <p:sp>
          <p:nvSpPr>
            <p:cNvPr name="TextBox 5" id="5"/>
            <p:cNvSpPr txBox="true"/>
            <p:nvPr/>
          </p:nvSpPr>
          <p:spPr>
            <a:xfrm>
              <a:off x="0" y="-19050"/>
              <a:ext cx="5017284" cy="555899"/>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6" id="6"/>
          <p:cNvGrpSpPr/>
          <p:nvPr/>
        </p:nvGrpSpPr>
        <p:grpSpPr>
          <a:xfrm rot="0">
            <a:off x="5238750" y="1143000"/>
            <a:ext cx="8191500" cy="1695450"/>
            <a:chOff x="0" y="0"/>
            <a:chExt cx="2157432" cy="446538"/>
          </a:xfrm>
        </p:grpSpPr>
        <p:sp>
          <p:nvSpPr>
            <p:cNvPr name="Freeform 7" id="7"/>
            <p:cNvSpPr/>
            <p:nvPr/>
          </p:nvSpPr>
          <p:spPr>
            <a:xfrm flipH="false" flipV="false" rot="0">
              <a:off x="0" y="0"/>
              <a:ext cx="2157432" cy="446538"/>
            </a:xfrm>
            <a:custGeom>
              <a:avLst/>
              <a:gdLst/>
              <a:ahLst/>
              <a:cxnLst/>
              <a:rect r="r" b="b" t="t" l="l"/>
              <a:pathLst>
                <a:path h="446538" w="2157432">
                  <a:moveTo>
                    <a:pt x="0" y="0"/>
                  </a:moveTo>
                  <a:lnTo>
                    <a:pt x="2157432" y="0"/>
                  </a:lnTo>
                  <a:lnTo>
                    <a:pt x="2157432" y="446538"/>
                  </a:lnTo>
                  <a:lnTo>
                    <a:pt x="0" y="446538"/>
                  </a:lnTo>
                  <a:close/>
                </a:path>
              </a:pathLst>
            </a:custGeom>
            <a:solidFill>
              <a:srgbClr val="000001"/>
            </a:solidFill>
            <a:ln cap="sq">
              <a:noFill/>
              <a:prstDash val="solid"/>
              <a:miter/>
            </a:ln>
          </p:spPr>
        </p:sp>
        <p:sp>
          <p:nvSpPr>
            <p:cNvPr name="TextBox 8" id="8"/>
            <p:cNvSpPr txBox="true"/>
            <p:nvPr/>
          </p:nvSpPr>
          <p:spPr>
            <a:xfrm>
              <a:off x="0" y="38100"/>
              <a:ext cx="2157432" cy="408438"/>
            </a:xfrm>
            <a:prstGeom prst="rect">
              <a:avLst/>
            </a:prstGeom>
          </p:spPr>
          <p:txBody>
            <a:bodyPr anchor="ctr" rtlCol="false" tIns="254000" lIns="254000" bIns="254000" rIns="254000"/>
            <a:lstStyle/>
            <a:p>
              <a:pPr algn="ctr" marL="0" indent="0" lvl="0">
                <a:lnSpc>
                  <a:spcPts val="6600"/>
                </a:lnSpc>
              </a:pPr>
            </a:p>
          </p:txBody>
        </p:sp>
      </p:grpSp>
      <p:grpSp>
        <p:nvGrpSpPr>
          <p:cNvPr name="Group 9" id="9"/>
          <p:cNvGrpSpPr/>
          <p:nvPr/>
        </p:nvGrpSpPr>
        <p:grpSpPr>
          <a:xfrm rot="0">
            <a:off x="5048250" y="952500"/>
            <a:ext cx="8191500" cy="1695458"/>
            <a:chOff x="0" y="0"/>
            <a:chExt cx="2157432" cy="446540"/>
          </a:xfrm>
        </p:grpSpPr>
        <p:sp>
          <p:nvSpPr>
            <p:cNvPr name="Freeform 10" id="10"/>
            <p:cNvSpPr/>
            <p:nvPr/>
          </p:nvSpPr>
          <p:spPr>
            <a:xfrm flipH="false" flipV="false" rot="0">
              <a:off x="0" y="0"/>
              <a:ext cx="2157432" cy="446540"/>
            </a:xfrm>
            <a:custGeom>
              <a:avLst/>
              <a:gdLst/>
              <a:ahLst/>
              <a:cxnLst/>
              <a:rect r="r" b="b" t="t" l="l"/>
              <a:pathLst>
                <a:path h="446540" w="2157432">
                  <a:moveTo>
                    <a:pt x="0" y="0"/>
                  </a:moveTo>
                  <a:lnTo>
                    <a:pt x="2157432" y="0"/>
                  </a:lnTo>
                  <a:lnTo>
                    <a:pt x="2157432" y="446540"/>
                  </a:lnTo>
                  <a:lnTo>
                    <a:pt x="0" y="446540"/>
                  </a:lnTo>
                  <a:close/>
                </a:path>
              </a:pathLst>
            </a:custGeom>
            <a:solidFill>
              <a:srgbClr val="E5A6F4"/>
            </a:solidFill>
            <a:ln w="66675" cap="sq">
              <a:solidFill>
                <a:srgbClr val="000001"/>
              </a:solidFill>
              <a:prstDash val="solid"/>
              <a:miter/>
            </a:ln>
          </p:spPr>
        </p:sp>
        <p:sp>
          <p:nvSpPr>
            <p:cNvPr name="TextBox 11" id="11"/>
            <p:cNvSpPr txBox="true"/>
            <p:nvPr/>
          </p:nvSpPr>
          <p:spPr>
            <a:xfrm>
              <a:off x="0" y="38100"/>
              <a:ext cx="2157432" cy="408440"/>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CATALOGUE</a:t>
              </a:r>
            </a:p>
          </p:txBody>
        </p:sp>
      </p:grpSp>
      <p:grpSp>
        <p:nvGrpSpPr>
          <p:cNvPr name="Group 12" id="12"/>
          <p:cNvGrpSpPr/>
          <p:nvPr/>
        </p:nvGrpSpPr>
        <p:grpSpPr>
          <a:xfrm rot="0">
            <a:off x="4903672" y="809625"/>
            <a:ext cx="361950" cy="361950"/>
            <a:chOff x="0" y="0"/>
            <a:chExt cx="731520" cy="731520"/>
          </a:xfrm>
        </p:grpSpPr>
        <p:sp>
          <p:nvSpPr>
            <p:cNvPr name="Freeform 13" id="1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14" id="1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5" id="15"/>
          <p:cNvGrpSpPr/>
          <p:nvPr/>
        </p:nvGrpSpPr>
        <p:grpSpPr>
          <a:xfrm rot="0">
            <a:off x="13000125" y="809625"/>
            <a:ext cx="361950" cy="36195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17" id="1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8" id="18"/>
          <p:cNvGrpSpPr/>
          <p:nvPr/>
        </p:nvGrpSpPr>
        <p:grpSpPr>
          <a:xfrm rot="0">
            <a:off x="4903672" y="242887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13000125" y="242887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5238750" y="3429000"/>
            <a:ext cx="8191500" cy="6096000"/>
            <a:chOff x="0" y="0"/>
            <a:chExt cx="2157432" cy="1605531"/>
          </a:xfrm>
        </p:grpSpPr>
        <p:sp>
          <p:nvSpPr>
            <p:cNvPr name="Freeform 25" id="25"/>
            <p:cNvSpPr/>
            <p:nvPr/>
          </p:nvSpPr>
          <p:spPr>
            <a:xfrm flipH="false" flipV="false" rot="0">
              <a:off x="0" y="0"/>
              <a:ext cx="2157432" cy="1605531"/>
            </a:xfrm>
            <a:custGeom>
              <a:avLst/>
              <a:gdLst/>
              <a:ahLst/>
              <a:cxnLst/>
              <a:rect r="r" b="b" t="t" l="l"/>
              <a:pathLst>
                <a:path h="1605531" w="2157432">
                  <a:moveTo>
                    <a:pt x="0" y="0"/>
                  </a:moveTo>
                  <a:lnTo>
                    <a:pt x="2157432" y="0"/>
                  </a:lnTo>
                  <a:lnTo>
                    <a:pt x="2157432" y="1605531"/>
                  </a:lnTo>
                  <a:lnTo>
                    <a:pt x="0" y="1605531"/>
                  </a:lnTo>
                  <a:close/>
                </a:path>
              </a:pathLst>
            </a:custGeom>
            <a:solidFill>
              <a:srgbClr val="707070"/>
            </a:solidFill>
            <a:ln cap="sq">
              <a:noFill/>
              <a:prstDash val="solid"/>
              <a:miter/>
            </a:ln>
          </p:spPr>
        </p:sp>
        <p:sp>
          <p:nvSpPr>
            <p:cNvPr name="TextBox 26" id="26"/>
            <p:cNvSpPr txBox="true"/>
            <p:nvPr/>
          </p:nvSpPr>
          <p:spPr>
            <a:xfrm>
              <a:off x="0" y="38100"/>
              <a:ext cx="2157432" cy="1567431"/>
            </a:xfrm>
            <a:prstGeom prst="rect">
              <a:avLst/>
            </a:prstGeom>
          </p:spPr>
          <p:txBody>
            <a:bodyPr anchor="ctr" rtlCol="false" tIns="254000" lIns="254000" bIns="254000" rIns="254000"/>
            <a:lstStyle/>
            <a:p>
              <a:pPr algn="ctr" marL="0" indent="0" lvl="0">
                <a:lnSpc>
                  <a:spcPts val="6600"/>
                </a:lnSpc>
                <a:spcBef>
                  <a:spcPct val="0"/>
                </a:spcBef>
              </a:pPr>
            </a:p>
          </p:txBody>
        </p:sp>
      </p:grpSp>
      <p:graphicFrame>
        <p:nvGraphicFramePr>
          <p:cNvPr name="Table 27" id="27"/>
          <p:cNvGraphicFramePr>
            <a:graphicFrameLocks noGrp="true"/>
          </p:cNvGraphicFramePr>
          <p:nvPr/>
        </p:nvGraphicFramePr>
        <p:xfrm>
          <a:off x="5048250" y="3238500"/>
          <a:ext cx="8191500" cy="6096000"/>
        </p:xfrm>
        <a:graphic>
          <a:graphicData uri="http://schemas.openxmlformats.org/drawingml/2006/table">
            <a:tbl>
              <a:tblPr/>
              <a:tblGrid>
                <a:gridCol w="8191500"/>
              </a:tblGrid>
              <a:tr h="2032000">
                <a:tc>
                  <a:txBody>
                    <a:bodyPr anchor="t" rtlCol="false"/>
                    <a:lstStyle/>
                    <a:p>
                      <a:pPr algn="ctr" marL="0" indent="0" lvl="0">
                        <a:lnSpc>
                          <a:spcPts val="4199"/>
                        </a:lnSpc>
                        <a:spcBef>
                          <a:spcPct val="0"/>
                        </a:spcBef>
                        <a:defRPr/>
                      </a:pPr>
                      <a:r>
                        <a:rPr lang="en-US" b="true" sz="3499" spc="-17">
                          <a:solidFill>
                            <a:srgbClr val="000001"/>
                          </a:solidFill>
                          <a:latin typeface="Barlow SemiCondensed Bold"/>
                          <a:ea typeface="Barlow SemiCondensed Bold"/>
                          <a:cs typeface="Barlow SemiCondensed Bold"/>
                          <a:sym typeface="Barlow SemiCondensed Bold"/>
                        </a:rPr>
                        <a:t>Genetic Mutations and Factors Affecting it</a:t>
                      </a:r>
                      <a:endParaRPr lang="en-US" sz="1100"/>
                    </a:p>
                  </a:txBody>
                  <a:tcPr marL="190500" marR="190500" marT="190500" marB="1905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CDE8E8"/>
                    </a:solidFill>
                  </a:tcPr>
                </a:tc>
              </a:tr>
              <a:tr h="2032000">
                <a:tc>
                  <a:txBody>
                    <a:bodyPr anchor="t" rtlCol="false"/>
                    <a:lstStyle/>
                    <a:p>
                      <a:pPr algn="ctr" marL="0" indent="0" lvl="0">
                        <a:lnSpc>
                          <a:spcPts val="4199"/>
                        </a:lnSpc>
                        <a:spcBef>
                          <a:spcPct val="0"/>
                        </a:spcBef>
                        <a:defRPr/>
                      </a:pPr>
                      <a:r>
                        <a:rPr lang="en-US" b="true" sz="3499" spc="-17">
                          <a:solidFill>
                            <a:srgbClr val="000001"/>
                          </a:solidFill>
                          <a:latin typeface="Barlow SemiCondensed Bold"/>
                          <a:ea typeface="Barlow SemiCondensed Bold"/>
                          <a:cs typeface="Barlow SemiCondensed Bold"/>
                          <a:sym typeface="Barlow SemiCondensed Bold"/>
                        </a:rPr>
                        <a:t>Mutations Within and Among Four Different Asian Countries </a:t>
                      </a:r>
                      <a:endParaRPr lang="en-US" sz="1100"/>
                    </a:p>
                  </a:txBody>
                  <a:tcPr marL="190500" marR="190500" marT="190500" marB="1905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FFFFFF"/>
                    </a:solidFill>
                  </a:tcPr>
                </a:tc>
              </a:tr>
              <a:tr h="2032000">
                <a:tc>
                  <a:txBody>
                    <a:bodyPr anchor="t" rtlCol="false"/>
                    <a:lstStyle/>
                    <a:p>
                      <a:pPr algn="ctr" marL="0" indent="0" lvl="0">
                        <a:lnSpc>
                          <a:spcPts val="4199"/>
                        </a:lnSpc>
                        <a:spcBef>
                          <a:spcPct val="0"/>
                        </a:spcBef>
                        <a:defRPr/>
                      </a:pPr>
                      <a:r>
                        <a:rPr lang="en-US" b="true" sz="3499" spc="-17">
                          <a:solidFill>
                            <a:srgbClr val="000001"/>
                          </a:solidFill>
                          <a:latin typeface="Barlow SemiCondensed Bold"/>
                          <a:ea typeface="Barlow SemiCondensed Bold"/>
                          <a:cs typeface="Barlow SemiCondensed Bold"/>
                          <a:sym typeface="Barlow SemiCondensed Bold"/>
                        </a:rPr>
                        <a:t>Summary and Discussion</a:t>
                      </a:r>
                      <a:endParaRPr lang="en-US" sz="1100"/>
                    </a:p>
                  </a:txBody>
                  <a:tcPr marL="190500" marR="190500" marT="190500" marB="1905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ECEB76"/>
                    </a:solidFill>
                  </a:tcPr>
                </a:tc>
              </a:tr>
            </a:tbl>
          </a:graphicData>
        </a:graphic>
      </p:graphicFrame>
      <p:grpSp>
        <p:nvGrpSpPr>
          <p:cNvPr name="Group 28" id="28"/>
          <p:cNvGrpSpPr/>
          <p:nvPr/>
        </p:nvGrpSpPr>
        <p:grpSpPr>
          <a:xfrm rot="0">
            <a:off x="5048250" y="3238500"/>
            <a:ext cx="571500" cy="571500"/>
            <a:chOff x="0" y="0"/>
            <a:chExt cx="148679" cy="148679"/>
          </a:xfrm>
        </p:grpSpPr>
        <p:sp>
          <p:nvSpPr>
            <p:cNvPr name="Freeform 29" id="29"/>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30" id="30"/>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a:solidFill>
                    <a:srgbClr val="000001"/>
                  </a:solidFill>
                  <a:latin typeface="Barlow SemiCondensed Bold"/>
                  <a:ea typeface="Barlow SemiCondensed Bold"/>
                  <a:cs typeface="Barlow SemiCondensed Bold"/>
                  <a:sym typeface="Barlow SemiCondensed Bold"/>
                </a:rPr>
                <a:t>1</a:t>
              </a:r>
            </a:p>
          </p:txBody>
        </p:sp>
      </p:grpSp>
      <p:grpSp>
        <p:nvGrpSpPr>
          <p:cNvPr name="Group 31" id="31"/>
          <p:cNvGrpSpPr/>
          <p:nvPr/>
        </p:nvGrpSpPr>
        <p:grpSpPr>
          <a:xfrm rot="0">
            <a:off x="5048250" y="5245984"/>
            <a:ext cx="571500" cy="571500"/>
            <a:chOff x="0" y="0"/>
            <a:chExt cx="148679" cy="148679"/>
          </a:xfrm>
        </p:grpSpPr>
        <p:sp>
          <p:nvSpPr>
            <p:cNvPr name="Freeform 32" id="32"/>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33" id="33"/>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a:solidFill>
                    <a:srgbClr val="000001"/>
                  </a:solidFill>
                  <a:latin typeface="Barlow SemiCondensed Bold"/>
                  <a:ea typeface="Barlow SemiCondensed Bold"/>
                  <a:cs typeface="Barlow SemiCondensed Bold"/>
                  <a:sym typeface="Barlow SemiCondensed Bold"/>
                </a:rPr>
                <a:t>2</a:t>
              </a:r>
            </a:p>
          </p:txBody>
        </p:sp>
      </p:grpSp>
      <p:grpSp>
        <p:nvGrpSpPr>
          <p:cNvPr name="Group 34" id="34"/>
          <p:cNvGrpSpPr/>
          <p:nvPr/>
        </p:nvGrpSpPr>
        <p:grpSpPr>
          <a:xfrm rot="0">
            <a:off x="5048250" y="7253467"/>
            <a:ext cx="571500" cy="571500"/>
            <a:chOff x="0" y="0"/>
            <a:chExt cx="148679" cy="148679"/>
          </a:xfrm>
        </p:grpSpPr>
        <p:sp>
          <p:nvSpPr>
            <p:cNvPr name="Freeform 35" id="35"/>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36" id="36"/>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a:solidFill>
                    <a:srgbClr val="000001"/>
                  </a:solidFill>
                  <a:latin typeface="Barlow SemiCondensed Bold"/>
                  <a:ea typeface="Barlow SemiCondensed Bold"/>
                  <a:cs typeface="Barlow SemiCondensed Bold"/>
                  <a:sym typeface="Barlow SemiCondensed Bold"/>
                </a:rPr>
                <a:t>3</a:t>
              </a:r>
            </a:p>
          </p:txBody>
        </p:sp>
      </p:grpSp>
      <p:sp>
        <p:nvSpPr>
          <p:cNvPr name="Freeform 37" id="37"/>
          <p:cNvSpPr/>
          <p:nvPr/>
        </p:nvSpPr>
        <p:spPr>
          <a:xfrm flipH="false" flipV="false" rot="0">
            <a:off x="971945" y="6034736"/>
            <a:ext cx="1032588" cy="1319127"/>
          </a:xfrm>
          <a:custGeom>
            <a:avLst/>
            <a:gdLst/>
            <a:ahLst/>
            <a:cxnLst/>
            <a:rect r="r" b="b" t="t" l="l"/>
            <a:pathLst>
              <a:path h="1319127" w="1032588">
                <a:moveTo>
                  <a:pt x="0" y="0"/>
                </a:moveTo>
                <a:lnTo>
                  <a:pt x="1032588" y="0"/>
                </a:lnTo>
                <a:lnTo>
                  <a:pt x="1032588" y="1319127"/>
                </a:lnTo>
                <a:lnTo>
                  <a:pt x="0" y="1319127"/>
                </a:lnTo>
                <a:lnTo>
                  <a:pt x="0" y="0"/>
                </a:lnTo>
                <a:close/>
              </a:path>
            </a:pathLst>
          </a:custGeom>
          <a:blipFill>
            <a:blip r:embed="rId4">
              <a:extLst>
                <a:ext uri="{96DAC541-7B7A-43D3-8B79-37D633B846F1}">
                  <asvg:svgBlip xmlns:asvg="http://schemas.microsoft.com/office/drawing/2016/SVG/main" r:embed="rId5"/>
                </a:ext>
              </a:extLst>
            </a:blip>
            <a:stretch>
              <a:fillRect l="0" t="-64545" r="-110205" b="0"/>
            </a:stretch>
          </a:blipFill>
          <a:ln cap="sq">
            <a:noFill/>
            <a:prstDash val="solid"/>
            <a:miter/>
          </a:ln>
        </p:spPr>
      </p:sp>
      <p:sp>
        <p:nvSpPr>
          <p:cNvPr name="Freeform 38" id="38"/>
          <p:cNvSpPr/>
          <p:nvPr/>
        </p:nvSpPr>
        <p:spPr>
          <a:xfrm flipH="false" flipV="false" rot="-2400000">
            <a:off x="2062229" y="2974601"/>
            <a:ext cx="1086650" cy="2511165"/>
          </a:xfrm>
          <a:custGeom>
            <a:avLst/>
            <a:gdLst/>
            <a:ahLst/>
            <a:cxnLst/>
            <a:rect r="r" b="b" t="t" l="l"/>
            <a:pathLst>
              <a:path h="2511165" w="1086650">
                <a:moveTo>
                  <a:pt x="0" y="0"/>
                </a:moveTo>
                <a:lnTo>
                  <a:pt x="1086650" y="0"/>
                </a:lnTo>
                <a:lnTo>
                  <a:pt x="1086650" y="2511166"/>
                </a:lnTo>
                <a:lnTo>
                  <a:pt x="0" y="25111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2710329" y="8124992"/>
            <a:ext cx="884040" cy="1209508"/>
          </a:xfrm>
          <a:custGeom>
            <a:avLst/>
            <a:gdLst/>
            <a:ahLst/>
            <a:cxnLst/>
            <a:rect r="r" b="b" t="t" l="l"/>
            <a:pathLst>
              <a:path h="1209508" w="884040">
                <a:moveTo>
                  <a:pt x="0" y="0"/>
                </a:moveTo>
                <a:lnTo>
                  <a:pt x="884040" y="0"/>
                </a:lnTo>
                <a:lnTo>
                  <a:pt x="884040" y="1209508"/>
                </a:lnTo>
                <a:lnTo>
                  <a:pt x="0" y="12095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40" id="40"/>
          <p:cNvSpPr/>
          <p:nvPr/>
        </p:nvSpPr>
        <p:spPr>
          <a:xfrm flipH="false" flipV="false" rot="2400000">
            <a:off x="15475607" y="6567780"/>
            <a:ext cx="661662" cy="2426095"/>
          </a:xfrm>
          <a:custGeom>
            <a:avLst/>
            <a:gdLst/>
            <a:ahLst/>
            <a:cxnLst/>
            <a:rect r="r" b="b" t="t" l="l"/>
            <a:pathLst>
              <a:path h="2426095" w="661662">
                <a:moveTo>
                  <a:pt x="0" y="0"/>
                </a:moveTo>
                <a:lnTo>
                  <a:pt x="661662" y="0"/>
                </a:lnTo>
                <a:lnTo>
                  <a:pt x="661662" y="2426095"/>
                </a:lnTo>
                <a:lnTo>
                  <a:pt x="0" y="24260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1" id="41"/>
          <p:cNvSpPr/>
          <p:nvPr/>
        </p:nvSpPr>
        <p:spPr>
          <a:xfrm flipH="false" flipV="false" rot="0">
            <a:off x="16109209" y="1297125"/>
            <a:ext cx="1014641" cy="1237367"/>
          </a:xfrm>
          <a:custGeom>
            <a:avLst/>
            <a:gdLst/>
            <a:ahLst/>
            <a:cxnLst/>
            <a:rect r="r" b="b" t="t" l="l"/>
            <a:pathLst>
              <a:path h="1237367" w="1014641">
                <a:moveTo>
                  <a:pt x="0" y="0"/>
                </a:moveTo>
                <a:lnTo>
                  <a:pt x="1014641" y="0"/>
                </a:lnTo>
                <a:lnTo>
                  <a:pt x="1014641" y="1237367"/>
                </a:lnTo>
                <a:lnTo>
                  <a:pt x="0" y="123736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false" flipV="false" rot="-10800000">
            <a:off x="2885649" y="-659481"/>
            <a:ext cx="590550" cy="2095500"/>
          </a:xfrm>
          <a:custGeom>
            <a:avLst/>
            <a:gdLst/>
            <a:ahLst/>
            <a:cxnLst/>
            <a:rect r="r" b="b" t="t" l="l"/>
            <a:pathLst>
              <a:path h="2095500" w="590550">
                <a:moveTo>
                  <a:pt x="0" y="0"/>
                </a:moveTo>
                <a:lnTo>
                  <a:pt x="590550" y="0"/>
                </a:lnTo>
                <a:lnTo>
                  <a:pt x="590550" y="2095500"/>
                </a:lnTo>
                <a:lnTo>
                  <a:pt x="0" y="20955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3" id="43"/>
          <p:cNvSpPr/>
          <p:nvPr/>
        </p:nvSpPr>
        <p:spPr>
          <a:xfrm flipH="false" flipV="false" rot="2699999">
            <a:off x="15475569" y="8171262"/>
            <a:ext cx="1619367" cy="1619367"/>
          </a:xfrm>
          <a:custGeom>
            <a:avLst/>
            <a:gdLst/>
            <a:ahLst/>
            <a:cxnLst/>
            <a:rect r="r" b="b" t="t" l="l"/>
            <a:pathLst>
              <a:path h="1619367" w="1619367">
                <a:moveTo>
                  <a:pt x="0" y="0"/>
                </a:moveTo>
                <a:lnTo>
                  <a:pt x="1619367" y="0"/>
                </a:lnTo>
                <a:lnTo>
                  <a:pt x="1619367" y="1619367"/>
                </a:lnTo>
                <a:lnTo>
                  <a:pt x="0" y="161936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44" id="44"/>
          <p:cNvSpPr/>
          <p:nvPr/>
        </p:nvSpPr>
        <p:spPr>
          <a:xfrm flipH="false" flipV="false" rot="-1507717">
            <a:off x="14775429" y="4163356"/>
            <a:ext cx="729516" cy="1273758"/>
          </a:xfrm>
          <a:custGeom>
            <a:avLst/>
            <a:gdLst/>
            <a:ahLst/>
            <a:cxnLst/>
            <a:rect r="r" b="b" t="t" l="l"/>
            <a:pathLst>
              <a:path h="1273758" w="729516">
                <a:moveTo>
                  <a:pt x="0" y="0"/>
                </a:moveTo>
                <a:lnTo>
                  <a:pt x="729516" y="0"/>
                </a:lnTo>
                <a:lnTo>
                  <a:pt x="729516" y="1273759"/>
                </a:lnTo>
                <a:lnTo>
                  <a:pt x="0" y="127375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DE8E8"/>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381000" y="-190500"/>
            <a:ext cx="19050000" cy="2038350"/>
            <a:chOff x="0" y="0"/>
            <a:chExt cx="5017284" cy="536849"/>
          </a:xfrm>
        </p:grpSpPr>
        <p:sp>
          <p:nvSpPr>
            <p:cNvPr name="Freeform 4" id="4"/>
            <p:cNvSpPr/>
            <p:nvPr/>
          </p:nvSpPr>
          <p:spPr>
            <a:xfrm flipH="false" flipV="false" rot="0">
              <a:off x="0" y="0"/>
              <a:ext cx="5017284" cy="536849"/>
            </a:xfrm>
            <a:custGeom>
              <a:avLst/>
              <a:gdLst/>
              <a:ahLst/>
              <a:cxnLst/>
              <a:rect r="r" b="b" t="t" l="l"/>
              <a:pathLst>
                <a:path h="536849" w="5017284">
                  <a:moveTo>
                    <a:pt x="0" y="0"/>
                  </a:moveTo>
                  <a:lnTo>
                    <a:pt x="5017284" y="0"/>
                  </a:lnTo>
                  <a:lnTo>
                    <a:pt x="5017284" y="536849"/>
                  </a:lnTo>
                  <a:lnTo>
                    <a:pt x="0" y="536849"/>
                  </a:lnTo>
                  <a:close/>
                </a:path>
              </a:pathLst>
            </a:custGeom>
            <a:solidFill>
              <a:srgbClr val="A6A6A6"/>
            </a:solidFill>
            <a:ln w="66675" cap="sq">
              <a:solidFill>
                <a:srgbClr val="000001"/>
              </a:solidFill>
              <a:prstDash val="solid"/>
              <a:miter/>
            </a:ln>
          </p:spPr>
        </p:sp>
        <p:sp>
          <p:nvSpPr>
            <p:cNvPr name="TextBox 5" id="5"/>
            <p:cNvSpPr txBox="true"/>
            <p:nvPr/>
          </p:nvSpPr>
          <p:spPr>
            <a:xfrm>
              <a:off x="0" y="-19050"/>
              <a:ext cx="5017284" cy="555899"/>
            </a:xfrm>
            <a:prstGeom prst="rect">
              <a:avLst/>
            </a:prstGeom>
          </p:spPr>
          <p:txBody>
            <a:bodyPr anchor="ctr" rtlCol="false" tIns="50800" lIns="50800" bIns="50800" rIns="50800"/>
            <a:lstStyle/>
            <a:p>
              <a:pPr algn="l" marL="0" indent="0" lvl="0">
                <a:lnSpc>
                  <a:spcPts val="3600"/>
                </a:lnSpc>
                <a:spcBef>
                  <a:spcPct val="0"/>
                </a:spcBef>
              </a:pPr>
            </a:p>
          </p:txBody>
        </p:sp>
      </p:grpSp>
      <p:sp>
        <p:nvSpPr>
          <p:cNvPr name="Freeform 6" id="6"/>
          <p:cNvSpPr/>
          <p:nvPr/>
        </p:nvSpPr>
        <p:spPr>
          <a:xfrm flipH="false" flipV="false" rot="0">
            <a:off x="2689592" y="2181459"/>
            <a:ext cx="954000" cy="1218731"/>
          </a:xfrm>
          <a:custGeom>
            <a:avLst/>
            <a:gdLst/>
            <a:ahLst/>
            <a:cxnLst/>
            <a:rect r="r" b="b" t="t" l="l"/>
            <a:pathLst>
              <a:path h="1218731" w="954000">
                <a:moveTo>
                  <a:pt x="0" y="0"/>
                </a:moveTo>
                <a:lnTo>
                  <a:pt x="954000" y="0"/>
                </a:lnTo>
                <a:lnTo>
                  <a:pt x="954000" y="1218732"/>
                </a:lnTo>
                <a:lnTo>
                  <a:pt x="0" y="1218732"/>
                </a:lnTo>
                <a:lnTo>
                  <a:pt x="0" y="0"/>
                </a:lnTo>
                <a:close/>
              </a:path>
            </a:pathLst>
          </a:custGeom>
          <a:blipFill>
            <a:blip r:embed="rId4">
              <a:extLst>
                <a:ext uri="{96DAC541-7B7A-43D3-8B79-37D633B846F1}">
                  <asvg:svgBlip xmlns:asvg="http://schemas.microsoft.com/office/drawing/2016/SVG/main" r:embed="rId5"/>
                </a:ext>
              </a:extLst>
            </a:blip>
            <a:stretch>
              <a:fillRect l="0" t="-64545" r="-110205" b="0"/>
            </a:stretch>
          </a:blipFill>
          <a:ln cap="sq">
            <a:noFill/>
            <a:prstDash val="solid"/>
            <a:miter/>
          </a:ln>
        </p:spPr>
      </p:sp>
      <p:grpSp>
        <p:nvGrpSpPr>
          <p:cNvPr name="Group 7" id="7"/>
          <p:cNvGrpSpPr/>
          <p:nvPr/>
        </p:nvGrpSpPr>
        <p:grpSpPr>
          <a:xfrm rot="0">
            <a:off x="5238750" y="3810000"/>
            <a:ext cx="8191500" cy="5715000"/>
            <a:chOff x="0" y="0"/>
            <a:chExt cx="2157432" cy="1505185"/>
          </a:xfrm>
        </p:grpSpPr>
        <p:sp>
          <p:nvSpPr>
            <p:cNvPr name="Freeform 8" id="8"/>
            <p:cNvSpPr/>
            <p:nvPr/>
          </p:nvSpPr>
          <p:spPr>
            <a:xfrm flipH="false" flipV="false" rot="0">
              <a:off x="0" y="0"/>
              <a:ext cx="2157432" cy="1505185"/>
            </a:xfrm>
            <a:custGeom>
              <a:avLst/>
              <a:gdLst/>
              <a:ahLst/>
              <a:cxnLst/>
              <a:rect r="r" b="b" t="t" l="l"/>
              <a:pathLst>
                <a:path h="1505185" w="2157432">
                  <a:moveTo>
                    <a:pt x="0" y="0"/>
                  </a:moveTo>
                  <a:lnTo>
                    <a:pt x="2157432" y="0"/>
                  </a:lnTo>
                  <a:lnTo>
                    <a:pt x="2157432" y="1505185"/>
                  </a:lnTo>
                  <a:lnTo>
                    <a:pt x="0" y="1505185"/>
                  </a:lnTo>
                  <a:close/>
                </a:path>
              </a:pathLst>
            </a:custGeom>
            <a:solidFill>
              <a:srgbClr val="707070"/>
            </a:solidFill>
            <a:ln cap="sq">
              <a:noFill/>
              <a:prstDash val="solid"/>
              <a:miter/>
            </a:ln>
          </p:spPr>
        </p:sp>
        <p:sp>
          <p:nvSpPr>
            <p:cNvPr name="TextBox 9" id="9"/>
            <p:cNvSpPr txBox="true"/>
            <p:nvPr/>
          </p:nvSpPr>
          <p:spPr>
            <a:xfrm>
              <a:off x="0" y="38100"/>
              <a:ext cx="2157432" cy="1467085"/>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0" id="10"/>
          <p:cNvGrpSpPr/>
          <p:nvPr/>
        </p:nvGrpSpPr>
        <p:grpSpPr>
          <a:xfrm rot="0">
            <a:off x="5238750" y="1143000"/>
            <a:ext cx="8191500" cy="1695450"/>
            <a:chOff x="0" y="0"/>
            <a:chExt cx="2157432" cy="446538"/>
          </a:xfrm>
        </p:grpSpPr>
        <p:sp>
          <p:nvSpPr>
            <p:cNvPr name="Freeform 11" id="11"/>
            <p:cNvSpPr/>
            <p:nvPr/>
          </p:nvSpPr>
          <p:spPr>
            <a:xfrm flipH="false" flipV="false" rot="0">
              <a:off x="0" y="0"/>
              <a:ext cx="2157432" cy="446538"/>
            </a:xfrm>
            <a:custGeom>
              <a:avLst/>
              <a:gdLst/>
              <a:ahLst/>
              <a:cxnLst/>
              <a:rect r="r" b="b" t="t" l="l"/>
              <a:pathLst>
                <a:path h="446538" w="2157432">
                  <a:moveTo>
                    <a:pt x="0" y="0"/>
                  </a:moveTo>
                  <a:lnTo>
                    <a:pt x="2157432" y="0"/>
                  </a:lnTo>
                  <a:lnTo>
                    <a:pt x="2157432" y="446538"/>
                  </a:lnTo>
                  <a:lnTo>
                    <a:pt x="0" y="446538"/>
                  </a:lnTo>
                  <a:close/>
                </a:path>
              </a:pathLst>
            </a:custGeom>
            <a:solidFill>
              <a:srgbClr val="000001"/>
            </a:solidFill>
            <a:ln cap="sq">
              <a:noFill/>
              <a:prstDash val="solid"/>
              <a:miter/>
            </a:ln>
          </p:spPr>
        </p:sp>
        <p:sp>
          <p:nvSpPr>
            <p:cNvPr name="TextBox 12" id="12"/>
            <p:cNvSpPr txBox="true"/>
            <p:nvPr/>
          </p:nvSpPr>
          <p:spPr>
            <a:xfrm>
              <a:off x="0" y="38100"/>
              <a:ext cx="2157432" cy="408438"/>
            </a:xfrm>
            <a:prstGeom prst="rect">
              <a:avLst/>
            </a:prstGeom>
          </p:spPr>
          <p:txBody>
            <a:bodyPr anchor="ctr" rtlCol="false" tIns="254000" lIns="254000" bIns="254000" rIns="254000"/>
            <a:lstStyle/>
            <a:p>
              <a:pPr algn="ctr" marL="0" indent="0" lvl="0">
                <a:lnSpc>
                  <a:spcPts val="6600"/>
                </a:lnSpc>
              </a:pPr>
            </a:p>
          </p:txBody>
        </p:sp>
      </p:grpSp>
      <p:grpSp>
        <p:nvGrpSpPr>
          <p:cNvPr name="Group 13" id="13"/>
          <p:cNvGrpSpPr/>
          <p:nvPr/>
        </p:nvGrpSpPr>
        <p:grpSpPr>
          <a:xfrm rot="0">
            <a:off x="5048250" y="952500"/>
            <a:ext cx="8191500" cy="1695458"/>
            <a:chOff x="0" y="0"/>
            <a:chExt cx="2157432" cy="446540"/>
          </a:xfrm>
        </p:grpSpPr>
        <p:sp>
          <p:nvSpPr>
            <p:cNvPr name="Freeform 14" id="14"/>
            <p:cNvSpPr/>
            <p:nvPr/>
          </p:nvSpPr>
          <p:spPr>
            <a:xfrm flipH="false" flipV="false" rot="0">
              <a:off x="0" y="0"/>
              <a:ext cx="2157432" cy="446540"/>
            </a:xfrm>
            <a:custGeom>
              <a:avLst/>
              <a:gdLst/>
              <a:ahLst/>
              <a:cxnLst/>
              <a:rect r="r" b="b" t="t" l="l"/>
              <a:pathLst>
                <a:path h="446540" w="2157432">
                  <a:moveTo>
                    <a:pt x="0" y="0"/>
                  </a:moveTo>
                  <a:lnTo>
                    <a:pt x="2157432" y="0"/>
                  </a:lnTo>
                  <a:lnTo>
                    <a:pt x="2157432" y="446540"/>
                  </a:lnTo>
                  <a:lnTo>
                    <a:pt x="0" y="446540"/>
                  </a:lnTo>
                  <a:close/>
                </a:path>
              </a:pathLst>
            </a:custGeom>
            <a:solidFill>
              <a:srgbClr val="E5A6F4"/>
            </a:solidFill>
            <a:ln w="66675" cap="sq">
              <a:solidFill>
                <a:srgbClr val="000001"/>
              </a:solidFill>
              <a:prstDash val="solid"/>
              <a:miter/>
            </a:ln>
          </p:spPr>
        </p:sp>
        <p:sp>
          <p:nvSpPr>
            <p:cNvPr name="TextBox 15" id="15"/>
            <p:cNvSpPr txBox="true"/>
            <p:nvPr/>
          </p:nvSpPr>
          <p:spPr>
            <a:xfrm>
              <a:off x="0" y="38100"/>
              <a:ext cx="2157432" cy="408440"/>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LEARNING OBJECTIVES</a:t>
              </a:r>
            </a:p>
          </p:txBody>
        </p:sp>
      </p:grpSp>
      <p:grpSp>
        <p:nvGrpSpPr>
          <p:cNvPr name="Group 16" id="16"/>
          <p:cNvGrpSpPr/>
          <p:nvPr/>
        </p:nvGrpSpPr>
        <p:grpSpPr>
          <a:xfrm rot="0">
            <a:off x="4903672" y="809625"/>
            <a:ext cx="361950" cy="361950"/>
            <a:chOff x="0" y="0"/>
            <a:chExt cx="731520" cy="731520"/>
          </a:xfrm>
        </p:grpSpPr>
        <p:sp>
          <p:nvSpPr>
            <p:cNvPr name="Freeform 17" id="17"/>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18" id="18"/>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9" id="19"/>
          <p:cNvGrpSpPr/>
          <p:nvPr/>
        </p:nvGrpSpPr>
        <p:grpSpPr>
          <a:xfrm rot="0">
            <a:off x="13000125" y="809625"/>
            <a:ext cx="361950" cy="36195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1" id="21"/>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2" id="22"/>
          <p:cNvGrpSpPr/>
          <p:nvPr/>
        </p:nvGrpSpPr>
        <p:grpSpPr>
          <a:xfrm rot="0">
            <a:off x="4903672" y="2428875"/>
            <a:ext cx="361950" cy="36195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4" id="2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5" id="25"/>
          <p:cNvGrpSpPr/>
          <p:nvPr/>
        </p:nvGrpSpPr>
        <p:grpSpPr>
          <a:xfrm rot="0">
            <a:off x="13000125" y="2428875"/>
            <a:ext cx="361950" cy="36195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7" id="2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Freeform 28" id="28"/>
          <p:cNvSpPr/>
          <p:nvPr/>
        </p:nvSpPr>
        <p:spPr>
          <a:xfrm flipH="false" flipV="false" rot="0">
            <a:off x="12884325" y="8653546"/>
            <a:ext cx="996601" cy="1215367"/>
          </a:xfrm>
          <a:custGeom>
            <a:avLst/>
            <a:gdLst/>
            <a:ahLst/>
            <a:cxnLst/>
            <a:rect r="r" b="b" t="t" l="l"/>
            <a:pathLst>
              <a:path h="1215367" w="996601">
                <a:moveTo>
                  <a:pt x="0" y="0"/>
                </a:moveTo>
                <a:lnTo>
                  <a:pt x="996600" y="0"/>
                </a:lnTo>
                <a:lnTo>
                  <a:pt x="996600" y="1215367"/>
                </a:lnTo>
                <a:lnTo>
                  <a:pt x="0" y="1215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9" id="29"/>
          <p:cNvSpPr/>
          <p:nvPr/>
        </p:nvSpPr>
        <p:spPr>
          <a:xfrm flipH="false" flipV="false" rot="5400000">
            <a:off x="12492300" y="8576404"/>
            <a:ext cx="996601" cy="1215367"/>
          </a:xfrm>
          <a:custGeom>
            <a:avLst/>
            <a:gdLst/>
            <a:ahLst/>
            <a:cxnLst/>
            <a:rect r="r" b="b" t="t" l="l"/>
            <a:pathLst>
              <a:path h="1215367" w="996601">
                <a:moveTo>
                  <a:pt x="0" y="0"/>
                </a:moveTo>
                <a:lnTo>
                  <a:pt x="996600" y="0"/>
                </a:lnTo>
                <a:lnTo>
                  <a:pt x="996600" y="1215367"/>
                </a:lnTo>
                <a:lnTo>
                  <a:pt x="0" y="1215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30" id="30"/>
          <p:cNvGrpSpPr/>
          <p:nvPr/>
        </p:nvGrpSpPr>
        <p:grpSpPr>
          <a:xfrm rot="0">
            <a:off x="5048250" y="3619500"/>
            <a:ext cx="8191500" cy="5715000"/>
            <a:chOff x="0" y="0"/>
            <a:chExt cx="2157432" cy="1505185"/>
          </a:xfrm>
        </p:grpSpPr>
        <p:sp>
          <p:nvSpPr>
            <p:cNvPr name="Freeform 31" id="31"/>
            <p:cNvSpPr/>
            <p:nvPr/>
          </p:nvSpPr>
          <p:spPr>
            <a:xfrm flipH="false" flipV="false" rot="0">
              <a:off x="0" y="0"/>
              <a:ext cx="2157432" cy="1505185"/>
            </a:xfrm>
            <a:custGeom>
              <a:avLst/>
              <a:gdLst/>
              <a:ahLst/>
              <a:cxnLst/>
              <a:rect r="r" b="b" t="t" l="l"/>
              <a:pathLst>
                <a:path h="1505185" w="2157432">
                  <a:moveTo>
                    <a:pt x="0" y="0"/>
                  </a:moveTo>
                  <a:lnTo>
                    <a:pt x="2157432" y="0"/>
                  </a:lnTo>
                  <a:lnTo>
                    <a:pt x="2157432" y="1505185"/>
                  </a:lnTo>
                  <a:lnTo>
                    <a:pt x="0" y="1505185"/>
                  </a:lnTo>
                  <a:close/>
                </a:path>
              </a:pathLst>
            </a:custGeom>
            <a:solidFill>
              <a:srgbClr val="ECEB76"/>
            </a:solidFill>
            <a:ln w="66675" cap="sq">
              <a:solidFill>
                <a:srgbClr val="000001"/>
              </a:solidFill>
              <a:prstDash val="solid"/>
              <a:miter/>
            </a:ln>
          </p:spPr>
        </p:sp>
        <p:sp>
          <p:nvSpPr>
            <p:cNvPr name="TextBox 32" id="32"/>
            <p:cNvSpPr txBox="true"/>
            <p:nvPr/>
          </p:nvSpPr>
          <p:spPr>
            <a:xfrm>
              <a:off x="0" y="-9525"/>
              <a:ext cx="2157432" cy="1514710"/>
            </a:xfrm>
            <a:prstGeom prst="rect">
              <a:avLst/>
            </a:prstGeom>
          </p:spPr>
          <p:txBody>
            <a:bodyPr anchor="ctr" rtlCol="false" tIns="254000" lIns="254000" bIns="254000" rIns="254000"/>
            <a:lstStyle/>
            <a:p>
              <a:pPr algn="l" marL="755647" indent="-377824" lvl="1">
                <a:lnSpc>
                  <a:spcPts val="4199"/>
                </a:lnSpc>
                <a:buFont typeface="Arial"/>
                <a:buChar char="•"/>
              </a:pPr>
              <a:r>
                <a:rPr lang="en-US" sz="3499">
                  <a:solidFill>
                    <a:srgbClr val="000001"/>
                  </a:solidFill>
                  <a:latin typeface="Barlow SemiCondensed"/>
                  <a:ea typeface="Barlow SemiCondensed"/>
                  <a:cs typeface="Barlow SemiCondensed"/>
                  <a:sym typeface="Barlow SemiCondensed"/>
                </a:rPr>
                <a:t>Understanding mutations throughout years in India, Pakistan, Indonesia and Korea.</a:t>
              </a:r>
            </a:p>
            <a:p>
              <a:pPr algn="l">
                <a:lnSpc>
                  <a:spcPts val="4199"/>
                </a:lnSpc>
              </a:pPr>
            </a:p>
            <a:p>
              <a:pPr algn="l" marL="755647" indent="-377824" lvl="1">
                <a:lnSpc>
                  <a:spcPts val="4199"/>
                </a:lnSpc>
                <a:buFont typeface="Arial"/>
                <a:buChar char="•"/>
              </a:pPr>
              <a:r>
                <a:rPr lang="en-US" sz="3499">
                  <a:solidFill>
                    <a:srgbClr val="000001"/>
                  </a:solidFill>
                  <a:latin typeface="Barlow SemiCondensed"/>
                  <a:ea typeface="Barlow SemiCondensed"/>
                  <a:cs typeface="Barlow SemiCondensed"/>
                  <a:sym typeface="Barlow SemiCondensed"/>
                </a:rPr>
                <a:t>Understanding the scientific significance and grasp its role in various fields of STEM.</a:t>
              </a:r>
            </a:p>
          </p:txBody>
        </p:sp>
      </p:grpSp>
      <p:sp>
        <p:nvSpPr>
          <p:cNvPr name="Freeform 33" id="33"/>
          <p:cNvSpPr/>
          <p:nvPr/>
        </p:nvSpPr>
        <p:spPr>
          <a:xfrm flipH="false" flipV="false" rot="-5400000">
            <a:off x="15611475" y="2276475"/>
            <a:ext cx="590550" cy="2095500"/>
          </a:xfrm>
          <a:custGeom>
            <a:avLst/>
            <a:gdLst/>
            <a:ahLst/>
            <a:cxnLst/>
            <a:rect r="r" b="b" t="t" l="l"/>
            <a:pathLst>
              <a:path h="2095500" w="590550">
                <a:moveTo>
                  <a:pt x="0" y="0"/>
                </a:moveTo>
                <a:lnTo>
                  <a:pt x="590550" y="0"/>
                </a:lnTo>
                <a:lnTo>
                  <a:pt x="590550" y="2095500"/>
                </a:lnTo>
                <a:lnTo>
                  <a:pt x="0" y="2095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4" id="34"/>
          <p:cNvSpPr/>
          <p:nvPr/>
        </p:nvSpPr>
        <p:spPr>
          <a:xfrm flipH="false" flipV="false" rot="0">
            <a:off x="-948958" y="4014812"/>
            <a:ext cx="3638550" cy="3638550"/>
          </a:xfrm>
          <a:custGeom>
            <a:avLst/>
            <a:gdLst/>
            <a:ahLst/>
            <a:cxnLst/>
            <a:rect r="r" b="b" t="t" l="l"/>
            <a:pathLst>
              <a:path h="3638550" w="3638550">
                <a:moveTo>
                  <a:pt x="0" y="0"/>
                </a:moveTo>
                <a:lnTo>
                  <a:pt x="3638550" y="0"/>
                </a:lnTo>
                <a:lnTo>
                  <a:pt x="3638550" y="3638550"/>
                </a:lnTo>
                <a:lnTo>
                  <a:pt x="0" y="36385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11799527" y="3142358"/>
            <a:ext cx="1084798" cy="1125734"/>
          </a:xfrm>
          <a:custGeom>
            <a:avLst/>
            <a:gdLst/>
            <a:ahLst/>
            <a:cxnLst/>
            <a:rect r="r" b="b" t="t" l="l"/>
            <a:pathLst>
              <a:path h="1125734" w="1084798">
                <a:moveTo>
                  <a:pt x="0" y="0"/>
                </a:moveTo>
                <a:lnTo>
                  <a:pt x="1084798" y="0"/>
                </a:lnTo>
                <a:lnTo>
                  <a:pt x="1084798" y="1125734"/>
                </a:lnTo>
                <a:lnTo>
                  <a:pt x="0" y="11257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36" id="36"/>
          <p:cNvSpPr/>
          <p:nvPr/>
        </p:nvSpPr>
        <p:spPr>
          <a:xfrm flipH="false" flipV="false" rot="0">
            <a:off x="2078465" y="8487174"/>
            <a:ext cx="1007635" cy="1037826"/>
          </a:xfrm>
          <a:custGeom>
            <a:avLst/>
            <a:gdLst/>
            <a:ahLst/>
            <a:cxnLst/>
            <a:rect r="r" b="b" t="t" l="l"/>
            <a:pathLst>
              <a:path h="1037826" w="1007635">
                <a:moveTo>
                  <a:pt x="0" y="0"/>
                </a:moveTo>
                <a:lnTo>
                  <a:pt x="1007635" y="0"/>
                </a:lnTo>
                <a:lnTo>
                  <a:pt x="1007635" y="1037826"/>
                </a:lnTo>
                <a:lnTo>
                  <a:pt x="0" y="103782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7" id="37"/>
          <p:cNvSpPr/>
          <p:nvPr/>
        </p:nvSpPr>
        <p:spPr>
          <a:xfrm flipH="false" flipV="false" rot="-10800000">
            <a:off x="15392400" y="4708952"/>
            <a:ext cx="3610255" cy="3704553"/>
          </a:xfrm>
          <a:custGeom>
            <a:avLst/>
            <a:gdLst/>
            <a:ahLst/>
            <a:cxnLst/>
            <a:rect r="r" b="b" t="t" l="l"/>
            <a:pathLst>
              <a:path h="3704553" w="3610255">
                <a:moveTo>
                  <a:pt x="0" y="0"/>
                </a:moveTo>
                <a:lnTo>
                  <a:pt x="3610255" y="0"/>
                </a:lnTo>
                <a:lnTo>
                  <a:pt x="3610255" y="3704552"/>
                </a:lnTo>
                <a:lnTo>
                  <a:pt x="0" y="370455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AutoShape 38" id="38"/>
          <p:cNvSpPr/>
          <p:nvPr/>
        </p:nvSpPr>
        <p:spPr>
          <a:xfrm>
            <a:off x="4082160" y="5167337"/>
            <a:ext cx="0" cy="1333500"/>
          </a:xfrm>
          <a:prstGeom prst="line">
            <a:avLst/>
          </a:prstGeom>
          <a:ln cap="flat" w="66675">
            <a:solidFill>
              <a:srgbClr val="000001"/>
            </a:solidFill>
            <a:prstDash val="sysDot"/>
            <a:headEnd type="none" len="sm" w="sm"/>
            <a:tailEnd type="none" len="sm" w="sm"/>
          </a:ln>
        </p:spPr>
      </p:sp>
      <p:sp>
        <p:nvSpPr>
          <p:cNvPr name="Freeform 39" id="39"/>
          <p:cNvSpPr/>
          <p:nvPr/>
        </p:nvSpPr>
        <p:spPr>
          <a:xfrm flipH="false" flipV="false" rot="0">
            <a:off x="15036491" y="7959340"/>
            <a:ext cx="1131149" cy="816484"/>
          </a:xfrm>
          <a:custGeom>
            <a:avLst/>
            <a:gdLst/>
            <a:ahLst/>
            <a:cxnLst/>
            <a:rect r="r" b="b" t="t" l="l"/>
            <a:pathLst>
              <a:path h="816484" w="1131149">
                <a:moveTo>
                  <a:pt x="0" y="0"/>
                </a:moveTo>
                <a:lnTo>
                  <a:pt x="1131149" y="0"/>
                </a:lnTo>
                <a:lnTo>
                  <a:pt x="1131149" y="816484"/>
                </a:lnTo>
                <a:lnTo>
                  <a:pt x="0" y="81648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1524000" y="1714500"/>
            <a:ext cx="15621000" cy="7810500"/>
            <a:chOff x="0" y="0"/>
            <a:chExt cx="4114173" cy="2057086"/>
          </a:xfrm>
        </p:grpSpPr>
        <p:sp>
          <p:nvSpPr>
            <p:cNvPr name="Freeform 4" id="4"/>
            <p:cNvSpPr/>
            <p:nvPr/>
          </p:nvSpPr>
          <p:spPr>
            <a:xfrm flipH="false" flipV="false" rot="0">
              <a:off x="0" y="0"/>
              <a:ext cx="4114173" cy="2057086"/>
            </a:xfrm>
            <a:custGeom>
              <a:avLst/>
              <a:gdLst/>
              <a:ahLst/>
              <a:cxnLst/>
              <a:rect r="r" b="b" t="t" l="l"/>
              <a:pathLst>
                <a:path h="2057086" w="4114173">
                  <a:moveTo>
                    <a:pt x="0" y="0"/>
                  </a:moveTo>
                  <a:lnTo>
                    <a:pt x="4114173" y="0"/>
                  </a:lnTo>
                  <a:lnTo>
                    <a:pt x="4114173" y="2057086"/>
                  </a:lnTo>
                  <a:lnTo>
                    <a:pt x="0" y="2057086"/>
                  </a:lnTo>
                  <a:close/>
                </a:path>
              </a:pathLst>
            </a:custGeom>
            <a:solidFill>
              <a:srgbClr val="707070"/>
            </a:solidFill>
            <a:ln cap="sq">
              <a:noFill/>
              <a:prstDash val="solid"/>
              <a:miter/>
            </a:ln>
          </p:spPr>
        </p:sp>
        <p:sp>
          <p:nvSpPr>
            <p:cNvPr name="TextBox 5" id="5"/>
            <p:cNvSpPr txBox="true"/>
            <p:nvPr/>
          </p:nvSpPr>
          <p:spPr>
            <a:xfrm>
              <a:off x="0" y="38100"/>
              <a:ext cx="4114173" cy="2018986"/>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6" id="6"/>
          <p:cNvGrpSpPr/>
          <p:nvPr/>
        </p:nvGrpSpPr>
        <p:grpSpPr>
          <a:xfrm rot="0">
            <a:off x="1524000" y="1714500"/>
            <a:ext cx="15621000" cy="8114781"/>
            <a:chOff x="0" y="0"/>
            <a:chExt cx="4114173" cy="2137226"/>
          </a:xfrm>
        </p:grpSpPr>
        <p:sp>
          <p:nvSpPr>
            <p:cNvPr name="Freeform 7" id="7"/>
            <p:cNvSpPr/>
            <p:nvPr/>
          </p:nvSpPr>
          <p:spPr>
            <a:xfrm flipH="false" flipV="false" rot="0">
              <a:off x="0" y="0"/>
              <a:ext cx="4114173" cy="2137226"/>
            </a:xfrm>
            <a:custGeom>
              <a:avLst/>
              <a:gdLst/>
              <a:ahLst/>
              <a:cxnLst/>
              <a:rect r="r" b="b" t="t" l="l"/>
              <a:pathLst>
                <a:path h="2137226" w="4114173">
                  <a:moveTo>
                    <a:pt x="0" y="0"/>
                  </a:moveTo>
                  <a:lnTo>
                    <a:pt x="4114173" y="0"/>
                  </a:lnTo>
                  <a:lnTo>
                    <a:pt x="4114173" y="2137226"/>
                  </a:lnTo>
                  <a:lnTo>
                    <a:pt x="0" y="2137226"/>
                  </a:lnTo>
                  <a:close/>
                </a:path>
              </a:pathLst>
            </a:custGeom>
            <a:solidFill>
              <a:srgbClr val="FFFFFF"/>
            </a:solidFill>
            <a:ln w="66675" cap="sq">
              <a:solidFill>
                <a:srgbClr val="000001"/>
              </a:solidFill>
              <a:prstDash val="solid"/>
              <a:miter/>
            </a:ln>
          </p:spPr>
        </p:sp>
        <p:sp>
          <p:nvSpPr>
            <p:cNvPr name="TextBox 8" id="8"/>
            <p:cNvSpPr txBox="true"/>
            <p:nvPr/>
          </p:nvSpPr>
          <p:spPr>
            <a:xfrm>
              <a:off x="0" y="-19050"/>
              <a:ext cx="4114173" cy="2156276"/>
            </a:xfrm>
            <a:prstGeom prst="rect">
              <a:avLst/>
            </a:prstGeom>
          </p:spPr>
          <p:txBody>
            <a:bodyPr anchor="ctr" rtlCol="false" tIns="50800" lIns="50800" bIns="50800" rIns="50800"/>
            <a:lstStyle/>
            <a:p>
              <a:pPr algn="l">
                <a:lnSpc>
                  <a:spcPts val="3600"/>
                </a:lnSpc>
              </a:pPr>
              <a:r>
                <a:rPr lang="en-US" sz="3000" spc="-15">
                  <a:solidFill>
                    <a:srgbClr val="000001"/>
                  </a:solidFill>
                  <a:latin typeface="Barlow SemiCondensed"/>
                  <a:ea typeface="Barlow SemiCondensed"/>
                  <a:cs typeface="Barlow SemiCondensed"/>
                  <a:sym typeface="Barlow SemiCondensed"/>
                </a:rPr>
                <a:t>          </a:t>
              </a:r>
            </a:p>
            <a:p>
              <a:pPr algn="l">
                <a:lnSpc>
                  <a:spcPts val="3600"/>
                </a:lnSpc>
              </a:pPr>
            </a:p>
            <a:p>
              <a:pPr algn="l">
                <a:lnSpc>
                  <a:spcPts val="3600"/>
                </a:lnSpc>
              </a:pPr>
            </a:p>
            <a:p>
              <a:pPr algn="l">
                <a:lnSpc>
                  <a:spcPts val="3600"/>
                </a:lnSpc>
              </a:pPr>
              <a:r>
                <a:rPr lang="en-US" sz="3000" spc="-15">
                  <a:solidFill>
                    <a:srgbClr val="000001"/>
                  </a:solidFill>
                  <a:latin typeface="Barlow SemiCondensed"/>
                  <a:ea typeface="Barlow SemiCondensed"/>
                  <a:cs typeface="Barlow SemiCondensed"/>
                  <a:sym typeface="Barlow SemiCondensed"/>
                </a:rPr>
                <a:t>                                                                                                                                                                                                                        The GenomeAsia 100K Project is an international genomic initiative aimed at sequencing 100,000 individuals to create the most comprehensive map of Asia’s genetic diversity. Its pilot study, published in December 2019, sequenced 1,739 genomes from 219 population groups across 64 Asian countries. This was significant because Asian populations which make up over 60% of the world were historically underrepresented in global genomic databases, making it difficult to accurately interpret genetic variants or apply precision medicine in these regions.</a:t>
              </a:r>
            </a:p>
            <a:p>
              <a:pPr algn="l">
                <a:lnSpc>
                  <a:spcPts val="3600"/>
                </a:lnSpc>
              </a:pPr>
              <a:r>
                <a:rPr lang="en-US" sz="3000" spc="-15">
                  <a:solidFill>
                    <a:srgbClr val="000001"/>
                  </a:solidFill>
                  <a:latin typeface="Barlow SemiCondensed"/>
                  <a:ea typeface="Barlow SemiCondensed"/>
                  <a:cs typeface="Barlow SemiCondensed"/>
                  <a:sym typeface="Barlow SemiCondensed"/>
                </a:rPr>
                <a:t>The project uncovered thousands of previously unreported or misclassified variants and revealed strong population structure within Asia, including major genetic differences among South, East, and Southeast Asians. Many variant frequencies differed sharply from those reported in European-based datasets, showing why Asia-specific references are essential. By capturing both common and rare variants, especially in small or isolated groups, the project improves the reliability of disease-gene mapping, risk prediction, and genotype imputation for Asian populations.</a:t>
              </a:r>
            </a:p>
            <a:p>
              <a:pPr algn="l" marL="0" indent="0" lvl="0">
                <a:lnSpc>
                  <a:spcPts val="3600"/>
                </a:lnSpc>
                <a:spcBef>
                  <a:spcPct val="0"/>
                </a:spcBef>
              </a:pPr>
            </a:p>
          </p:txBody>
        </p:sp>
      </p:grpSp>
      <p:grpSp>
        <p:nvGrpSpPr>
          <p:cNvPr name="Group 9" id="9"/>
          <p:cNvGrpSpPr/>
          <p:nvPr/>
        </p:nvGrpSpPr>
        <p:grpSpPr>
          <a:xfrm rot="0">
            <a:off x="1143000" y="762000"/>
            <a:ext cx="7429500" cy="2914650"/>
            <a:chOff x="0" y="0"/>
            <a:chExt cx="1956741" cy="767644"/>
          </a:xfrm>
        </p:grpSpPr>
        <p:sp>
          <p:nvSpPr>
            <p:cNvPr name="Freeform 10" id="10"/>
            <p:cNvSpPr/>
            <p:nvPr/>
          </p:nvSpPr>
          <p:spPr>
            <a:xfrm flipH="false" flipV="false" rot="0">
              <a:off x="0" y="0"/>
              <a:ext cx="1956741" cy="767644"/>
            </a:xfrm>
            <a:custGeom>
              <a:avLst/>
              <a:gdLst/>
              <a:ahLst/>
              <a:cxnLst/>
              <a:rect r="r" b="b" t="t" l="l"/>
              <a:pathLst>
                <a:path h="767644" w="1956741">
                  <a:moveTo>
                    <a:pt x="0" y="0"/>
                  </a:moveTo>
                  <a:lnTo>
                    <a:pt x="1956741" y="0"/>
                  </a:lnTo>
                  <a:lnTo>
                    <a:pt x="1956741" y="767644"/>
                  </a:lnTo>
                  <a:lnTo>
                    <a:pt x="0" y="767644"/>
                  </a:lnTo>
                  <a:close/>
                </a:path>
              </a:pathLst>
            </a:custGeom>
            <a:solidFill>
              <a:srgbClr val="707070"/>
            </a:solidFill>
            <a:ln cap="sq">
              <a:noFill/>
              <a:prstDash val="solid"/>
              <a:miter/>
            </a:ln>
          </p:spPr>
        </p:sp>
        <p:sp>
          <p:nvSpPr>
            <p:cNvPr name="TextBox 11" id="11"/>
            <p:cNvSpPr txBox="true"/>
            <p:nvPr/>
          </p:nvSpPr>
          <p:spPr>
            <a:xfrm>
              <a:off x="0" y="38100"/>
              <a:ext cx="1956741" cy="729544"/>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2" id="12"/>
          <p:cNvGrpSpPr/>
          <p:nvPr/>
        </p:nvGrpSpPr>
        <p:grpSpPr>
          <a:xfrm rot="0">
            <a:off x="919329" y="1714500"/>
            <a:ext cx="7429500" cy="1822497"/>
            <a:chOff x="0" y="0"/>
            <a:chExt cx="1956741" cy="479999"/>
          </a:xfrm>
        </p:grpSpPr>
        <p:sp>
          <p:nvSpPr>
            <p:cNvPr name="Freeform 13" id="13"/>
            <p:cNvSpPr/>
            <p:nvPr/>
          </p:nvSpPr>
          <p:spPr>
            <a:xfrm flipH="false" flipV="false" rot="0">
              <a:off x="0" y="0"/>
              <a:ext cx="1956741" cy="479999"/>
            </a:xfrm>
            <a:custGeom>
              <a:avLst/>
              <a:gdLst/>
              <a:ahLst/>
              <a:cxnLst/>
              <a:rect r="r" b="b" t="t" l="l"/>
              <a:pathLst>
                <a:path h="479999" w="1956741">
                  <a:moveTo>
                    <a:pt x="0" y="0"/>
                  </a:moveTo>
                  <a:lnTo>
                    <a:pt x="1956741" y="0"/>
                  </a:lnTo>
                  <a:lnTo>
                    <a:pt x="1956741" y="479999"/>
                  </a:lnTo>
                  <a:lnTo>
                    <a:pt x="0" y="479999"/>
                  </a:lnTo>
                  <a:close/>
                </a:path>
              </a:pathLst>
            </a:custGeom>
            <a:solidFill>
              <a:srgbClr val="FFFFFF"/>
            </a:solidFill>
            <a:ln w="66675" cap="sq">
              <a:solidFill>
                <a:srgbClr val="000001"/>
              </a:solidFill>
              <a:prstDash val="solid"/>
              <a:miter/>
            </a:ln>
          </p:spPr>
        </p:sp>
        <p:sp>
          <p:nvSpPr>
            <p:cNvPr name="TextBox 14" id="14"/>
            <p:cNvSpPr txBox="true"/>
            <p:nvPr/>
          </p:nvSpPr>
          <p:spPr>
            <a:xfrm>
              <a:off x="0" y="-19050"/>
              <a:ext cx="1956741" cy="499049"/>
            </a:xfrm>
            <a:prstGeom prst="rect">
              <a:avLst/>
            </a:prstGeom>
          </p:spPr>
          <p:txBody>
            <a:bodyPr anchor="t" rtlCol="false" tIns="254000" lIns="254000" bIns="254000" rIns="254000"/>
            <a:lstStyle/>
            <a:p>
              <a:pPr algn="l" marL="0" indent="0" lvl="0">
                <a:lnSpc>
                  <a:spcPts val="2400"/>
                </a:lnSpc>
                <a:spcBef>
                  <a:spcPct val="0"/>
                </a:spcBef>
              </a:pPr>
              <a:r>
                <a:rPr lang="en-US" sz="2000" spc="-10">
                  <a:solidFill>
                    <a:srgbClr val="000001"/>
                  </a:solidFill>
                  <a:latin typeface="Barlow SemiCondensed"/>
                  <a:ea typeface="Barlow SemiCondensed"/>
                  <a:cs typeface="Barlow SemiCondensed"/>
                  <a:sym typeface="Barlow SemiCondensed"/>
                </a:rPr>
                <a:t>Our presentation and work is mostly influenced by ‘The Genome Asia 100k Project’ enabling genetic discovery across Asia. the article was published online on 4</a:t>
              </a:r>
              <a:r>
                <a:rPr lang="en-US" sz="2000" spc="-10">
                  <a:solidFill>
                    <a:srgbClr val="000001"/>
                  </a:solidFill>
                  <a:latin typeface="Barlow SemiCondensed"/>
                  <a:ea typeface="Barlow SemiCondensed"/>
                  <a:cs typeface="Barlow SemiCondensed"/>
                  <a:sym typeface="Barlow SemiCondensed"/>
                </a:rPr>
                <a:t>th</a:t>
              </a:r>
              <a:r>
                <a:rPr lang="en-US" sz="2000" spc="-10">
                  <a:solidFill>
                    <a:srgbClr val="000001"/>
                  </a:solidFill>
                  <a:latin typeface="Barlow SemiCondensed"/>
                  <a:ea typeface="Barlow SemiCondensed"/>
                  <a:cs typeface="Barlow SemiCondensed"/>
                  <a:sym typeface="Barlow SemiCondensed"/>
                </a:rPr>
                <a:t> December,2019. Let us review in brief what was presented in the research paper. </a:t>
              </a:r>
            </a:p>
          </p:txBody>
        </p:sp>
      </p:grpSp>
      <p:grpSp>
        <p:nvGrpSpPr>
          <p:cNvPr name="Group 15" id="15"/>
          <p:cNvGrpSpPr/>
          <p:nvPr/>
        </p:nvGrpSpPr>
        <p:grpSpPr>
          <a:xfrm rot="0">
            <a:off x="919329" y="390525"/>
            <a:ext cx="7429500" cy="1323975"/>
            <a:chOff x="0" y="0"/>
            <a:chExt cx="1887478" cy="336358"/>
          </a:xfrm>
        </p:grpSpPr>
        <p:sp>
          <p:nvSpPr>
            <p:cNvPr name="Freeform 16" id="16"/>
            <p:cNvSpPr/>
            <p:nvPr/>
          </p:nvSpPr>
          <p:spPr>
            <a:xfrm flipH="false" flipV="false" rot="0">
              <a:off x="0" y="0"/>
              <a:ext cx="1887478" cy="336358"/>
            </a:xfrm>
            <a:custGeom>
              <a:avLst/>
              <a:gdLst/>
              <a:ahLst/>
              <a:cxnLst/>
              <a:rect r="r" b="b" t="t" l="l"/>
              <a:pathLst>
                <a:path h="336358" w="1887478">
                  <a:moveTo>
                    <a:pt x="0" y="0"/>
                  </a:moveTo>
                  <a:lnTo>
                    <a:pt x="1887478" y="0"/>
                  </a:lnTo>
                  <a:lnTo>
                    <a:pt x="1887478" y="336358"/>
                  </a:lnTo>
                  <a:lnTo>
                    <a:pt x="0" y="336358"/>
                  </a:lnTo>
                  <a:close/>
                </a:path>
              </a:pathLst>
            </a:custGeom>
            <a:solidFill>
              <a:srgbClr val="E5A6F4"/>
            </a:solidFill>
            <a:ln w="66675" cap="sq">
              <a:solidFill>
                <a:srgbClr val="000001"/>
              </a:solidFill>
              <a:prstDash val="solid"/>
              <a:miter/>
            </a:ln>
          </p:spPr>
        </p:sp>
        <p:sp>
          <p:nvSpPr>
            <p:cNvPr name="TextBox 17" id="17"/>
            <p:cNvSpPr txBox="true"/>
            <p:nvPr/>
          </p:nvSpPr>
          <p:spPr>
            <a:xfrm>
              <a:off x="0" y="19050"/>
              <a:ext cx="1887478" cy="317308"/>
            </a:xfrm>
            <a:prstGeom prst="rect">
              <a:avLst/>
            </a:prstGeom>
          </p:spPr>
          <p:txBody>
            <a:bodyPr anchor="t" rtlCol="false" tIns="228600" lIns="228600" bIns="228600" rIns="228600"/>
            <a:lstStyle/>
            <a:p>
              <a:pPr algn="ctr" marL="0" indent="0" lvl="0">
                <a:lnSpc>
                  <a:spcPts val="3740"/>
                </a:lnSpc>
                <a:spcBef>
                  <a:spcPct val="0"/>
                </a:spcBef>
              </a:pPr>
              <a:r>
                <a:rPr lang="en-US" b="true" sz="3400">
                  <a:solidFill>
                    <a:srgbClr val="000001"/>
                  </a:solidFill>
                  <a:latin typeface="Barlow SemiCondensed Bold"/>
                  <a:ea typeface="Barlow SemiCondensed Bold"/>
                  <a:cs typeface="Barlow SemiCondensed Bold"/>
                  <a:sym typeface="Barlow SemiCondensed Bold"/>
                </a:rPr>
                <a:t>UNDERSTANDING THE DATABASE</a:t>
              </a:r>
            </a:p>
          </p:txBody>
        </p:sp>
      </p:grpSp>
      <p:grpSp>
        <p:nvGrpSpPr>
          <p:cNvPr name="Group 18" id="18"/>
          <p:cNvGrpSpPr/>
          <p:nvPr/>
        </p:nvGrpSpPr>
        <p:grpSpPr>
          <a:xfrm rot="0">
            <a:off x="819150" y="39052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8167854" y="39052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819150" y="2057400"/>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8167854" y="2057400"/>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7239000" y="-190500"/>
            <a:ext cx="11239500" cy="10668000"/>
            <a:chOff x="0" y="0"/>
            <a:chExt cx="2960198" cy="2809679"/>
          </a:xfrm>
        </p:grpSpPr>
        <p:sp>
          <p:nvSpPr>
            <p:cNvPr name="Freeform 4" id="4"/>
            <p:cNvSpPr/>
            <p:nvPr/>
          </p:nvSpPr>
          <p:spPr>
            <a:xfrm flipH="false" flipV="false" rot="0">
              <a:off x="0" y="0"/>
              <a:ext cx="2960198" cy="2809679"/>
            </a:xfrm>
            <a:custGeom>
              <a:avLst/>
              <a:gdLst/>
              <a:ahLst/>
              <a:cxnLst/>
              <a:rect r="r" b="b" t="t" l="l"/>
              <a:pathLst>
                <a:path h="2809679" w="2960198">
                  <a:moveTo>
                    <a:pt x="0" y="0"/>
                  </a:moveTo>
                  <a:lnTo>
                    <a:pt x="2960198" y="0"/>
                  </a:lnTo>
                  <a:lnTo>
                    <a:pt x="2960198" y="2809679"/>
                  </a:lnTo>
                  <a:lnTo>
                    <a:pt x="0" y="2809679"/>
                  </a:lnTo>
                  <a:close/>
                </a:path>
              </a:pathLst>
            </a:custGeom>
            <a:solidFill>
              <a:srgbClr val="A6A6A6"/>
            </a:solidFill>
            <a:ln w="66675" cap="sq">
              <a:solidFill>
                <a:srgbClr val="000001"/>
              </a:solidFill>
              <a:prstDash val="solid"/>
              <a:miter/>
            </a:ln>
          </p:spPr>
        </p:sp>
        <p:sp>
          <p:nvSpPr>
            <p:cNvPr name="TextBox 5" id="5"/>
            <p:cNvSpPr txBox="true"/>
            <p:nvPr/>
          </p:nvSpPr>
          <p:spPr>
            <a:xfrm>
              <a:off x="0" y="0"/>
              <a:ext cx="2960198" cy="2809679"/>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Freeform 6" id="6"/>
          <p:cNvSpPr/>
          <p:nvPr/>
        </p:nvSpPr>
        <p:spPr>
          <a:xfrm flipH="false" flipV="false" rot="-2931169">
            <a:off x="9545164" y="-2609178"/>
            <a:ext cx="7350465" cy="7542455"/>
          </a:xfrm>
          <a:custGeom>
            <a:avLst/>
            <a:gdLst/>
            <a:ahLst/>
            <a:cxnLst/>
            <a:rect r="r" b="b" t="t" l="l"/>
            <a:pathLst>
              <a:path h="7542455" w="7350465">
                <a:moveTo>
                  <a:pt x="0" y="0"/>
                </a:moveTo>
                <a:lnTo>
                  <a:pt x="7350465" y="0"/>
                </a:lnTo>
                <a:lnTo>
                  <a:pt x="7350465" y="7542456"/>
                </a:lnTo>
                <a:lnTo>
                  <a:pt x="0" y="75424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2966801">
            <a:off x="9515850" y="-2571165"/>
            <a:ext cx="7350465" cy="7542455"/>
          </a:xfrm>
          <a:custGeom>
            <a:avLst/>
            <a:gdLst/>
            <a:ahLst/>
            <a:cxnLst/>
            <a:rect r="r" b="b" t="t" l="l"/>
            <a:pathLst>
              <a:path h="7542455" w="7350465">
                <a:moveTo>
                  <a:pt x="0" y="0"/>
                </a:moveTo>
                <a:lnTo>
                  <a:pt x="7350466" y="0"/>
                </a:lnTo>
                <a:lnTo>
                  <a:pt x="7350466" y="7542455"/>
                </a:lnTo>
                <a:lnTo>
                  <a:pt x="0" y="75424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93554" y="333611"/>
            <a:ext cx="1139946" cy="1390178"/>
          </a:xfrm>
          <a:custGeom>
            <a:avLst/>
            <a:gdLst/>
            <a:ahLst/>
            <a:cxnLst/>
            <a:rect r="r" b="b" t="t" l="l"/>
            <a:pathLst>
              <a:path h="1390178" w="1139946">
                <a:moveTo>
                  <a:pt x="0" y="0"/>
                </a:moveTo>
                <a:lnTo>
                  <a:pt x="1139946" y="0"/>
                </a:lnTo>
                <a:lnTo>
                  <a:pt x="1139946" y="1390178"/>
                </a:lnTo>
                <a:lnTo>
                  <a:pt x="0" y="13901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2095500" y="4762500"/>
            <a:ext cx="8191500" cy="4762500"/>
            <a:chOff x="0" y="0"/>
            <a:chExt cx="2157432" cy="1254321"/>
          </a:xfrm>
        </p:grpSpPr>
        <p:sp>
          <p:nvSpPr>
            <p:cNvPr name="Freeform 10" id="10"/>
            <p:cNvSpPr/>
            <p:nvPr/>
          </p:nvSpPr>
          <p:spPr>
            <a:xfrm flipH="false" flipV="false" rot="0">
              <a:off x="0" y="0"/>
              <a:ext cx="2157432" cy="1254321"/>
            </a:xfrm>
            <a:custGeom>
              <a:avLst/>
              <a:gdLst/>
              <a:ahLst/>
              <a:cxnLst/>
              <a:rect r="r" b="b" t="t" l="l"/>
              <a:pathLst>
                <a:path h="1254321" w="2157432">
                  <a:moveTo>
                    <a:pt x="0" y="0"/>
                  </a:moveTo>
                  <a:lnTo>
                    <a:pt x="2157432" y="0"/>
                  </a:lnTo>
                  <a:lnTo>
                    <a:pt x="2157432" y="1254321"/>
                  </a:lnTo>
                  <a:lnTo>
                    <a:pt x="0" y="1254321"/>
                  </a:lnTo>
                  <a:close/>
                </a:path>
              </a:pathLst>
            </a:custGeom>
            <a:solidFill>
              <a:srgbClr val="000000"/>
            </a:solidFill>
            <a:ln cap="sq">
              <a:noFill/>
              <a:prstDash val="solid"/>
              <a:miter/>
            </a:ln>
          </p:spPr>
        </p:sp>
        <p:sp>
          <p:nvSpPr>
            <p:cNvPr name="TextBox 11" id="11"/>
            <p:cNvSpPr txBox="true"/>
            <p:nvPr/>
          </p:nvSpPr>
          <p:spPr>
            <a:xfrm>
              <a:off x="0" y="38100"/>
              <a:ext cx="2157432" cy="1216221"/>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2" id="12"/>
          <p:cNvGrpSpPr/>
          <p:nvPr/>
        </p:nvGrpSpPr>
        <p:grpSpPr>
          <a:xfrm rot="0">
            <a:off x="1665244" y="5067300"/>
            <a:ext cx="8191500" cy="4762500"/>
            <a:chOff x="0" y="0"/>
            <a:chExt cx="2157432" cy="1254321"/>
          </a:xfrm>
        </p:grpSpPr>
        <p:sp>
          <p:nvSpPr>
            <p:cNvPr name="Freeform 13" id="13"/>
            <p:cNvSpPr/>
            <p:nvPr/>
          </p:nvSpPr>
          <p:spPr>
            <a:xfrm flipH="false" flipV="false" rot="0">
              <a:off x="0" y="0"/>
              <a:ext cx="2157432" cy="1254321"/>
            </a:xfrm>
            <a:custGeom>
              <a:avLst/>
              <a:gdLst/>
              <a:ahLst/>
              <a:cxnLst/>
              <a:rect r="r" b="b" t="t" l="l"/>
              <a:pathLst>
                <a:path h="1254321" w="2157432">
                  <a:moveTo>
                    <a:pt x="0" y="0"/>
                  </a:moveTo>
                  <a:lnTo>
                    <a:pt x="2157432" y="0"/>
                  </a:lnTo>
                  <a:lnTo>
                    <a:pt x="2157432" y="1254321"/>
                  </a:lnTo>
                  <a:lnTo>
                    <a:pt x="0" y="1254321"/>
                  </a:lnTo>
                  <a:close/>
                </a:path>
              </a:pathLst>
            </a:custGeom>
            <a:solidFill>
              <a:srgbClr val="CDE8E8"/>
            </a:solidFill>
            <a:ln w="66675" cap="sq">
              <a:solidFill>
                <a:srgbClr val="000001"/>
              </a:solidFill>
              <a:prstDash val="solid"/>
              <a:miter/>
            </a:ln>
          </p:spPr>
        </p:sp>
        <p:sp>
          <p:nvSpPr>
            <p:cNvPr name="TextBox 14" id="14"/>
            <p:cNvSpPr txBox="true"/>
            <p:nvPr/>
          </p:nvSpPr>
          <p:spPr>
            <a:xfrm>
              <a:off x="0" y="-19050"/>
              <a:ext cx="2157432" cy="1273371"/>
            </a:xfrm>
            <a:prstGeom prst="rect">
              <a:avLst/>
            </a:prstGeom>
          </p:spPr>
          <p:txBody>
            <a:bodyPr anchor="ctr" rtlCol="false" tIns="254000" lIns="254000" bIns="254000" rIns="254000"/>
            <a:lstStyle/>
            <a:p>
              <a:pPr algn="l" marL="0" indent="0" lvl="1">
                <a:lnSpc>
                  <a:spcPts val="3600"/>
                </a:lnSpc>
                <a:spcBef>
                  <a:spcPct val="0"/>
                </a:spcBef>
              </a:pPr>
            </a:p>
          </p:txBody>
        </p:sp>
      </p:grpSp>
      <p:grpSp>
        <p:nvGrpSpPr>
          <p:cNvPr name="Group 15" id="15"/>
          <p:cNvGrpSpPr/>
          <p:nvPr/>
        </p:nvGrpSpPr>
        <p:grpSpPr>
          <a:xfrm rot="0">
            <a:off x="1524000" y="1143000"/>
            <a:ext cx="8191500" cy="3924300"/>
            <a:chOff x="0" y="0"/>
            <a:chExt cx="2157432" cy="1033560"/>
          </a:xfrm>
        </p:grpSpPr>
        <p:sp>
          <p:nvSpPr>
            <p:cNvPr name="Freeform 16" id="16"/>
            <p:cNvSpPr/>
            <p:nvPr/>
          </p:nvSpPr>
          <p:spPr>
            <a:xfrm flipH="false" flipV="false" rot="0">
              <a:off x="0" y="0"/>
              <a:ext cx="2157432" cy="1033560"/>
            </a:xfrm>
            <a:custGeom>
              <a:avLst/>
              <a:gdLst/>
              <a:ahLst/>
              <a:cxnLst/>
              <a:rect r="r" b="b" t="t" l="l"/>
              <a:pathLst>
                <a:path h="1033560" w="2157432">
                  <a:moveTo>
                    <a:pt x="0" y="0"/>
                  </a:moveTo>
                  <a:lnTo>
                    <a:pt x="2157432" y="0"/>
                  </a:lnTo>
                  <a:lnTo>
                    <a:pt x="2157432" y="1033560"/>
                  </a:lnTo>
                  <a:lnTo>
                    <a:pt x="0" y="1033560"/>
                  </a:lnTo>
                  <a:close/>
                </a:path>
              </a:pathLst>
            </a:custGeom>
            <a:solidFill>
              <a:srgbClr val="000001"/>
            </a:solidFill>
            <a:ln cap="sq">
              <a:noFill/>
              <a:prstDash val="solid"/>
              <a:miter/>
            </a:ln>
          </p:spPr>
        </p:sp>
        <p:sp>
          <p:nvSpPr>
            <p:cNvPr name="TextBox 17" id="17"/>
            <p:cNvSpPr txBox="true"/>
            <p:nvPr/>
          </p:nvSpPr>
          <p:spPr>
            <a:xfrm>
              <a:off x="0" y="38100"/>
              <a:ext cx="2157432" cy="995460"/>
            </a:xfrm>
            <a:prstGeom prst="rect">
              <a:avLst/>
            </a:prstGeom>
          </p:spPr>
          <p:txBody>
            <a:bodyPr anchor="ctr" rtlCol="false" tIns="254000" lIns="254000" bIns="254000" rIns="254000"/>
            <a:lstStyle/>
            <a:p>
              <a:pPr algn="ctr" marL="0" indent="0" lvl="0">
                <a:lnSpc>
                  <a:spcPts val="6600"/>
                </a:lnSpc>
              </a:pPr>
            </a:p>
          </p:txBody>
        </p:sp>
      </p:grpSp>
      <p:grpSp>
        <p:nvGrpSpPr>
          <p:cNvPr name="Group 18" id="18"/>
          <p:cNvGrpSpPr/>
          <p:nvPr/>
        </p:nvGrpSpPr>
        <p:grpSpPr>
          <a:xfrm rot="0">
            <a:off x="1333500" y="2590800"/>
            <a:ext cx="8191500" cy="3137687"/>
            <a:chOff x="0" y="0"/>
            <a:chExt cx="2157432" cy="826387"/>
          </a:xfrm>
        </p:grpSpPr>
        <p:sp>
          <p:nvSpPr>
            <p:cNvPr name="Freeform 19" id="19"/>
            <p:cNvSpPr/>
            <p:nvPr/>
          </p:nvSpPr>
          <p:spPr>
            <a:xfrm flipH="false" flipV="false" rot="0">
              <a:off x="0" y="0"/>
              <a:ext cx="2157432" cy="826387"/>
            </a:xfrm>
            <a:custGeom>
              <a:avLst/>
              <a:gdLst/>
              <a:ahLst/>
              <a:cxnLst/>
              <a:rect r="r" b="b" t="t" l="l"/>
              <a:pathLst>
                <a:path h="826387" w="2157432">
                  <a:moveTo>
                    <a:pt x="0" y="0"/>
                  </a:moveTo>
                  <a:lnTo>
                    <a:pt x="2157432" y="0"/>
                  </a:lnTo>
                  <a:lnTo>
                    <a:pt x="2157432" y="826387"/>
                  </a:lnTo>
                  <a:lnTo>
                    <a:pt x="0" y="826387"/>
                  </a:lnTo>
                  <a:close/>
                </a:path>
              </a:pathLst>
            </a:custGeom>
            <a:solidFill>
              <a:srgbClr val="FFFFFF"/>
            </a:solidFill>
            <a:ln w="66675" cap="sq">
              <a:solidFill>
                <a:srgbClr val="000001"/>
              </a:solidFill>
              <a:prstDash val="solid"/>
              <a:miter/>
            </a:ln>
          </p:spPr>
        </p:sp>
        <p:sp>
          <p:nvSpPr>
            <p:cNvPr name="TextBox 20" id="20"/>
            <p:cNvSpPr txBox="true"/>
            <p:nvPr/>
          </p:nvSpPr>
          <p:spPr>
            <a:xfrm>
              <a:off x="0" y="-9525"/>
              <a:ext cx="2157432" cy="835912"/>
            </a:xfrm>
            <a:prstGeom prst="rect">
              <a:avLst/>
            </a:prstGeom>
          </p:spPr>
          <p:txBody>
            <a:bodyPr anchor="t" rtlCol="false" tIns="254000" lIns="254000" bIns="254000" rIns="254000"/>
            <a:lstStyle/>
            <a:p>
              <a:pPr algn="l" marL="0" indent="0" lvl="0">
                <a:lnSpc>
                  <a:spcPts val="3959"/>
                </a:lnSpc>
                <a:spcBef>
                  <a:spcPct val="0"/>
                </a:spcBef>
              </a:pPr>
              <a:r>
                <a:rPr lang="en-US" sz="3299" spc="-16">
                  <a:solidFill>
                    <a:srgbClr val="000001"/>
                  </a:solidFill>
                  <a:latin typeface="Barlow SemiCondensed"/>
                  <a:ea typeface="Barlow SemiCondensed"/>
                  <a:cs typeface="Barlow SemiCondensed"/>
                  <a:sym typeface="Barlow SemiCondensed"/>
                </a:rPr>
                <a:t>Hugo De Vries is often regarded as the ‘Father of mutation’ It is true that the mutations are nature’s handwriting in the book of evolution; however question is what exactly is gene code and what are mutations?</a:t>
              </a:r>
            </a:p>
          </p:txBody>
        </p:sp>
      </p:grpSp>
      <p:grpSp>
        <p:nvGrpSpPr>
          <p:cNvPr name="Group 21" id="21"/>
          <p:cNvGrpSpPr/>
          <p:nvPr/>
        </p:nvGrpSpPr>
        <p:grpSpPr>
          <a:xfrm rot="0">
            <a:off x="1333500" y="952500"/>
            <a:ext cx="8191500" cy="1638300"/>
            <a:chOff x="0" y="0"/>
            <a:chExt cx="2157432" cy="431486"/>
          </a:xfrm>
        </p:grpSpPr>
        <p:sp>
          <p:nvSpPr>
            <p:cNvPr name="Freeform 22" id="22"/>
            <p:cNvSpPr/>
            <p:nvPr/>
          </p:nvSpPr>
          <p:spPr>
            <a:xfrm flipH="false" flipV="false" rot="0">
              <a:off x="0" y="0"/>
              <a:ext cx="2157432" cy="431486"/>
            </a:xfrm>
            <a:custGeom>
              <a:avLst/>
              <a:gdLst/>
              <a:ahLst/>
              <a:cxnLst/>
              <a:rect r="r" b="b" t="t" l="l"/>
              <a:pathLst>
                <a:path h="431486" w="2157432">
                  <a:moveTo>
                    <a:pt x="0" y="0"/>
                  </a:moveTo>
                  <a:lnTo>
                    <a:pt x="2157432" y="0"/>
                  </a:lnTo>
                  <a:lnTo>
                    <a:pt x="2157432" y="431486"/>
                  </a:lnTo>
                  <a:lnTo>
                    <a:pt x="0" y="431486"/>
                  </a:lnTo>
                  <a:close/>
                </a:path>
              </a:pathLst>
            </a:custGeom>
            <a:solidFill>
              <a:srgbClr val="E5A6F4"/>
            </a:solidFill>
            <a:ln w="66675" cap="sq">
              <a:solidFill>
                <a:srgbClr val="000001"/>
              </a:solidFill>
              <a:prstDash val="solid"/>
              <a:miter/>
            </a:ln>
          </p:spPr>
        </p:sp>
        <p:sp>
          <p:nvSpPr>
            <p:cNvPr name="TextBox 23" id="23"/>
            <p:cNvSpPr txBox="true"/>
            <p:nvPr/>
          </p:nvSpPr>
          <p:spPr>
            <a:xfrm>
              <a:off x="0" y="47625"/>
              <a:ext cx="2157432" cy="383861"/>
            </a:xfrm>
            <a:prstGeom prst="rect">
              <a:avLst/>
            </a:prstGeom>
          </p:spPr>
          <p:txBody>
            <a:bodyPr anchor="t" rtlCol="false" tIns="254000" lIns="254000" bIns="254000" rIns="254000"/>
            <a:lstStyle/>
            <a:p>
              <a:pPr algn="ctr" marL="0" indent="0" lvl="0">
                <a:lnSpc>
                  <a:spcPts val="6270"/>
                </a:lnSpc>
                <a:spcBef>
                  <a:spcPct val="0"/>
                </a:spcBef>
              </a:pPr>
              <a:r>
                <a:rPr lang="en-US" b="true" sz="5700">
                  <a:solidFill>
                    <a:srgbClr val="000001"/>
                  </a:solidFill>
                  <a:latin typeface="Barlow SemiCondensed Bold"/>
                  <a:ea typeface="Barlow SemiCondensed Bold"/>
                  <a:cs typeface="Barlow SemiCondensed Bold"/>
                  <a:sym typeface="Barlow SemiCondensed Bold"/>
                </a:rPr>
                <a:t>INTRODUCING MUTATIONS</a:t>
              </a:r>
            </a:p>
          </p:txBody>
        </p:sp>
      </p:grpSp>
      <p:grpSp>
        <p:nvGrpSpPr>
          <p:cNvPr name="Group 24" id="24"/>
          <p:cNvGrpSpPr/>
          <p:nvPr/>
        </p:nvGrpSpPr>
        <p:grpSpPr>
          <a:xfrm rot="0">
            <a:off x="1188244" y="800100"/>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9334500" y="800100"/>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1188244" y="2419350"/>
            <a:ext cx="361950" cy="36195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2" id="3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TextBox 33" id="33"/>
          <p:cNvSpPr txBox="true"/>
          <p:nvPr/>
        </p:nvSpPr>
        <p:spPr>
          <a:xfrm rot="0">
            <a:off x="2095500" y="6029712"/>
            <a:ext cx="8191500" cy="3695597"/>
          </a:xfrm>
          <a:prstGeom prst="rect">
            <a:avLst/>
          </a:prstGeom>
        </p:spPr>
        <p:txBody>
          <a:bodyPr anchor="t" rtlCol="false" tIns="0" lIns="0" bIns="0" rIns="0">
            <a:spAutoFit/>
          </a:bodyPr>
          <a:lstStyle/>
          <a:p>
            <a:pPr algn="l">
              <a:lnSpc>
                <a:spcPts val="3240"/>
              </a:lnSpc>
            </a:pPr>
            <a:r>
              <a:rPr lang="en-US" sz="2700" spc="-13">
                <a:solidFill>
                  <a:srgbClr val="000001"/>
                </a:solidFill>
                <a:latin typeface="Barlow SemiCondensed"/>
                <a:ea typeface="Barlow SemiCondensed"/>
                <a:cs typeface="Barlow SemiCondensed"/>
                <a:sym typeface="Barlow SemiCondensed"/>
              </a:rPr>
              <a:t>In simple words genetic code is the set of rules used to translate the sequence of DNA and RNA into proteins. A mutation refers to the change in the particular sequence caused by deletion or addition of nucleoids. Interestingly these mutations can either be spontaneous or evolutionary. While some mutations cause devastating disorders, others are the very engine of evolution, generating the diversity and complexity essential for life's innovation.</a:t>
            </a:r>
          </a:p>
          <a:p>
            <a:pPr algn="l">
              <a:lnSpc>
                <a:spcPts val="3240"/>
              </a:lnSpc>
            </a:pPr>
            <a:r>
              <a:rPr lang="en-US" sz="2700" spc="-13">
                <a:solidFill>
                  <a:srgbClr val="000001"/>
                </a:solidFill>
                <a:latin typeface="Barlow SemiCondensed"/>
                <a:ea typeface="Barlow SemiCondensed"/>
                <a:cs typeface="Barlow SemiCondensed"/>
                <a:sym typeface="Barlow SemiCondensed"/>
              </a:rPr>
              <a:t> </a:t>
            </a:r>
          </a:p>
        </p:txBody>
      </p:sp>
      <p:grpSp>
        <p:nvGrpSpPr>
          <p:cNvPr name="Group 34" id="34"/>
          <p:cNvGrpSpPr/>
          <p:nvPr/>
        </p:nvGrpSpPr>
        <p:grpSpPr>
          <a:xfrm rot="0">
            <a:off x="9334500" y="2419350"/>
            <a:ext cx="361950" cy="36195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6" id="3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Freeform 37" id="37"/>
          <p:cNvSpPr/>
          <p:nvPr/>
        </p:nvSpPr>
        <p:spPr>
          <a:xfrm flipH="false" flipV="false" rot="0">
            <a:off x="9082539" y="8951345"/>
            <a:ext cx="613911" cy="613911"/>
          </a:xfrm>
          <a:custGeom>
            <a:avLst/>
            <a:gdLst/>
            <a:ahLst/>
            <a:cxnLst/>
            <a:rect r="r" b="b" t="t" l="l"/>
            <a:pathLst>
              <a:path h="613911" w="613911">
                <a:moveTo>
                  <a:pt x="0" y="0"/>
                </a:moveTo>
                <a:lnTo>
                  <a:pt x="613911" y="0"/>
                </a:lnTo>
                <a:lnTo>
                  <a:pt x="613911" y="613910"/>
                </a:lnTo>
                <a:lnTo>
                  <a:pt x="0" y="613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38" id="38"/>
          <p:cNvSpPr/>
          <p:nvPr/>
        </p:nvSpPr>
        <p:spPr>
          <a:xfrm flipH="false" flipV="false" rot="0">
            <a:off x="1188244" y="5429871"/>
            <a:ext cx="954000" cy="1218731"/>
          </a:xfrm>
          <a:custGeom>
            <a:avLst/>
            <a:gdLst/>
            <a:ahLst/>
            <a:cxnLst/>
            <a:rect r="r" b="b" t="t" l="l"/>
            <a:pathLst>
              <a:path h="1218731" w="954000">
                <a:moveTo>
                  <a:pt x="0" y="0"/>
                </a:moveTo>
                <a:lnTo>
                  <a:pt x="954000" y="0"/>
                </a:lnTo>
                <a:lnTo>
                  <a:pt x="954000" y="1218732"/>
                </a:lnTo>
                <a:lnTo>
                  <a:pt x="0" y="1218732"/>
                </a:lnTo>
                <a:lnTo>
                  <a:pt x="0" y="0"/>
                </a:lnTo>
                <a:close/>
              </a:path>
            </a:pathLst>
          </a:custGeom>
          <a:blipFill>
            <a:blip r:embed="rId12">
              <a:extLst>
                <a:ext uri="{96DAC541-7B7A-43D3-8B79-37D633B846F1}">
                  <asvg:svgBlip xmlns:asvg="http://schemas.microsoft.com/office/drawing/2016/SVG/main" r:embed="rId13"/>
                </a:ext>
              </a:extLst>
            </a:blip>
            <a:stretch>
              <a:fillRect l="0" t="-64545" r="-110205" b="0"/>
            </a:stretch>
          </a:blipFill>
          <a:ln cap="sq">
            <a:noFill/>
            <a:prstDash val="solid"/>
            <a:miter/>
          </a:ln>
        </p:spPr>
      </p:sp>
      <p:sp>
        <p:nvSpPr>
          <p:cNvPr name="Freeform 39" id="39"/>
          <p:cNvSpPr/>
          <p:nvPr/>
        </p:nvSpPr>
        <p:spPr>
          <a:xfrm flipH="false" flipV="false" rot="-5400000">
            <a:off x="9048874" y="2833075"/>
            <a:ext cx="408103" cy="544149"/>
          </a:xfrm>
          <a:custGeom>
            <a:avLst/>
            <a:gdLst/>
            <a:ahLst/>
            <a:cxnLst/>
            <a:rect r="r" b="b" t="t" l="l"/>
            <a:pathLst>
              <a:path h="544149" w="408103">
                <a:moveTo>
                  <a:pt x="0" y="0"/>
                </a:moveTo>
                <a:lnTo>
                  <a:pt x="408103" y="0"/>
                </a:lnTo>
                <a:lnTo>
                  <a:pt x="408103" y="544150"/>
                </a:lnTo>
                <a:lnTo>
                  <a:pt x="0" y="544150"/>
                </a:lnTo>
                <a:lnTo>
                  <a:pt x="0" y="0"/>
                </a:lnTo>
                <a:close/>
              </a:path>
            </a:pathLst>
          </a:custGeom>
          <a:blipFill>
            <a:blip r:embed="rId14">
              <a:extLst>
                <a:ext uri="{96DAC541-7B7A-43D3-8B79-37D633B846F1}">
                  <asvg:svgBlip xmlns:asvg="http://schemas.microsoft.com/office/drawing/2016/SVG/main" r:embed="rId15"/>
                </a:ext>
              </a:extLst>
            </a:blip>
            <a:stretch>
              <a:fillRect l="-307791" t="-51874" r="0" b="-153962"/>
            </a:stretch>
          </a:blipFill>
          <a:ln cap="sq">
            <a:noFill/>
            <a:prstDash val="solid"/>
            <a:miter/>
          </a:ln>
        </p:spPr>
      </p:sp>
      <p:sp>
        <p:nvSpPr>
          <p:cNvPr name="Freeform 40" id="40"/>
          <p:cNvSpPr/>
          <p:nvPr/>
        </p:nvSpPr>
        <p:spPr>
          <a:xfrm flipH="false" flipV="false" rot="0">
            <a:off x="10096500" y="2228612"/>
            <a:ext cx="8191500" cy="8058388"/>
          </a:xfrm>
          <a:custGeom>
            <a:avLst/>
            <a:gdLst/>
            <a:ahLst/>
            <a:cxnLst/>
            <a:rect r="r" b="b" t="t" l="l"/>
            <a:pathLst>
              <a:path h="8058388" w="8191500">
                <a:moveTo>
                  <a:pt x="0" y="0"/>
                </a:moveTo>
                <a:lnTo>
                  <a:pt x="8191500" y="0"/>
                </a:lnTo>
                <a:lnTo>
                  <a:pt x="8191500" y="8058388"/>
                </a:lnTo>
                <a:lnTo>
                  <a:pt x="0" y="8058388"/>
                </a:lnTo>
                <a:lnTo>
                  <a:pt x="0" y="0"/>
                </a:lnTo>
                <a:close/>
              </a:path>
            </a:pathLst>
          </a:custGeom>
          <a:blipFill>
            <a:blip r:embed="rId16"/>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grpSp>
        <p:nvGrpSpPr>
          <p:cNvPr name="Group 3" id="3"/>
          <p:cNvGrpSpPr/>
          <p:nvPr/>
        </p:nvGrpSpPr>
        <p:grpSpPr>
          <a:xfrm rot="0">
            <a:off x="1524000" y="1143000"/>
            <a:ext cx="15621000" cy="2876550"/>
            <a:chOff x="0" y="0"/>
            <a:chExt cx="4114173" cy="757610"/>
          </a:xfrm>
        </p:grpSpPr>
        <p:sp>
          <p:nvSpPr>
            <p:cNvPr name="Freeform 4" id="4"/>
            <p:cNvSpPr/>
            <p:nvPr/>
          </p:nvSpPr>
          <p:spPr>
            <a:xfrm flipH="false" flipV="false" rot="0">
              <a:off x="0" y="0"/>
              <a:ext cx="4114173" cy="757610"/>
            </a:xfrm>
            <a:custGeom>
              <a:avLst/>
              <a:gdLst/>
              <a:ahLst/>
              <a:cxnLst/>
              <a:rect r="r" b="b" t="t" l="l"/>
              <a:pathLst>
                <a:path h="757610" w="4114173">
                  <a:moveTo>
                    <a:pt x="0" y="0"/>
                  </a:moveTo>
                  <a:lnTo>
                    <a:pt x="4114173" y="0"/>
                  </a:lnTo>
                  <a:lnTo>
                    <a:pt x="4114173" y="757610"/>
                  </a:lnTo>
                  <a:lnTo>
                    <a:pt x="0" y="757610"/>
                  </a:lnTo>
                  <a:close/>
                </a:path>
              </a:pathLst>
            </a:custGeom>
            <a:solidFill>
              <a:srgbClr val="000001"/>
            </a:solidFill>
            <a:ln cap="sq">
              <a:noFill/>
              <a:prstDash val="solid"/>
              <a:miter/>
            </a:ln>
          </p:spPr>
        </p:sp>
        <p:sp>
          <p:nvSpPr>
            <p:cNvPr name="TextBox 5" id="5"/>
            <p:cNvSpPr txBox="true"/>
            <p:nvPr/>
          </p:nvSpPr>
          <p:spPr>
            <a:xfrm>
              <a:off x="0" y="38100"/>
              <a:ext cx="4114173" cy="719510"/>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6" id="6"/>
          <p:cNvGrpSpPr/>
          <p:nvPr/>
        </p:nvGrpSpPr>
        <p:grpSpPr>
          <a:xfrm rot="0">
            <a:off x="1524000" y="4572000"/>
            <a:ext cx="15574566" cy="5573480"/>
            <a:chOff x="0" y="0"/>
            <a:chExt cx="4101943" cy="1467912"/>
          </a:xfrm>
        </p:grpSpPr>
        <p:sp>
          <p:nvSpPr>
            <p:cNvPr name="Freeform 7" id="7"/>
            <p:cNvSpPr/>
            <p:nvPr/>
          </p:nvSpPr>
          <p:spPr>
            <a:xfrm flipH="false" flipV="false" rot="0">
              <a:off x="0" y="0"/>
              <a:ext cx="4101943" cy="1467912"/>
            </a:xfrm>
            <a:custGeom>
              <a:avLst/>
              <a:gdLst/>
              <a:ahLst/>
              <a:cxnLst/>
              <a:rect r="r" b="b" t="t" l="l"/>
              <a:pathLst>
                <a:path h="1467912" w="4101943">
                  <a:moveTo>
                    <a:pt x="0" y="0"/>
                  </a:moveTo>
                  <a:lnTo>
                    <a:pt x="4101943" y="0"/>
                  </a:lnTo>
                  <a:lnTo>
                    <a:pt x="4101943" y="1467912"/>
                  </a:lnTo>
                  <a:lnTo>
                    <a:pt x="0" y="1467912"/>
                  </a:lnTo>
                  <a:close/>
                </a:path>
              </a:pathLst>
            </a:custGeom>
            <a:solidFill>
              <a:srgbClr val="000001"/>
            </a:solidFill>
            <a:ln cap="sq">
              <a:noFill/>
              <a:prstDash val="solid"/>
              <a:miter/>
            </a:ln>
          </p:spPr>
        </p:sp>
        <p:sp>
          <p:nvSpPr>
            <p:cNvPr name="TextBox 8" id="8"/>
            <p:cNvSpPr txBox="true"/>
            <p:nvPr/>
          </p:nvSpPr>
          <p:spPr>
            <a:xfrm>
              <a:off x="0" y="38100"/>
              <a:ext cx="4101943" cy="1429812"/>
            </a:xfrm>
            <a:prstGeom prst="rect">
              <a:avLst/>
            </a:prstGeom>
          </p:spPr>
          <p:txBody>
            <a:bodyPr anchor="ctr" rtlCol="false" tIns="254000" lIns="254000" bIns="254000" rIns="254000"/>
            <a:lstStyle/>
            <a:p>
              <a:pPr algn="ctr" marL="0" indent="0" lvl="0">
                <a:lnSpc>
                  <a:spcPts val="6600"/>
                </a:lnSpc>
                <a:spcBef>
                  <a:spcPct val="0"/>
                </a:spcBef>
              </a:pPr>
            </a:p>
          </p:txBody>
        </p:sp>
      </p:grpSp>
      <p:graphicFrame>
        <p:nvGraphicFramePr>
          <p:cNvPr name="Table 9" id="9"/>
          <p:cNvGraphicFramePr>
            <a:graphicFrameLocks noGrp="true"/>
          </p:cNvGraphicFramePr>
          <p:nvPr/>
        </p:nvGraphicFramePr>
        <p:xfrm>
          <a:off x="1333500" y="4381500"/>
          <a:ext cx="15621000" cy="5671555"/>
        </p:xfrm>
        <a:graphic>
          <a:graphicData uri="http://schemas.openxmlformats.org/drawingml/2006/table">
            <a:tbl>
              <a:tblPr/>
              <a:tblGrid>
                <a:gridCol w="3905250"/>
                <a:gridCol w="3905250"/>
                <a:gridCol w="3905250"/>
                <a:gridCol w="3905250"/>
              </a:tblGrid>
              <a:tr h="3425829">
                <a:tc>
                  <a:txBody>
                    <a:bodyPr anchor="t" rtlCol="false"/>
                    <a:lstStyle/>
                    <a:p>
                      <a:pPr algn="ctr">
                        <a:lnSpc>
                          <a:spcPts val="2520"/>
                        </a:lnSpc>
                        <a:defRPr/>
                      </a:pP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707070"/>
                    </a:solidFill>
                  </a:tcPr>
                </a:tc>
                <a:tc>
                  <a:txBody>
                    <a:bodyPr anchor="t" rtlCol="false"/>
                    <a:lstStyle/>
                    <a:p>
                      <a:pPr algn="ctr">
                        <a:lnSpc>
                          <a:spcPts val="2520"/>
                        </a:lnSpc>
                        <a:defRPr/>
                      </a:pP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707070"/>
                    </a:solidFill>
                  </a:tcPr>
                </a:tc>
                <a:tc>
                  <a:txBody>
                    <a:bodyPr anchor="t" rtlCol="false"/>
                    <a:lstStyle/>
                    <a:p>
                      <a:pPr algn="ctr">
                        <a:lnSpc>
                          <a:spcPts val="2520"/>
                        </a:lnSpc>
                        <a:defRPr/>
                      </a:pP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707070"/>
                    </a:solidFill>
                  </a:tcPr>
                </a:tc>
                <a:tc>
                  <a:txBody>
                    <a:bodyPr anchor="t" rtlCol="false"/>
                    <a:lstStyle/>
                    <a:p>
                      <a:pPr algn="ctr">
                        <a:lnSpc>
                          <a:spcPts val="2520"/>
                        </a:lnSpc>
                        <a:defRPr/>
                      </a:pP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707070"/>
                    </a:solidFill>
                  </a:tcPr>
                </a:tc>
              </a:tr>
              <a:tr h="2245726">
                <a:tc>
                  <a:txBody>
                    <a:bodyPr anchor="t" rtlCol="false"/>
                    <a:lstStyle/>
                    <a:p>
                      <a:pPr algn="ctr">
                        <a:lnSpc>
                          <a:spcPts val="2879"/>
                        </a:lnSpc>
                        <a:defRPr/>
                      </a:pPr>
                      <a:r>
                        <a:rPr lang="en-US" sz="2399" spc="-11">
                          <a:solidFill>
                            <a:srgbClr val="000001"/>
                          </a:solidFill>
                          <a:latin typeface="Barlow SemiCondensed"/>
                          <a:ea typeface="Barlow SemiCondensed"/>
                          <a:cs typeface="Barlow SemiCondensed"/>
                          <a:sym typeface="Barlow SemiCondensed"/>
                        </a:rPr>
                        <a:t>X-rays, gamma rays, and UV light damage DNA by breaking strands or altering bases.</a:t>
                      </a: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EBEBEB"/>
                    </a:solidFill>
                  </a:tcPr>
                </a:tc>
                <a:tc>
                  <a:txBody>
                    <a:bodyPr anchor="t" rtlCol="false"/>
                    <a:lstStyle/>
                    <a:p>
                      <a:pPr algn="ctr">
                        <a:lnSpc>
                          <a:spcPts val="2879"/>
                        </a:lnSpc>
                        <a:defRPr/>
                      </a:pPr>
                      <a:r>
                        <a:rPr lang="en-US" sz="2399" spc="-11">
                          <a:solidFill>
                            <a:srgbClr val="000001"/>
                          </a:solidFill>
                          <a:latin typeface="Barlow SemiCondensed"/>
                          <a:ea typeface="Barlow SemiCondensed"/>
                          <a:cs typeface="Barlow SemiCondensed"/>
                          <a:sym typeface="Barlow SemiCondensed"/>
                        </a:rPr>
                        <a:t>Mustard gas, nitrous acid, and alkylating agents modify DNA bases, causing incorrect pairing.</a:t>
                      </a: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EBEBEB"/>
                    </a:solidFill>
                  </a:tcPr>
                </a:tc>
                <a:tc>
                  <a:txBody>
                    <a:bodyPr anchor="t" rtlCol="false"/>
                    <a:lstStyle/>
                    <a:p>
                      <a:pPr algn="ctr">
                        <a:lnSpc>
                          <a:spcPts val="2879"/>
                        </a:lnSpc>
                        <a:defRPr/>
                      </a:pPr>
                      <a:r>
                        <a:rPr lang="en-US" sz="2399" spc="-11">
                          <a:solidFill>
                            <a:srgbClr val="000001"/>
                          </a:solidFill>
                          <a:latin typeface="Barlow SemiCondensed"/>
                          <a:ea typeface="Barlow SemiCondensed"/>
                          <a:cs typeface="Barlow SemiCondensed"/>
                          <a:sym typeface="Barlow SemiCondensed"/>
                        </a:rPr>
                        <a:t>Viruses, bacteria, and transposons disrupt DNA by inserting their genetic material or causing internal DNA damage.</a:t>
                      </a: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EBEBEB"/>
                    </a:solidFill>
                  </a:tcPr>
                </a:tc>
                <a:tc>
                  <a:txBody>
                    <a:bodyPr anchor="t" rtlCol="false"/>
                    <a:lstStyle/>
                    <a:p>
                      <a:pPr algn="ctr">
                        <a:lnSpc>
                          <a:spcPts val="2879"/>
                        </a:lnSpc>
                        <a:defRPr/>
                      </a:pPr>
                      <a:r>
                        <a:rPr lang="en-US" sz="2399" spc="-11">
                          <a:solidFill>
                            <a:srgbClr val="000001"/>
                          </a:solidFill>
                          <a:latin typeface="Barlow SemiCondensed"/>
                          <a:ea typeface="Barlow SemiCondensed"/>
                          <a:cs typeface="Barlow SemiCondensed"/>
                          <a:sym typeface="Barlow SemiCondensed"/>
                        </a:rPr>
                        <a:t>Pollution, smoke, pesticides, and heavy metals increase long-term DNA stress, leading to mutations.</a:t>
                      </a:r>
                      <a:endParaRPr lang="en-US" sz="1100"/>
                    </a:p>
                  </a:txBody>
                  <a:tcPr marL="114300" marR="114300" marT="114300" marB="114300" anchor="ctr">
                    <a:lnL cmpd="sng" algn="ctr" cap="flat" w="66675">
                      <a:solidFill>
                        <a:srgbClr val="000001"/>
                      </a:solidFill>
                      <a:prstDash val="solid"/>
                      <a:round/>
                      <a:headEnd type="none" w="med" len="med"/>
                      <a:tailEnd type="none" w="med" len="med"/>
                    </a:lnL>
                    <a:lnR cmpd="sng" algn="ctr" cap="flat" w="66675">
                      <a:solidFill>
                        <a:srgbClr val="000001"/>
                      </a:solidFill>
                      <a:prstDash val="solid"/>
                      <a:round/>
                      <a:headEnd type="none" w="med" len="med"/>
                      <a:tailEnd type="none" w="med" len="med"/>
                    </a:lnR>
                    <a:lnT cmpd="sng" algn="ctr" cap="flat" w="66675">
                      <a:solidFill>
                        <a:srgbClr val="000001"/>
                      </a:solidFill>
                      <a:prstDash val="solid"/>
                      <a:round/>
                      <a:headEnd type="none" w="med" len="med"/>
                      <a:tailEnd type="none" w="med" len="med"/>
                    </a:lnT>
                    <a:lnB cmpd="sng" algn="ctr" cap="flat" w="66675">
                      <a:solidFill>
                        <a:srgbClr val="000001"/>
                      </a:solidFill>
                      <a:prstDash val="solid"/>
                      <a:round/>
                      <a:headEnd type="none" w="med" len="med"/>
                      <a:tailEnd type="none" w="med" len="med"/>
                    </a:lnB>
                    <a:solidFill>
                      <a:srgbClr val="EBEBEB"/>
                    </a:solidFill>
                  </a:tcPr>
                </a:tc>
              </a:tr>
            </a:tbl>
          </a:graphicData>
        </a:graphic>
      </p:graphicFrame>
      <p:grpSp>
        <p:nvGrpSpPr>
          <p:cNvPr name="Group 10" id="10"/>
          <p:cNvGrpSpPr/>
          <p:nvPr/>
        </p:nvGrpSpPr>
        <p:grpSpPr>
          <a:xfrm rot="0">
            <a:off x="1333500" y="952500"/>
            <a:ext cx="15621000" cy="1409700"/>
            <a:chOff x="0" y="0"/>
            <a:chExt cx="4114173" cy="371279"/>
          </a:xfrm>
        </p:grpSpPr>
        <p:sp>
          <p:nvSpPr>
            <p:cNvPr name="Freeform 11" id="11"/>
            <p:cNvSpPr/>
            <p:nvPr/>
          </p:nvSpPr>
          <p:spPr>
            <a:xfrm flipH="false" flipV="false" rot="0">
              <a:off x="0" y="0"/>
              <a:ext cx="4114173" cy="371279"/>
            </a:xfrm>
            <a:custGeom>
              <a:avLst/>
              <a:gdLst/>
              <a:ahLst/>
              <a:cxnLst/>
              <a:rect r="r" b="b" t="t" l="l"/>
              <a:pathLst>
                <a:path h="371279" w="4114173">
                  <a:moveTo>
                    <a:pt x="0" y="0"/>
                  </a:moveTo>
                  <a:lnTo>
                    <a:pt x="4114173" y="0"/>
                  </a:lnTo>
                  <a:lnTo>
                    <a:pt x="4114173" y="371279"/>
                  </a:lnTo>
                  <a:lnTo>
                    <a:pt x="0" y="371279"/>
                  </a:lnTo>
                  <a:close/>
                </a:path>
              </a:pathLst>
            </a:custGeom>
            <a:solidFill>
              <a:srgbClr val="ECEB76"/>
            </a:solidFill>
            <a:ln w="66675" cap="sq">
              <a:solidFill>
                <a:srgbClr val="000001"/>
              </a:solidFill>
              <a:prstDash val="solid"/>
              <a:miter/>
            </a:ln>
          </p:spPr>
        </p:sp>
        <p:sp>
          <p:nvSpPr>
            <p:cNvPr name="TextBox 12" id="12"/>
            <p:cNvSpPr txBox="true"/>
            <p:nvPr/>
          </p:nvSpPr>
          <p:spPr>
            <a:xfrm>
              <a:off x="0" y="47625"/>
              <a:ext cx="4114173" cy="323654"/>
            </a:xfrm>
            <a:prstGeom prst="rect">
              <a:avLst/>
            </a:prstGeom>
          </p:spPr>
          <p:txBody>
            <a:bodyPr anchor="ctr" rtlCol="false" tIns="0" lIns="0" bIns="0" rIns="0"/>
            <a:lstStyle/>
            <a:p>
              <a:pPr algn="ctr" marL="0" indent="0" lvl="0">
                <a:lnSpc>
                  <a:spcPts val="5610"/>
                </a:lnSpc>
              </a:pPr>
              <a:r>
                <a:rPr lang="en-US" b="true" sz="5100">
                  <a:solidFill>
                    <a:srgbClr val="000001"/>
                  </a:solidFill>
                  <a:latin typeface="Barlow SemiCondensed Bold"/>
                  <a:ea typeface="Barlow SemiCondensed Bold"/>
                  <a:cs typeface="Barlow SemiCondensed Bold"/>
                  <a:sym typeface="Barlow SemiCondensed Bold"/>
                </a:rPr>
                <a:t>ZOOMING FURTHER INTO FACTORS AFFECTING MUTATIONS</a:t>
              </a:r>
            </a:p>
          </p:txBody>
        </p:sp>
      </p:grpSp>
      <p:grpSp>
        <p:nvGrpSpPr>
          <p:cNvPr name="Group 13" id="13"/>
          <p:cNvGrpSpPr/>
          <p:nvPr/>
        </p:nvGrpSpPr>
        <p:grpSpPr>
          <a:xfrm rot="0">
            <a:off x="1333500" y="2305050"/>
            <a:ext cx="15621000" cy="1524000"/>
            <a:chOff x="0" y="0"/>
            <a:chExt cx="4114173" cy="401383"/>
          </a:xfrm>
        </p:grpSpPr>
        <p:sp>
          <p:nvSpPr>
            <p:cNvPr name="Freeform 14" id="14"/>
            <p:cNvSpPr/>
            <p:nvPr/>
          </p:nvSpPr>
          <p:spPr>
            <a:xfrm flipH="false" flipV="false" rot="0">
              <a:off x="0" y="0"/>
              <a:ext cx="4114173" cy="401383"/>
            </a:xfrm>
            <a:custGeom>
              <a:avLst/>
              <a:gdLst/>
              <a:ahLst/>
              <a:cxnLst/>
              <a:rect r="r" b="b" t="t" l="l"/>
              <a:pathLst>
                <a:path h="401383" w="4114173">
                  <a:moveTo>
                    <a:pt x="0" y="0"/>
                  </a:moveTo>
                  <a:lnTo>
                    <a:pt x="4114173" y="0"/>
                  </a:lnTo>
                  <a:lnTo>
                    <a:pt x="4114173" y="401383"/>
                  </a:lnTo>
                  <a:lnTo>
                    <a:pt x="0" y="401383"/>
                  </a:lnTo>
                  <a:close/>
                </a:path>
              </a:pathLst>
            </a:custGeom>
            <a:solidFill>
              <a:srgbClr val="FFFFFF"/>
            </a:solidFill>
            <a:ln w="66675" cap="sq">
              <a:solidFill>
                <a:srgbClr val="000001"/>
              </a:solidFill>
              <a:prstDash val="solid"/>
              <a:miter/>
            </a:ln>
          </p:spPr>
        </p:sp>
        <p:sp>
          <p:nvSpPr>
            <p:cNvPr name="TextBox 15" id="15"/>
            <p:cNvSpPr txBox="true"/>
            <p:nvPr/>
          </p:nvSpPr>
          <p:spPr>
            <a:xfrm>
              <a:off x="0" y="-161925"/>
              <a:ext cx="4114173" cy="563308"/>
            </a:xfrm>
            <a:prstGeom prst="rect">
              <a:avLst/>
            </a:prstGeom>
          </p:spPr>
          <p:txBody>
            <a:bodyPr anchor="ctr" rtlCol="false" tIns="0" lIns="0" bIns="0" rIns="0"/>
            <a:lstStyle/>
            <a:p>
              <a:pPr algn="ctr" marL="0" indent="0" lvl="0">
                <a:lnSpc>
                  <a:spcPts val="5100"/>
                </a:lnSpc>
              </a:pPr>
              <a:r>
                <a:rPr lang="en-US" sz="3000" spc="-15">
                  <a:solidFill>
                    <a:srgbClr val="000001"/>
                  </a:solidFill>
                  <a:latin typeface="Barlow SemiCondensed"/>
                  <a:ea typeface="Barlow SemiCondensed"/>
                  <a:cs typeface="Barlow SemiCondensed"/>
                  <a:sym typeface="Barlow SemiCondensed"/>
                </a:rPr>
                <a:t>Due to physical, biological, chemical, and environmental factors the normal structure or copying of DNA. When DNA is harmed or copied incorrectly, the changes can become permanent, resulting in mutations.</a:t>
              </a:r>
            </a:p>
          </p:txBody>
        </p:sp>
      </p:grpSp>
      <p:sp>
        <p:nvSpPr>
          <p:cNvPr name="Freeform 16" id="16"/>
          <p:cNvSpPr/>
          <p:nvPr/>
        </p:nvSpPr>
        <p:spPr>
          <a:xfrm flipH="false" flipV="false" rot="0">
            <a:off x="13877673" y="4762500"/>
            <a:ext cx="766156" cy="2667000"/>
          </a:xfrm>
          <a:custGeom>
            <a:avLst/>
            <a:gdLst/>
            <a:ahLst/>
            <a:cxnLst/>
            <a:rect r="r" b="b" t="t" l="l"/>
            <a:pathLst>
              <a:path h="2667000" w="766156">
                <a:moveTo>
                  <a:pt x="0" y="0"/>
                </a:moveTo>
                <a:lnTo>
                  <a:pt x="766157" y="0"/>
                </a:lnTo>
                <a:lnTo>
                  <a:pt x="766157" y="2667000"/>
                </a:lnTo>
                <a:lnTo>
                  <a:pt x="0" y="2667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7" id="17"/>
          <p:cNvSpPr/>
          <p:nvPr/>
        </p:nvSpPr>
        <p:spPr>
          <a:xfrm flipH="false" flipV="false" rot="0">
            <a:off x="6078878" y="4410723"/>
            <a:ext cx="766156" cy="2667000"/>
          </a:xfrm>
          <a:custGeom>
            <a:avLst/>
            <a:gdLst/>
            <a:ahLst/>
            <a:cxnLst/>
            <a:rect r="r" b="b" t="t" l="l"/>
            <a:pathLst>
              <a:path h="2667000" w="766156">
                <a:moveTo>
                  <a:pt x="0" y="0"/>
                </a:moveTo>
                <a:lnTo>
                  <a:pt x="766156" y="0"/>
                </a:lnTo>
                <a:lnTo>
                  <a:pt x="766156" y="2667000"/>
                </a:lnTo>
                <a:lnTo>
                  <a:pt x="0" y="2667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717553" y="4820945"/>
            <a:ext cx="1991382" cy="1846555"/>
          </a:xfrm>
          <a:custGeom>
            <a:avLst/>
            <a:gdLst/>
            <a:ahLst/>
            <a:cxnLst/>
            <a:rect r="r" b="b" t="t" l="l"/>
            <a:pathLst>
              <a:path h="1846555" w="1991382">
                <a:moveTo>
                  <a:pt x="0" y="0"/>
                </a:moveTo>
                <a:lnTo>
                  <a:pt x="1991382" y="0"/>
                </a:lnTo>
                <a:lnTo>
                  <a:pt x="1991382" y="1846555"/>
                </a:lnTo>
                <a:lnTo>
                  <a:pt x="0" y="18465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6372616">
            <a:off x="2870826" y="5220287"/>
            <a:ext cx="1676219" cy="1957995"/>
            <a:chOff x="0" y="0"/>
            <a:chExt cx="519052" cy="606306"/>
          </a:xfrm>
        </p:grpSpPr>
        <p:sp>
          <p:nvSpPr>
            <p:cNvPr name="Freeform 20" id="20"/>
            <p:cNvSpPr/>
            <p:nvPr/>
          </p:nvSpPr>
          <p:spPr>
            <a:xfrm flipH="false" flipV="false" rot="0">
              <a:off x="0" y="0"/>
              <a:ext cx="519052" cy="606306"/>
            </a:xfrm>
            <a:custGeom>
              <a:avLst/>
              <a:gdLst/>
              <a:ahLst/>
              <a:cxnLst/>
              <a:rect r="r" b="b" t="t" l="l"/>
              <a:pathLst>
                <a:path h="606306" w="519052">
                  <a:moveTo>
                    <a:pt x="203200" y="606306"/>
                  </a:moveTo>
                  <a:lnTo>
                    <a:pt x="315852" y="606306"/>
                  </a:lnTo>
                  <a:lnTo>
                    <a:pt x="519052" y="0"/>
                  </a:lnTo>
                  <a:lnTo>
                    <a:pt x="0" y="0"/>
                  </a:lnTo>
                  <a:lnTo>
                    <a:pt x="203200" y="606306"/>
                  </a:lnTo>
                  <a:close/>
                </a:path>
              </a:pathLst>
            </a:custGeom>
            <a:gradFill rotWithShape="true">
              <a:gsLst>
                <a:gs pos="0">
                  <a:srgbClr val="FFFFFF">
                    <a:alpha val="65000"/>
                  </a:srgbClr>
                </a:gs>
                <a:gs pos="100000">
                  <a:srgbClr val="ECEB76">
                    <a:alpha val="65000"/>
                  </a:srgbClr>
                </a:gs>
              </a:gsLst>
              <a:lin ang="2700000"/>
            </a:gradFill>
          </p:spPr>
        </p:sp>
        <p:sp>
          <p:nvSpPr>
            <p:cNvPr name="TextBox 21" id="21"/>
            <p:cNvSpPr txBox="true"/>
            <p:nvPr/>
          </p:nvSpPr>
          <p:spPr>
            <a:xfrm>
              <a:off x="127000" y="0"/>
              <a:ext cx="265052" cy="606306"/>
            </a:xfrm>
            <a:prstGeom prst="rect">
              <a:avLst/>
            </a:prstGeom>
          </p:spPr>
          <p:txBody>
            <a:bodyPr anchor="ctr" rtlCol="false" tIns="50800" lIns="50800" bIns="50800" rIns="50800"/>
            <a:lstStyle/>
            <a:p>
              <a:pPr algn="ctr">
                <a:lnSpc>
                  <a:spcPts val="2999"/>
                </a:lnSpc>
              </a:pPr>
            </a:p>
          </p:txBody>
        </p:sp>
      </p:grpSp>
      <p:sp>
        <p:nvSpPr>
          <p:cNvPr name="Freeform 22" id="22"/>
          <p:cNvSpPr/>
          <p:nvPr/>
        </p:nvSpPr>
        <p:spPr>
          <a:xfrm flipH="false" flipV="false" rot="900000">
            <a:off x="4009530" y="5345725"/>
            <a:ext cx="785799" cy="1929417"/>
          </a:xfrm>
          <a:custGeom>
            <a:avLst/>
            <a:gdLst/>
            <a:ahLst/>
            <a:cxnLst/>
            <a:rect r="r" b="b" t="t" l="l"/>
            <a:pathLst>
              <a:path h="1929417" w="785799">
                <a:moveTo>
                  <a:pt x="0" y="0"/>
                </a:moveTo>
                <a:lnTo>
                  <a:pt x="785799" y="0"/>
                </a:lnTo>
                <a:lnTo>
                  <a:pt x="785799" y="1929417"/>
                </a:lnTo>
                <a:lnTo>
                  <a:pt x="0" y="19294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3" id="23"/>
          <p:cNvSpPr/>
          <p:nvPr/>
        </p:nvSpPr>
        <p:spPr>
          <a:xfrm flipH="false" flipV="false" rot="1523064">
            <a:off x="7561906" y="5302556"/>
            <a:ext cx="521658" cy="1827465"/>
          </a:xfrm>
          <a:custGeom>
            <a:avLst/>
            <a:gdLst/>
            <a:ahLst/>
            <a:cxnLst/>
            <a:rect r="r" b="b" t="t" l="l"/>
            <a:pathLst>
              <a:path h="1827465" w="521658">
                <a:moveTo>
                  <a:pt x="0" y="0"/>
                </a:moveTo>
                <a:lnTo>
                  <a:pt x="521658" y="0"/>
                </a:lnTo>
                <a:lnTo>
                  <a:pt x="521658" y="1827465"/>
                </a:lnTo>
                <a:lnTo>
                  <a:pt x="0" y="18274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24" id="24"/>
          <p:cNvGrpSpPr/>
          <p:nvPr/>
        </p:nvGrpSpPr>
        <p:grpSpPr>
          <a:xfrm rot="0">
            <a:off x="5795206" y="5524500"/>
            <a:ext cx="1333500" cy="1524000"/>
            <a:chOff x="0" y="0"/>
            <a:chExt cx="351210" cy="401383"/>
          </a:xfrm>
        </p:grpSpPr>
        <p:sp>
          <p:nvSpPr>
            <p:cNvPr name="Freeform 25" id="25"/>
            <p:cNvSpPr/>
            <p:nvPr/>
          </p:nvSpPr>
          <p:spPr>
            <a:xfrm flipH="false" flipV="false" rot="0">
              <a:off x="0" y="0"/>
              <a:ext cx="351210" cy="401383"/>
            </a:xfrm>
            <a:custGeom>
              <a:avLst/>
              <a:gdLst/>
              <a:ahLst/>
              <a:cxnLst/>
              <a:rect r="r" b="b" t="t" l="l"/>
              <a:pathLst>
                <a:path h="401383" w="351210">
                  <a:moveTo>
                    <a:pt x="0" y="0"/>
                  </a:moveTo>
                  <a:lnTo>
                    <a:pt x="351210" y="0"/>
                  </a:lnTo>
                  <a:lnTo>
                    <a:pt x="351210" y="401383"/>
                  </a:lnTo>
                  <a:lnTo>
                    <a:pt x="0" y="401383"/>
                  </a:lnTo>
                  <a:close/>
                </a:path>
              </a:pathLst>
            </a:custGeom>
            <a:ln w="38100" cap="sq">
              <a:solidFill>
                <a:srgbClr val="FFFFFF"/>
              </a:solidFill>
              <a:prstDash val="dash"/>
              <a:miter/>
            </a:ln>
          </p:spPr>
        </p:sp>
        <p:sp>
          <p:nvSpPr>
            <p:cNvPr name="TextBox 26" id="26"/>
            <p:cNvSpPr txBox="true"/>
            <p:nvPr/>
          </p:nvSpPr>
          <p:spPr>
            <a:xfrm>
              <a:off x="0" y="0"/>
              <a:ext cx="351210" cy="401383"/>
            </a:xfrm>
            <a:prstGeom prst="rect">
              <a:avLst/>
            </a:prstGeom>
          </p:spPr>
          <p:txBody>
            <a:bodyPr anchor="ctr" rtlCol="false" tIns="50800" lIns="50800" bIns="50800" rIns="50800"/>
            <a:lstStyle/>
            <a:p>
              <a:pPr algn="ctr">
                <a:lnSpc>
                  <a:spcPts val="2999"/>
                </a:lnSpc>
              </a:pPr>
            </a:p>
          </p:txBody>
        </p:sp>
      </p:grpSp>
      <p:grpSp>
        <p:nvGrpSpPr>
          <p:cNvPr name="Group 27" id="27"/>
          <p:cNvGrpSpPr/>
          <p:nvPr/>
        </p:nvGrpSpPr>
        <p:grpSpPr>
          <a:xfrm rot="0">
            <a:off x="4233106" y="6464220"/>
            <a:ext cx="571500" cy="57150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FFFFF"/>
              </a:solidFill>
              <a:prstDash val="dash"/>
              <a:miter/>
            </a:ln>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14710505" y="5093268"/>
            <a:ext cx="1759411" cy="571500"/>
            <a:chOff x="0" y="0"/>
            <a:chExt cx="463384" cy="150519"/>
          </a:xfrm>
        </p:grpSpPr>
        <p:sp>
          <p:nvSpPr>
            <p:cNvPr name="Freeform 31" id="31"/>
            <p:cNvSpPr/>
            <p:nvPr/>
          </p:nvSpPr>
          <p:spPr>
            <a:xfrm flipH="false" flipV="false" rot="0">
              <a:off x="0" y="0"/>
              <a:ext cx="463384" cy="150519"/>
            </a:xfrm>
            <a:custGeom>
              <a:avLst/>
              <a:gdLst/>
              <a:ahLst/>
              <a:cxnLst/>
              <a:rect r="r" b="b" t="t" l="l"/>
              <a:pathLst>
                <a:path h="150519" w="463384">
                  <a:moveTo>
                    <a:pt x="0" y="0"/>
                  </a:moveTo>
                  <a:lnTo>
                    <a:pt x="463384" y="0"/>
                  </a:lnTo>
                  <a:lnTo>
                    <a:pt x="463384" y="150519"/>
                  </a:lnTo>
                  <a:lnTo>
                    <a:pt x="0" y="150519"/>
                  </a:lnTo>
                  <a:close/>
                </a:path>
              </a:pathLst>
            </a:custGeom>
            <a:solidFill>
              <a:srgbClr val="ECEB76"/>
            </a:solidFill>
            <a:ln cap="sq">
              <a:noFill/>
              <a:prstDash val="solid"/>
              <a:miter/>
            </a:ln>
          </p:spPr>
        </p:sp>
        <p:sp>
          <p:nvSpPr>
            <p:cNvPr name="TextBox 32" id="32"/>
            <p:cNvSpPr txBox="true"/>
            <p:nvPr/>
          </p:nvSpPr>
          <p:spPr>
            <a:xfrm>
              <a:off x="0" y="9525"/>
              <a:ext cx="463384" cy="140994"/>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ENVIRONMENTAL</a:t>
              </a:r>
            </a:p>
          </p:txBody>
        </p:sp>
      </p:grpSp>
      <p:grpSp>
        <p:nvGrpSpPr>
          <p:cNvPr name="Group 33" id="33"/>
          <p:cNvGrpSpPr/>
          <p:nvPr/>
        </p:nvGrpSpPr>
        <p:grpSpPr>
          <a:xfrm rot="0">
            <a:off x="1333500" y="4381500"/>
            <a:ext cx="571500" cy="571500"/>
            <a:chOff x="0" y="0"/>
            <a:chExt cx="148679" cy="148679"/>
          </a:xfrm>
        </p:grpSpPr>
        <p:sp>
          <p:nvSpPr>
            <p:cNvPr name="Freeform 34" id="34"/>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35" id="35"/>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a:solidFill>
                    <a:srgbClr val="000001"/>
                  </a:solidFill>
                  <a:latin typeface="Barlow SemiCondensed Bold"/>
                  <a:ea typeface="Barlow SemiCondensed Bold"/>
                  <a:cs typeface="Barlow SemiCondensed Bold"/>
                  <a:sym typeface="Barlow SemiCondensed Bold"/>
                </a:rPr>
                <a:t>1</a:t>
              </a:r>
            </a:p>
          </p:txBody>
        </p:sp>
      </p:grpSp>
      <p:grpSp>
        <p:nvGrpSpPr>
          <p:cNvPr name="Group 36" id="36"/>
          <p:cNvGrpSpPr/>
          <p:nvPr/>
        </p:nvGrpSpPr>
        <p:grpSpPr>
          <a:xfrm rot="0">
            <a:off x="5223706" y="4381500"/>
            <a:ext cx="571500" cy="571500"/>
            <a:chOff x="0" y="0"/>
            <a:chExt cx="148679" cy="148679"/>
          </a:xfrm>
        </p:grpSpPr>
        <p:sp>
          <p:nvSpPr>
            <p:cNvPr name="Freeform 37" id="37"/>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38" id="38"/>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strike="noStrike" u="none">
                  <a:solidFill>
                    <a:srgbClr val="000001"/>
                  </a:solidFill>
                  <a:latin typeface="Barlow SemiCondensed Bold"/>
                  <a:ea typeface="Barlow SemiCondensed Bold"/>
                  <a:cs typeface="Barlow SemiCondensed Bold"/>
                  <a:sym typeface="Barlow SemiCondensed Bold"/>
                </a:rPr>
                <a:t>2</a:t>
              </a:r>
            </a:p>
          </p:txBody>
        </p:sp>
      </p:grpSp>
      <p:grpSp>
        <p:nvGrpSpPr>
          <p:cNvPr name="Group 39" id="39"/>
          <p:cNvGrpSpPr/>
          <p:nvPr/>
        </p:nvGrpSpPr>
        <p:grpSpPr>
          <a:xfrm rot="0">
            <a:off x="9110070" y="4381500"/>
            <a:ext cx="571500" cy="571500"/>
            <a:chOff x="0" y="0"/>
            <a:chExt cx="148679" cy="148679"/>
          </a:xfrm>
        </p:grpSpPr>
        <p:sp>
          <p:nvSpPr>
            <p:cNvPr name="Freeform 40" id="40"/>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41" id="41"/>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strike="noStrike" u="none">
                  <a:solidFill>
                    <a:srgbClr val="000001"/>
                  </a:solidFill>
                  <a:latin typeface="Barlow SemiCondensed Bold"/>
                  <a:ea typeface="Barlow SemiCondensed Bold"/>
                  <a:cs typeface="Barlow SemiCondensed Bold"/>
                  <a:sym typeface="Barlow SemiCondensed Bold"/>
                </a:rPr>
                <a:t>3</a:t>
              </a:r>
            </a:p>
          </p:txBody>
        </p:sp>
      </p:grpSp>
      <p:grpSp>
        <p:nvGrpSpPr>
          <p:cNvPr name="Group 42" id="42"/>
          <p:cNvGrpSpPr/>
          <p:nvPr/>
        </p:nvGrpSpPr>
        <p:grpSpPr>
          <a:xfrm rot="0">
            <a:off x="13001975" y="4381500"/>
            <a:ext cx="571500" cy="571500"/>
            <a:chOff x="0" y="0"/>
            <a:chExt cx="148679" cy="148679"/>
          </a:xfrm>
        </p:grpSpPr>
        <p:sp>
          <p:nvSpPr>
            <p:cNvPr name="Freeform 43" id="43"/>
            <p:cNvSpPr/>
            <p:nvPr/>
          </p:nvSpPr>
          <p:spPr>
            <a:xfrm flipH="false" flipV="false" rot="0">
              <a:off x="0" y="0"/>
              <a:ext cx="148679" cy="148679"/>
            </a:xfrm>
            <a:custGeom>
              <a:avLst/>
              <a:gdLst/>
              <a:ahLst/>
              <a:cxnLst/>
              <a:rect r="r" b="b" t="t" l="l"/>
              <a:pathLst>
                <a:path h="148679" w="148679">
                  <a:moveTo>
                    <a:pt x="0" y="0"/>
                  </a:moveTo>
                  <a:lnTo>
                    <a:pt x="148679" y="0"/>
                  </a:lnTo>
                  <a:lnTo>
                    <a:pt x="148679" y="148679"/>
                  </a:lnTo>
                  <a:lnTo>
                    <a:pt x="0" y="148679"/>
                  </a:lnTo>
                  <a:close/>
                </a:path>
              </a:pathLst>
            </a:custGeom>
            <a:solidFill>
              <a:srgbClr val="EBEBEB"/>
            </a:solidFill>
            <a:ln w="66675" cap="sq">
              <a:solidFill>
                <a:srgbClr val="000001"/>
              </a:solidFill>
              <a:prstDash val="solid"/>
              <a:miter/>
            </a:ln>
          </p:spPr>
        </p:sp>
        <p:sp>
          <p:nvSpPr>
            <p:cNvPr name="TextBox 44" id="44"/>
            <p:cNvSpPr txBox="true"/>
            <p:nvPr/>
          </p:nvSpPr>
          <p:spPr>
            <a:xfrm>
              <a:off x="0" y="-9525"/>
              <a:ext cx="148679" cy="158204"/>
            </a:xfrm>
            <a:prstGeom prst="rect">
              <a:avLst/>
            </a:prstGeom>
          </p:spPr>
          <p:txBody>
            <a:bodyPr anchor="b" rtlCol="false" tIns="0" lIns="0" bIns="0" rIns="0"/>
            <a:lstStyle/>
            <a:p>
              <a:pPr algn="ctr" marL="0" indent="0" lvl="0">
                <a:lnSpc>
                  <a:spcPts val="2639"/>
                </a:lnSpc>
                <a:spcBef>
                  <a:spcPct val="0"/>
                </a:spcBef>
              </a:pPr>
              <a:r>
                <a:rPr lang="en-US" b="true" sz="2199" spc="-10" strike="noStrike" u="none">
                  <a:solidFill>
                    <a:srgbClr val="000001"/>
                  </a:solidFill>
                  <a:latin typeface="Barlow SemiCondensed Bold"/>
                  <a:ea typeface="Barlow SemiCondensed Bold"/>
                  <a:cs typeface="Barlow SemiCondensed Bold"/>
                  <a:sym typeface="Barlow SemiCondensed Bold"/>
                </a:rPr>
                <a:t>4</a:t>
              </a:r>
            </a:p>
          </p:txBody>
        </p:sp>
      </p:grpSp>
      <p:grpSp>
        <p:nvGrpSpPr>
          <p:cNvPr name="Group 45" id="45"/>
          <p:cNvGrpSpPr/>
          <p:nvPr/>
        </p:nvGrpSpPr>
        <p:grpSpPr>
          <a:xfrm rot="0">
            <a:off x="7021928" y="4762500"/>
            <a:ext cx="1156584" cy="453945"/>
            <a:chOff x="0" y="0"/>
            <a:chExt cx="304615" cy="119558"/>
          </a:xfrm>
        </p:grpSpPr>
        <p:sp>
          <p:nvSpPr>
            <p:cNvPr name="Freeform 46" id="46"/>
            <p:cNvSpPr/>
            <p:nvPr/>
          </p:nvSpPr>
          <p:spPr>
            <a:xfrm flipH="false" flipV="false" rot="0">
              <a:off x="0" y="0"/>
              <a:ext cx="304615" cy="119558"/>
            </a:xfrm>
            <a:custGeom>
              <a:avLst/>
              <a:gdLst/>
              <a:ahLst/>
              <a:cxnLst/>
              <a:rect r="r" b="b" t="t" l="l"/>
              <a:pathLst>
                <a:path h="119558" w="304615">
                  <a:moveTo>
                    <a:pt x="0" y="0"/>
                  </a:moveTo>
                  <a:lnTo>
                    <a:pt x="304615" y="0"/>
                  </a:lnTo>
                  <a:lnTo>
                    <a:pt x="304615" y="119558"/>
                  </a:lnTo>
                  <a:lnTo>
                    <a:pt x="0" y="119558"/>
                  </a:lnTo>
                  <a:close/>
                </a:path>
              </a:pathLst>
            </a:custGeom>
            <a:solidFill>
              <a:srgbClr val="ECEB76"/>
            </a:solidFill>
            <a:ln cap="sq">
              <a:noFill/>
              <a:prstDash val="solid"/>
              <a:miter/>
            </a:ln>
          </p:spPr>
        </p:sp>
        <p:sp>
          <p:nvSpPr>
            <p:cNvPr name="TextBox 47" id="47"/>
            <p:cNvSpPr txBox="true"/>
            <p:nvPr/>
          </p:nvSpPr>
          <p:spPr>
            <a:xfrm>
              <a:off x="0" y="9525"/>
              <a:ext cx="304615" cy="110033"/>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CHEMICAL</a:t>
              </a:r>
            </a:p>
          </p:txBody>
        </p:sp>
      </p:grpSp>
      <p:grpSp>
        <p:nvGrpSpPr>
          <p:cNvPr name="Group 48" id="48"/>
          <p:cNvGrpSpPr/>
          <p:nvPr/>
        </p:nvGrpSpPr>
        <p:grpSpPr>
          <a:xfrm rot="0">
            <a:off x="3847015" y="4636955"/>
            <a:ext cx="1071891" cy="506545"/>
            <a:chOff x="0" y="0"/>
            <a:chExt cx="282309" cy="133411"/>
          </a:xfrm>
        </p:grpSpPr>
        <p:sp>
          <p:nvSpPr>
            <p:cNvPr name="Freeform 49" id="49"/>
            <p:cNvSpPr/>
            <p:nvPr/>
          </p:nvSpPr>
          <p:spPr>
            <a:xfrm flipH="false" flipV="false" rot="0">
              <a:off x="0" y="0"/>
              <a:ext cx="282309" cy="133411"/>
            </a:xfrm>
            <a:custGeom>
              <a:avLst/>
              <a:gdLst/>
              <a:ahLst/>
              <a:cxnLst/>
              <a:rect r="r" b="b" t="t" l="l"/>
              <a:pathLst>
                <a:path h="133411" w="282309">
                  <a:moveTo>
                    <a:pt x="0" y="0"/>
                  </a:moveTo>
                  <a:lnTo>
                    <a:pt x="282309" y="0"/>
                  </a:lnTo>
                  <a:lnTo>
                    <a:pt x="282309" y="133411"/>
                  </a:lnTo>
                  <a:lnTo>
                    <a:pt x="0" y="133411"/>
                  </a:lnTo>
                  <a:close/>
                </a:path>
              </a:pathLst>
            </a:custGeom>
            <a:solidFill>
              <a:srgbClr val="ECEB76"/>
            </a:solidFill>
            <a:ln cap="sq">
              <a:noFill/>
              <a:prstDash val="solid"/>
              <a:miter/>
            </a:ln>
          </p:spPr>
        </p:sp>
        <p:sp>
          <p:nvSpPr>
            <p:cNvPr name="TextBox 50" id="50"/>
            <p:cNvSpPr txBox="true"/>
            <p:nvPr/>
          </p:nvSpPr>
          <p:spPr>
            <a:xfrm>
              <a:off x="0" y="9525"/>
              <a:ext cx="282309" cy="123886"/>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PHYSICAL</a:t>
              </a:r>
            </a:p>
          </p:txBody>
        </p:sp>
      </p:grpSp>
      <p:grpSp>
        <p:nvGrpSpPr>
          <p:cNvPr name="Group 51" id="51"/>
          <p:cNvGrpSpPr/>
          <p:nvPr/>
        </p:nvGrpSpPr>
        <p:grpSpPr>
          <a:xfrm rot="0">
            <a:off x="10465296" y="4762500"/>
            <a:ext cx="1167871" cy="2996853"/>
            <a:chOff x="0" y="0"/>
            <a:chExt cx="1557161" cy="3995804"/>
          </a:xfrm>
        </p:grpSpPr>
        <p:sp>
          <p:nvSpPr>
            <p:cNvPr name="Freeform 52" id="52"/>
            <p:cNvSpPr/>
            <p:nvPr/>
          </p:nvSpPr>
          <p:spPr>
            <a:xfrm flipH="false" flipV="false" rot="0">
              <a:off x="323636" y="0"/>
              <a:ext cx="1042035" cy="2340143"/>
            </a:xfrm>
            <a:custGeom>
              <a:avLst/>
              <a:gdLst/>
              <a:ahLst/>
              <a:cxnLst/>
              <a:rect r="r" b="b" t="t" l="l"/>
              <a:pathLst>
                <a:path h="2340143" w="1042035">
                  <a:moveTo>
                    <a:pt x="0" y="0"/>
                  </a:moveTo>
                  <a:lnTo>
                    <a:pt x="1042035" y="0"/>
                  </a:lnTo>
                  <a:lnTo>
                    <a:pt x="1042035" y="2340143"/>
                  </a:lnTo>
                  <a:lnTo>
                    <a:pt x="0" y="2340143"/>
                  </a:lnTo>
                  <a:lnTo>
                    <a:pt x="0" y="0"/>
                  </a:lnTo>
                  <a:close/>
                </a:path>
              </a:pathLst>
            </a:custGeom>
            <a:blipFill>
              <a:blip r:embed="rId4">
                <a:extLst>
                  <a:ext uri="{96DAC541-7B7A-43D3-8B79-37D633B846F1}">
                    <asvg:svgBlip xmlns:asvg="http://schemas.microsoft.com/office/drawing/2016/SVG/main" r:embed="rId5"/>
                  </a:ext>
                </a:extLst>
              </a:blip>
              <a:stretch>
                <a:fillRect l="0" t="0" r="0" b="-55004"/>
              </a:stretch>
            </a:blipFill>
            <a:ln cap="sq">
              <a:noFill/>
              <a:prstDash val="solid"/>
              <a:miter/>
            </a:ln>
          </p:spPr>
        </p:sp>
        <p:sp>
          <p:nvSpPr>
            <p:cNvPr name="Freeform 53" id="53"/>
            <p:cNvSpPr/>
            <p:nvPr/>
          </p:nvSpPr>
          <p:spPr>
            <a:xfrm flipH="false" flipV="false" rot="0">
              <a:off x="308303" y="2336724"/>
              <a:ext cx="1022573" cy="1263750"/>
            </a:xfrm>
            <a:custGeom>
              <a:avLst/>
              <a:gdLst/>
              <a:ahLst/>
              <a:cxnLst/>
              <a:rect r="r" b="b" t="t" l="l"/>
              <a:pathLst>
                <a:path h="1263750" w="1022573">
                  <a:moveTo>
                    <a:pt x="0" y="0"/>
                  </a:moveTo>
                  <a:lnTo>
                    <a:pt x="1022572" y="0"/>
                  </a:lnTo>
                  <a:lnTo>
                    <a:pt x="1022572" y="1263750"/>
                  </a:lnTo>
                  <a:lnTo>
                    <a:pt x="0" y="1263750"/>
                  </a:lnTo>
                  <a:lnTo>
                    <a:pt x="0" y="0"/>
                  </a:lnTo>
                  <a:close/>
                </a:path>
              </a:pathLst>
            </a:custGeom>
            <a:blipFill>
              <a:blip r:embed="rId10">
                <a:extLst>
                  <a:ext uri="{96DAC541-7B7A-43D3-8B79-37D633B846F1}">
                    <asvg:svgBlip xmlns:asvg="http://schemas.microsoft.com/office/drawing/2016/SVG/main" r:embed="rId11"/>
                  </a:ext>
                </a:extLst>
              </a:blip>
              <a:stretch>
                <a:fillRect l="0" t="-182924" r="0" b="-538"/>
              </a:stretch>
            </a:blipFill>
            <a:ln cap="sq">
              <a:noFill/>
              <a:prstDash val="solid"/>
              <a:miter/>
            </a:ln>
          </p:spPr>
        </p:sp>
        <p:sp>
          <p:nvSpPr>
            <p:cNvPr name="Freeform 54" id="54"/>
            <p:cNvSpPr/>
            <p:nvPr/>
          </p:nvSpPr>
          <p:spPr>
            <a:xfrm flipH="true" flipV="false" rot="-2059913">
              <a:off x="267294" y="2553779"/>
              <a:ext cx="1022573" cy="1263750"/>
            </a:xfrm>
            <a:custGeom>
              <a:avLst/>
              <a:gdLst/>
              <a:ahLst/>
              <a:cxnLst/>
              <a:rect r="r" b="b" t="t" l="l"/>
              <a:pathLst>
                <a:path h="1263750" w="1022573">
                  <a:moveTo>
                    <a:pt x="1022573" y="0"/>
                  </a:moveTo>
                  <a:lnTo>
                    <a:pt x="0" y="0"/>
                  </a:lnTo>
                  <a:lnTo>
                    <a:pt x="0" y="1263750"/>
                  </a:lnTo>
                  <a:lnTo>
                    <a:pt x="1022573" y="1263750"/>
                  </a:lnTo>
                  <a:lnTo>
                    <a:pt x="1022573" y="0"/>
                  </a:lnTo>
                  <a:close/>
                </a:path>
              </a:pathLst>
            </a:custGeom>
            <a:blipFill>
              <a:blip r:embed="rId12">
                <a:extLst>
                  <a:ext uri="{96DAC541-7B7A-43D3-8B79-37D633B846F1}">
                    <asvg:svgBlip xmlns:asvg="http://schemas.microsoft.com/office/drawing/2016/SVG/main" r:embed="rId13"/>
                  </a:ext>
                </a:extLst>
              </a:blip>
              <a:stretch>
                <a:fillRect l="0" t="-182924" r="0" b="-538"/>
              </a:stretch>
            </a:blipFill>
            <a:ln cap="sq">
              <a:noFill/>
              <a:prstDash val="solid"/>
              <a:miter/>
            </a:ln>
          </p:spPr>
        </p:sp>
      </p:grpSp>
      <p:sp>
        <p:nvSpPr>
          <p:cNvPr name="AutoShape 55" id="55"/>
          <p:cNvSpPr/>
          <p:nvPr/>
        </p:nvSpPr>
        <p:spPr>
          <a:xfrm>
            <a:off x="1370409" y="3114675"/>
            <a:ext cx="15621000" cy="0"/>
          </a:xfrm>
          <a:prstGeom prst="line">
            <a:avLst/>
          </a:prstGeom>
          <a:ln cap="flat" w="38100">
            <a:solidFill>
              <a:srgbClr val="000001"/>
            </a:solidFill>
            <a:prstDash val="solid"/>
            <a:headEnd type="none" len="sm" w="sm"/>
            <a:tailEnd type="none" len="sm" w="sm"/>
          </a:ln>
        </p:spPr>
      </p:sp>
      <p:grpSp>
        <p:nvGrpSpPr>
          <p:cNvPr name="Group 56" id="56"/>
          <p:cNvGrpSpPr/>
          <p:nvPr/>
        </p:nvGrpSpPr>
        <p:grpSpPr>
          <a:xfrm rot="0">
            <a:off x="11562618" y="4636955"/>
            <a:ext cx="1392813" cy="456313"/>
            <a:chOff x="0" y="0"/>
            <a:chExt cx="366832" cy="120181"/>
          </a:xfrm>
        </p:grpSpPr>
        <p:sp>
          <p:nvSpPr>
            <p:cNvPr name="Freeform 57" id="57"/>
            <p:cNvSpPr/>
            <p:nvPr/>
          </p:nvSpPr>
          <p:spPr>
            <a:xfrm flipH="false" flipV="false" rot="0">
              <a:off x="0" y="0"/>
              <a:ext cx="366832" cy="120181"/>
            </a:xfrm>
            <a:custGeom>
              <a:avLst/>
              <a:gdLst/>
              <a:ahLst/>
              <a:cxnLst/>
              <a:rect r="r" b="b" t="t" l="l"/>
              <a:pathLst>
                <a:path h="120181" w="366832">
                  <a:moveTo>
                    <a:pt x="0" y="0"/>
                  </a:moveTo>
                  <a:lnTo>
                    <a:pt x="366832" y="0"/>
                  </a:lnTo>
                  <a:lnTo>
                    <a:pt x="366832" y="120181"/>
                  </a:lnTo>
                  <a:lnTo>
                    <a:pt x="0" y="120181"/>
                  </a:lnTo>
                  <a:close/>
                </a:path>
              </a:pathLst>
            </a:custGeom>
            <a:solidFill>
              <a:srgbClr val="ECEB76"/>
            </a:solidFill>
            <a:ln cap="sq">
              <a:noFill/>
              <a:prstDash val="solid"/>
              <a:miter/>
            </a:ln>
          </p:spPr>
        </p:sp>
        <p:sp>
          <p:nvSpPr>
            <p:cNvPr name="TextBox 58" id="58"/>
            <p:cNvSpPr txBox="true"/>
            <p:nvPr/>
          </p:nvSpPr>
          <p:spPr>
            <a:xfrm>
              <a:off x="0" y="9525"/>
              <a:ext cx="366832" cy="110656"/>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BIOLOGICAL</a:t>
              </a:r>
            </a:p>
          </p:txBody>
        </p:sp>
      </p:grpSp>
      <p:grpSp>
        <p:nvGrpSpPr>
          <p:cNvPr name="Group 59" id="59"/>
          <p:cNvGrpSpPr/>
          <p:nvPr/>
        </p:nvGrpSpPr>
        <p:grpSpPr>
          <a:xfrm rot="0">
            <a:off x="11963750" y="5670377"/>
            <a:ext cx="590550" cy="590550"/>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lnTo>
                    <a:pt x="540616" y="82374"/>
                  </a:lnTo>
                  <a:lnTo>
                    <a:pt x="693768" y="119032"/>
                  </a:lnTo>
                  <a:lnTo>
                    <a:pt x="730427" y="272184"/>
                  </a:lnTo>
                  <a:lnTo>
                    <a:pt x="812800" y="406400"/>
                  </a:lnTo>
                  <a:lnTo>
                    <a:pt x="730427" y="540616"/>
                  </a:lnTo>
                  <a:lnTo>
                    <a:pt x="693768" y="693768"/>
                  </a:lnTo>
                  <a:lnTo>
                    <a:pt x="540616" y="730427"/>
                  </a:lnTo>
                  <a:lnTo>
                    <a:pt x="406400" y="812800"/>
                  </a:lnTo>
                  <a:lnTo>
                    <a:pt x="272184" y="730427"/>
                  </a:lnTo>
                  <a:lnTo>
                    <a:pt x="119032" y="693768"/>
                  </a:lnTo>
                  <a:lnTo>
                    <a:pt x="82374" y="540616"/>
                  </a:lnTo>
                  <a:lnTo>
                    <a:pt x="0" y="406400"/>
                  </a:lnTo>
                  <a:lnTo>
                    <a:pt x="82374" y="272184"/>
                  </a:lnTo>
                  <a:lnTo>
                    <a:pt x="119032" y="119032"/>
                  </a:lnTo>
                  <a:lnTo>
                    <a:pt x="272184" y="82374"/>
                  </a:lnTo>
                  <a:lnTo>
                    <a:pt x="406400" y="0"/>
                  </a:lnTo>
                  <a:close/>
                </a:path>
              </a:pathLst>
            </a:custGeom>
            <a:solidFill>
              <a:srgbClr val="E5A6F4"/>
            </a:solidFill>
            <a:ln w="19050" cap="sq">
              <a:solidFill>
                <a:srgbClr val="000001"/>
              </a:solidFill>
              <a:prstDash val="solid"/>
              <a:miter/>
            </a:ln>
          </p:spPr>
        </p:sp>
        <p:sp>
          <p:nvSpPr>
            <p:cNvPr name="TextBox 61" id="61"/>
            <p:cNvSpPr txBox="true"/>
            <p:nvPr/>
          </p:nvSpPr>
          <p:spPr>
            <a:xfrm>
              <a:off x="139700" y="-22225"/>
              <a:ext cx="533400" cy="695325"/>
            </a:xfrm>
            <a:prstGeom prst="rect">
              <a:avLst/>
            </a:prstGeom>
          </p:spPr>
          <p:txBody>
            <a:bodyPr anchor="ctr" rtlCol="false" tIns="50800" lIns="50800" bIns="50800" rIns="50800"/>
            <a:lstStyle/>
            <a:p>
              <a:pPr algn="ctr" marL="0" indent="0" lvl="0">
                <a:lnSpc>
                  <a:spcPts val="5100"/>
                </a:lnSpc>
                <a:spcBef>
                  <a:spcPct val="0"/>
                </a:spcBef>
              </a:pPr>
            </a:p>
          </p:txBody>
        </p:sp>
      </p:grpSp>
      <p:grpSp>
        <p:nvGrpSpPr>
          <p:cNvPr name="Group 62" id="62"/>
          <p:cNvGrpSpPr/>
          <p:nvPr/>
        </p:nvGrpSpPr>
        <p:grpSpPr>
          <a:xfrm rot="0">
            <a:off x="1189434" y="800100"/>
            <a:ext cx="361950" cy="361950"/>
            <a:chOff x="0" y="0"/>
            <a:chExt cx="731520" cy="731520"/>
          </a:xfrm>
        </p:grpSpPr>
        <p:sp>
          <p:nvSpPr>
            <p:cNvPr name="Freeform 63" id="6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64" id="6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65" id="65"/>
          <p:cNvGrpSpPr/>
          <p:nvPr/>
        </p:nvGrpSpPr>
        <p:grpSpPr>
          <a:xfrm rot="0">
            <a:off x="16736616" y="800100"/>
            <a:ext cx="361950" cy="361950"/>
            <a:chOff x="0" y="0"/>
            <a:chExt cx="731520" cy="731520"/>
          </a:xfrm>
        </p:grpSpPr>
        <p:sp>
          <p:nvSpPr>
            <p:cNvPr name="Freeform 66" id="6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67" id="6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68" id="68"/>
          <p:cNvGrpSpPr/>
          <p:nvPr/>
        </p:nvGrpSpPr>
        <p:grpSpPr>
          <a:xfrm rot="0">
            <a:off x="1189434" y="2181225"/>
            <a:ext cx="361950" cy="361950"/>
            <a:chOff x="0" y="0"/>
            <a:chExt cx="731520" cy="731520"/>
          </a:xfrm>
        </p:grpSpPr>
        <p:sp>
          <p:nvSpPr>
            <p:cNvPr name="Freeform 69" id="6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70" id="7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71" id="71"/>
          <p:cNvGrpSpPr/>
          <p:nvPr/>
        </p:nvGrpSpPr>
        <p:grpSpPr>
          <a:xfrm rot="0">
            <a:off x="16736616" y="2181225"/>
            <a:ext cx="361950" cy="361950"/>
            <a:chOff x="0" y="0"/>
            <a:chExt cx="731520" cy="731520"/>
          </a:xfrm>
        </p:grpSpPr>
        <p:sp>
          <p:nvSpPr>
            <p:cNvPr name="Freeform 72" id="7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73" id="7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74" id="74"/>
          <p:cNvGrpSpPr/>
          <p:nvPr/>
        </p:nvGrpSpPr>
        <p:grpSpPr>
          <a:xfrm rot="0">
            <a:off x="1498646" y="7277375"/>
            <a:ext cx="2884314" cy="426737"/>
            <a:chOff x="0" y="0"/>
            <a:chExt cx="759655" cy="112392"/>
          </a:xfrm>
        </p:grpSpPr>
        <p:sp>
          <p:nvSpPr>
            <p:cNvPr name="Freeform 75" id="75"/>
            <p:cNvSpPr/>
            <p:nvPr/>
          </p:nvSpPr>
          <p:spPr>
            <a:xfrm flipH="false" flipV="false" rot="0">
              <a:off x="0" y="0"/>
              <a:ext cx="759655" cy="112392"/>
            </a:xfrm>
            <a:custGeom>
              <a:avLst/>
              <a:gdLst/>
              <a:ahLst/>
              <a:cxnLst/>
              <a:rect r="r" b="b" t="t" l="l"/>
              <a:pathLst>
                <a:path h="112392" w="759655">
                  <a:moveTo>
                    <a:pt x="0" y="0"/>
                  </a:moveTo>
                  <a:lnTo>
                    <a:pt x="759655" y="0"/>
                  </a:lnTo>
                  <a:lnTo>
                    <a:pt x="759655" y="112392"/>
                  </a:lnTo>
                  <a:lnTo>
                    <a:pt x="0" y="112392"/>
                  </a:lnTo>
                  <a:close/>
                </a:path>
              </a:pathLst>
            </a:custGeom>
            <a:solidFill>
              <a:srgbClr val="ECEB76"/>
            </a:solidFill>
            <a:ln cap="sq">
              <a:noFill/>
              <a:prstDash val="solid"/>
              <a:miter/>
            </a:ln>
          </p:spPr>
        </p:sp>
        <p:sp>
          <p:nvSpPr>
            <p:cNvPr name="TextBox 76" id="76"/>
            <p:cNvSpPr txBox="true"/>
            <p:nvPr/>
          </p:nvSpPr>
          <p:spPr>
            <a:xfrm>
              <a:off x="0" y="9525"/>
              <a:ext cx="759655" cy="102867"/>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BY: HERMANN J. MULLER</a:t>
              </a:r>
            </a:p>
          </p:txBody>
        </p:sp>
      </p:grpSp>
      <p:grpSp>
        <p:nvGrpSpPr>
          <p:cNvPr name="Group 77" id="77"/>
          <p:cNvGrpSpPr/>
          <p:nvPr/>
        </p:nvGrpSpPr>
        <p:grpSpPr>
          <a:xfrm rot="0">
            <a:off x="5509456" y="7216132"/>
            <a:ext cx="3024944" cy="426737"/>
            <a:chOff x="0" y="0"/>
            <a:chExt cx="796693" cy="112392"/>
          </a:xfrm>
        </p:grpSpPr>
        <p:sp>
          <p:nvSpPr>
            <p:cNvPr name="Freeform 78" id="78"/>
            <p:cNvSpPr/>
            <p:nvPr/>
          </p:nvSpPr>
          <p:spPr>
            <a:xfrm flipH="false" flipV="false" rot="0">
              <a:off x="0" y="0"/>
              <a:ext cx="796693" cy="112392"/>
            </a:xfrm>
            <a:custGeom>
              <a:avLst/>
              <a:gdLst/>
              <a:ahLst/>
              <a:cxnLst/>
              <a:rect r="r" b="b" t="t" l="l"/>
              <a:pathLst>
                <a:path h="112392" w="796693">
                  <a:moveTo>
                    <a:pt x="0" y="0"/>
                  </a:moveTo>
                  <a:lnTo>
                    <a:pt x="796693" y="0"/>
                  </a:lnTo>
                  <a:lnTo>
                    <a:pt x="796693" y="112392"/>
                  </a:lnTo>
                  <a:lnTo>
                    <a:pt x="0" y="112392"/>
                  </a:lnTo>
                  <a:close/>
                </a:path>
              </a:pathLst>
            </a:custGeom>
            <a:solidFill>
              <a:srgbClr val="ECEB76"/>
            </a:solidFill>
            <a:ln cap="sq">
              <a:noFill/>
              <a:prstDash val="solid"/>
              <a:miter/>
            </a:ln>
          </p:spPr>
        </p:sp>
        <p:sp>
          <p:nvSpPr>
            <p:cNvPr name="TextBox 79" id="79"/>
            <p:cNvSpPr txBox="true"/>
            <p:nvPr/>
          </p:nvSpPr>
          <p:spPr>
            <a:xfrm>
              <a:off x="0" y="9525"/>
              <a:ext cx="796693" cy="102867"/>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BY: CHARLOTTE AUERBACH</a:t>
              </a:r>
            </a:p>
          </p:txBody>
        </p:sp>
      </p:grpSp>
      <p:grpSp>
        <p:nvGrpSpPr>
          <p:cNvPr name="Group 80" id="80"/>
          <p:cNvGrpSpPr/>
          <p:nvPr/>
        </p:nvGrpSpPr>
        <p:grpSpPr>
          <a:xfrm rot="0">
            <a:off x="9212089" y="6536602"/>
            <a:ext cx="2874025" cy="426737"/>
            <a:chOff x="0" y="0"/>
            <a:chExt cx="756945" cy="112392"/>
          </a:xfrm>
        </p:grpSpPr>
        <p:sp>
          <p:nvSpPr>
            <p:cNvPr name="Freeform 81" id="81"/>
            <p:cNvSpPr/>
            <p:nvPr/>
          </p:nvSpPr>
          <p:spPr>
            <a:xfrm flipH="false" flipV="false" rot="0">
              <a:off x="0" y="0"/>
              <a:ext cx="756945" cy="112392"/>
            </a:xfrm>
            <a:custGeom>
              <a:avLst/>
              <a:gdLst/>
              <a:ahLst/>
              <a:cxnLst/>
              <a:rect r="r" b="b" t="t" l="l"/>
              <a:pathLst>
                <a:path h="112392" w="756945">
                  <a:moveTo>
                    <a:pt x="0" y="0"/>
                  </a:moveTo>
                  <a:lnTo>
                    <a:pt x="756945" y="0"/>
                  </a:lnTo>
                  <a:lnTo>
                    <a:pt x="756945" y="112392"/>
                  </a:lnTo>
                  <a:lnTo>
                    <a:pt x="0" y="112392"/>
                  </a:lnTo>
                  <a:close/>
                </a:path>
              </a:pathLst>
            </a:custGeom>
            <a:solidFill>
              <a:srgbClr val="ECEB76"/>
            </a:solidFill>
            <a:ln cap="sq">
              <a:noFill/>
              <a:prstDash val="solid"/>
              <a:miter/>
            </a:ln>
          </p:spPr>
        </p:sp>
        <p:sp>
          <p:nvSpPr>
            <p:cNvPr name="TextBox 82" id="82"/>
            <p:cNvSpPr txBox="true"/>
            <p:nvPr/>
          </p:nvSpPr>
          <p:spPr>
            <a:xfrm>
              <a:off x="0" y="9525"/>
              <a:ext cx="756945" cy="102867"/>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BY: BARBARA MCCLINTOCK</a:t>
              </a:r>
            </a:p>
          </p:txBody>
        </p:sp>
      </p:grpSp>
      <p:grpSp>
        <p:nvGrpSpPr>
          <p:cNvPr name="Group 83" id="83"/>
          <p:cNvGrpSpPr/>
          <p:nvPr/>
        </p:nvGrpSpPr>
        <p:grpSpPr>
          <a:xfrm rot="0">
            <a:off x="13783025" y="6609508"/>
            <a:ext cx="3134566" cy="468215"/>
            <a:chOff x="0" y="0"/>
            <a:chExt cx="825565" cy="123316"/>
          </a:xfrm>
        </p:grpSpPr>
        <p:sp>
          <p:nvSpPr>
            <p:cNvPr name="Freeform 84" id="84"/>
            <p:cNvSpPr/>
            <p:nvPr/>
          </p:nvSpPr>
          <p:spPr>
            <a:xfrm flipH="false" flipV="false" rot="0">
              <a:off x="0" y="0"/>
              <a:ext cx="825565" cy="123316"/>
            </a:xfrm>
            <a:custGeom>
              <a:avLst/>
              <a:gdLst/>
              <a:ahLst/>
              <a:cxnLst/>
              <a:rect r="r" b="b" t="t" l="l"/>
              <a:pathLst>
                <a:path h="123316" w="825565">
                  <a:moveTo>
                    <a:pt x="0" y="0"/>
                  </a:moveTo>
                  <a:lnTo>
                    <a:pt x="825565" y="0"/>
                  </a:lnTo>
                  <a:lnTo>
                    <a:pt x="825565" y="123316"/>
                  </a:lnTo>
                  <a:lnTo>
                    <a:pt x="0" y="123316"/>
                  </a:lnTo>
                  <a:close/>
                </a:path>
              </a:pathLst>
            </a:custGeom>
            <a:solidFill>
              <a:srgbClr val="ECEB76"/>
            </a:solidFill>
            <a:ln cap="sq">
              <a:noFill/>
              <a:prstDash val="solid"/>
              <a:miter/>
            </a:ln>
          </p:spPr>
        </p:sp>
        <p:sp>
          <p:nvSpPr>
            <p:cNvPr name="TextBox 85" id="85"/>
            <p:cNvSpPr txBox="true"/>
            <p:nvPr/>
          </p:nvSpPr>
          <p:spPr>
            <a:xfrm>
              <a:off x="0" y="9525"/>
              <a:ext cx="825565" cy="113791"/>
            </a:xfrm>
            <a:prstGeom prst="rect">
              <a:avLst/>
            </a:prstGeom>
          </p:spPr>
          <p:txBody>
            <a:bodyPr anchor="ctr" rtlCol="false" tIns="50800" lIns="50800" bIns="50800" rIns="50800"/>
            <a:lstStyle/>
            <a:p>
              <a:pPr algn="ctr" marL="0" indent="0" lvl="0">
                <a:lnSpc>
                  <a:spcPts val="1980"/>
                </a:lnSpc>
              </a:pPr>
              <a:r>
                <a:rPr lang="en-US" b="true" sz="1800" spc="-9">
                  <a:solidFill>
                    <a:srgbClr val="000001"/>
                  </a:solidFill>
                  <a:latin typeface="Barlow SemiCondensed Bold"/>
                  <a:ea typeface="Barlow SemiCondensed Bold"/>
                  <a:cs typeface="Barlow SemiCondensed Bold"/>
                  <a:sym typeface="Barlow SemiCondensed Bold"/>
                </a:rPr>
                <a:t>CLASSIFIED BY: BRUCE AMES</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7790203" y="4191000"/>
            <a:ext cx="9354797" cy="5334000"/>
            <a:chOff x="0" y="0"/>
            <a:chExt cx="2463815" cy="1404840"/>
          </a:xfrm>
        </p:grpSpPr>
        <p:sp>
          <p:nvSpPr>
            <p:cNvPr name="Freeform 4" id="4"/>
            <p:cNvSpPr/>
            <p:nvPr/>
          </p:nvSpPr>
          <p:spPr>
            <a:xfrm flipH="false" flipV="false" rot="0">
              <a:off x="0" y="0"/>
              <a:ext cx="2463815" cy="1404840"/>
            </a:xfrm>
            <a:custGeom>
              <a:avLst/>
              <a:gdLst/>
              <a:ahLst/>
              <a:cxnLst/>
              <a:rect r="r" b="b" t="t" l="l"/>
              <a:pathLst>
                <a:path h="1404840" w="2463815">
                  <a:moveTo>
                    <a:pt x="0" y="0"/>
                  </a:moveTo>
                  <a:lnTo>
                    <a:pt x="2463815" y="0"/>
                  </a:lnTo>
                  <a:lnTo>
                    <a:pt x="2463815" y="1404840"/>
                  </a:lnTo>
                  <a:lnTo>
                    <a:pt x="0" y="1404840"/>
                  </a:lnTo>
                  <a:close/>
                </a:path>
              </a:pathLst>
            </a:custGeom>
            <a:solidFill>
              <a:srgbClr val="000001"/>
            </a:solidFill>
            <a:ln cap="sq">
              <a:noFill/>
              <a:prstDash val="solid"/>
              <a:miter/>
            </a:ln>
          </p:spPr>
        </p:sp>
        <p:sp>
          <p:nvSpPr>
            <p:cNvPr name="TextBox 5" id="5"/>
            <p:cNvSpPr txBox="true"/>
            <p:nvPr/>
          </p:nvSpPr>
          <p:spPr>
            <a:xfrm>
              <a:off x="0" y="38100"/>
              <a:ext cx="2463815" cy="1366740"/>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6" id="6"/>
          <p:cNvGrpSpPr/>
          <p:nvPr/>
        </p:nvGrpSpPr>
        <p:grpSpPr>
          <a:xfrm rot="0">
            <a:off x="7566342" y="4000500"/>
            <a:ext cx="9388158" cy="5334000"/>
            <a:chOff x="0" y="0"/>
            <a:chExt cx="2472601" cy="1404840"/>
          </a:xfrm>
        </p:grpSpPr>
        <p:sp>
          <p:nvSpPr>
            <p:cNvPr name="Freeform 7" id="7"/>
            <p:cNvSpPr/>
            <p:nvPr/>
          </p:nvSpPr>
          <p:spPr>
            <a:xfrm flipH="false" flipV="false" rot="0">
              <a:off x="0" y="0"/>
              <a:ext cx="2472601" cy="1404840"/>
            </a:xfrm>
            <a:custGeom>
              <a:avLst/>
              <a:gdLst/>
              <a:ahLst/>
              <a:cxnLst/>
              <a:rect r="r" b="b" t="t" l="l"/>
              <a:pathLst>
                <a:path h="1404840" w="2472601">
                  <a:moveTo>
                    <a:pt x="0" y="0"/>
                  </a:moveTo>
                  <a:lnTo>
                    <a:pt x="2472601" y="0"/>
                  </a:lnTo>
                  <a:lnTo>
                    <a:pt x="2472601" y="1404840"/>
                  </a:lnTo>
                  <a:lnTo>
                    <a:pt x="0" y="1404840"/>
                  </a:lnTo>
                  <a:close/>
                </a:path>
              </a:pathLst>
            </a:custGeom>
            <a:solidFill>
              <a:srgbClr val="FFFFFF"/>
            </a:solidFill>
            <a:ln w="66675" cap="sq">
              <a:solidFill>
                <a:srgbClr val="000001"/>
              </a:solidFill>
              <a:prstDash val="solid"/>
              <a:miter/>
            </a:ln>
          </p:spPr>
        </p:sp>
        <p:sp>
          <p:nvSpPr>
            <p:cNvPr name="TextBox 8" id="8"/>
            <p:cNvSpPr txBox="true"/>
            <p:nvPr/>
          </p:nvSpPr>
          <p:spPr>
            <a:xfrm>
              <a:off x="0" y="-19050"/>
              <a:ext cx="2472601" cy="1423890"/>
            </a:xfrm>
            <a:prstGeom prst="rect">
              <a:avLst/>
            </a:prstGeom>
          </p:spPr>
          <p:txBody>
            <a:bodyPr anchor="ctr" rtlCol="false" tIns="254000" lIns="254000" bIns="254000" rIns="254000"/>
            <a:lstStyle/>
            <a:p>
              <a:pPr algn="l" marL="0" indent="0" lvl="0">
                <a:lnSpc>
                  <a:spcPts val="3600"/>
                </a:lnSpc>
                <a:spcBef>
                  <a:spcPct val="0"/>
                </a:spcBef>
              </a:pPr>
            </a:p>
          </p:txBody>
        </p:sp>
      </p:grpSp>
      <p:grpSp>
        <p:nvGrpSpPr>
          <p:cNvPr name="Group 9" id="9"/>
          <p:cNvGrpSpPr/>
          <p:nvPr/>
        </p:nvGrpSpPr>
        <p:grpSpPr>
          <a:xfrm rot="0">
            <a:off x="6604173" y="885797"/>
            <a:ext cx="7810500" cy="3600507"/>
            <a:chOff x="0" y="0"/>
            <a:chExt cx="10414000" cy="4800675"/>
          </a:xfrm>
        </p:grpSpPr>
        <p:grpSp>
          <p:nvGrpSpPr>
            <p:cNvPr name="Group 10" id="10"/>
            <p:cNvGrpSpPr/>
            <p:nvPr/>
          </p:nvGrpSpPr>
          <p:grpSpPr>
            <a:xfrm rot="0">
              <a:off x="254000" y="254000"/>
              <a:ext cx="10160000" cy="4495800"/>
              <a:chOff x="0" y="0"/>
              <a:chExt cx="2006914" cy="888059"/>
            </a:xfrm>
          </p:grpSpPr>
          <p:sp>
            <p:nvSpPr>
              <p:cNvPr name="Freeform 11" id="11"/>
              <p:cNvSpPr/>
              <p:nvPr/>
            </p:nvSpPr>
            <p:spPr>
              <a:xfrm flipH="false" flipV="false" rot="0">
                <a:off x="0" y="0"/>
                <a:ext cx="2006914" cy="888059"/>
              </a:xfrm>
              <a:custGeom>
                <a:avLst/>
                <a:gdLst/>
                <a:ahLst/>
                <a:cxnLst/>
                <a:rect r="r" b="b" t="t" l="l"/>
                <a:pathLst>
                  <a:path h="888059" w="2006914">
                    <a:moveTo>
                      <a:pt x="0" y="0"/>
                    </a:moveTo>
                    <a:lnTo>
                      <a:pt x="2006914" y="0"/>
                    </a:lnTo>
                    <a:lnTo>
                      <a:pt x="2006914" y="888059"/>
                    </a:lnTo>
                    <a:lnTo>
                      <a:pt x="0" y="888059"/>
                    </a:lnTo>
                    <a:close/>
                  </a:path>
                </a:pathLst>
              </a:custGeom>
              <a:solidFill>
                <a:srgbClr val="000001"/>
              </a:solidFill>
              <a:ln cap="sq">
                <a:noFill/>
                <a:prstDash val="solid"/>
                <a:miter/>
              </a:ln>
            </p:spPr>
          </p:sp>
          <p:sp>
            <p:nvSpPr>
              <p:cNvPr name="TextBox 12" id="12"/>
              <p:cNvSpPr txBox="true"/>
              <p:nvPr/>
            </p:nvSpPr>
            <p:spPr>
              <a:xfrm>
                <a:off x="0" y="38100"/>
                <a:ext cx="2006914" cy="849959"/>
              </a:xfrm>
              <a:prstGeom prst="rect">
                <a:avLst/>
              </a:prstGeom>
            </p:spPr>
            <p:txBody>
              <a:bodyPr anchor="t" rtlCol="false" tIns="254000" lIns="254000" bIns="254000" rIns="254000"/>
              <a:lstStyle/>
              <a:p>
                <a:pPr algn="ctr" marL="0" indent="0" lvl="0">
                  <a:lnSpc>
                    <a:spcPts val="6600"/>
                  </a:lnSpc>
                  <a:spcBef>
                    <a:spcPct val="0"/>
                  </a:spcBef>
                </a:pPr>
              </a:p>
            </p:txBody>
          </p:sp>
        </p:grpSp>
        <p:grpSp>
          <p:nvGrpSpPr>
            <p:cNvPr name="Group 13" id="13"/>
            <p:cNvGrpSpPr/>
            <p:nvPr/>
          </p:nvGrpSpPr>
          <p:grpSpPr>
            <a:xfrm rot="0">
              <a:off x="0" y="0"/>
              <a:ext cx="10414000" cy="4800675"/>
              <a:chOff x="0" y="0"/>
              <a:chExt cx="2057086" cy="948282"/>
            </a:xfrm>
          </p:grpSpPr>
          <p:sp>
            <p:nvSpPr>
              <p:cNvPr name="Freeform 14" id="14"/>
              <p:cNvSpPr/>
              <p:nvPr/>
            </p:nvSpPr>
            <p:spPr>
              <a:xfrm flipH="false" flipV="false" rot="0">
                <a:off x="0" y="0"/>
                <a:ext cx="2057086" cy="948282"/>
              </a:xfrm>
              <a:custGeom>
                <a:avLst/>
                <a:gdLst/>
                <a:ahLst/>
                <a:cxnLst/>
                <a:rect r="r" b="b" t="t" l="l"/>
                <a:pathLst>
                  <a:path h="948282" w="2057086">
                    <a:moveTo>
                      <a:pt x="0" y="0"/>
                    </a:moveTo>
                    <a:lnTo>
                      <a:pt x="2057086" y="0"/>
                    </a:lnTo>
                    <a:lnTo>
                      <a:pt x="2057086" y="948282"/>
                    </a:lnTo>
                    <a:lnTo>
                      <a:pt x="0" y="948282"/>
                    </a:lnTo>
                    <a:close/>
                  </a:path>
                </a:pathLst>
              </a:custGeom>
              <a:solidFill>
                <a:srgbClr val="ECEB76"/>
              </a:solidFill>
              <a:ln w="66675" cap="sq">
                <a:solidFill>
                  <a:srgbClr val="000001"/>
                </a:solidFill>
                <a:prstDash val="solid"/>
                <a:miter/>
              </a:ln>
            </p:spPr>
          </p:sp>
          <p:sp>
            <p:nvSpPr>
              <p:cNvPr name="TextBox 15" id="15"/>
              <p:cNvSpPr txBox="true"/>
              <p:nvPr/>
            </p:nvSpPr>
            <p:spPr>
              <a:xfrm>
                <a:off x="0" y="47625"/>
                <a:ext cx="2057086" cy="900657"/>
              </a:xfrm>
              <a:prstGeom prst="rect">
                <a:avLst/>
              </a:prstGeom>
            </p:spPr>
            <p:txBody>
              <a:bodyPr anchor="t" rtlCol="false" tIns="254000" lIns="254000" bIns="254000" rIns="254000"/>
              <a:lstStyle/>
              <a:p>
                <a:pPr algn="ctr" marL="0" indent="0" lvl="0">
                  <a:lnSpc>
                    <a:spcPts val="7149"/>
                  </a:lnSpc>
                  <a:spcBef>
                    <a:spcPct val="0"/>
                  </a:spcBef>
                </a:pPr>
                <a:r>
                  <a:rPr lang="en-US" sz="6499">
                    <a:solidFill>
                      <a:srgbClr val="000001"/>
                    </a:solidFill>
                    <a:latin typeface="Barlow SemiCondensed"/>
                    <a:ea typeface="Barlow SemiCondensed"/>
                    <a:cs typeface="Barlow SemiCondensed"/>
                    <a:sym typeface="Barlow SemiCondensed"/>
                  </a:rPr>
                  <a:t>UNDERSTANDING GENES WITHIN BORDERS </a:t>
                </a:r>
              </a:p>
            </p:txBody>
          </p:sp>
        </p:grpSp>
      </p:grpSp>
      <p:grpSp>
        <p:nvGrpSpPr>
          <p:cNvPr name="Group 16" id="16"/>
          <p:cNvGrpSpPr/>
          <p:nvPr/>
        </p:nvGrpSpPr>
        <p:grpSpPr>
          <a:xfrm rot="0">
            <a:off x="1524000" y="1143000"/>
            <a:ext cx="4767295" cy="8382000"/>
            <a:chOff x="0" y="0"/>
            <a:chExt cx="1255584" cy="2207605"/>
          </a:xfrm>
        </p:grpSpPr>
        <p:sp>
          <p:nvSpPr>
            <p:cNvPr name="Freeform 17" id="17"/>
            <p:cNvSpPr/>
            <p:nvPr/>
          </p:nvSpPr>
          <p:spPr>
            <a:xfrm flipH="false" flipV="false" rot="0">
              <a:off x="0" y="0"/>
              <a:ext cx="1255584" cy="2207605"/>
            </a:xfrm>
            <a:custGeom>
              <a:avLst/>
              <a:gdLst/>
              <a:ahLst/>
              <a:cxnLst/>
              <a:rect r="r" b="b" t="t" l="l"/>
              <a:pathLst>
                <a:path h="2207605" w="1255584">
                  <a:moveTo>
                    <a:pt x="0" y="0"/>
                  </a:moveTo>
                  <a:lnTo>
                    <a:pt x="1255584" y="0"/>
                  </a:lnTo>
                  <a:lnTo>
                    <a:pt x="1255584" y="2207605"/>
                  </a:lnTo>
                  <a:lnTo>
                    <a:pt x="0" y="2207605"/>
                  </a:lnTo>
                  <a:close/>
                </a:path>
              </a:pathLst>
            </a:custGeom>
            <a:solidFill>
              <a:srgbClr val="707070"/>
            </a:solidFill>
            <a:ln cap="sq">
              <a:noFill/>
              <a:prstDash val="solid"/>
              <a:miter/>
            </a:ln>
          </p:spPr>
        </p:sp>
        <p:sp>
          <p:nvSpPr>
            <p:cNvPr name="TextBox 18" id="18"/>
            <p:cNvSpPr txBox="true"/>
            <p:nvPr/>
          </p:nvSpPr>
          <p:spPr>
            <a:xfrm>
              <a:off x="0" y="38100"/>
              <a:ext cx="1255584" cy="2169505"/>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9" id="19"/>
          <p:cNvGrpSpPr/>
          <p:nvPr/>
        </p:nvGrpSpPr>
        <p:grpSpPr>
          <a:xfrm rot="0">
            <a:off x="1333500" y="952500"/>
            <a:ext cx="4819650" cy="8382000"/>
            <a:chOff x="0" y="0"/>
            <a:chExt cx="1269373" cy="2207605"/>
          </a:xfrm>
        </p:grpSpPr>
        <p:sp>
          <p:nvSpPr>
            <p:cNvPr name="Freeform 20" id="20"/>
            <p:cNvSpPr/>
            <p:nvPr/>
          </p:nvSpPr>
          <p:spPr>
            <a:xfrm flipH="false" flipV="false" rot="0">
              <a:off x="0" y="0"/>
              <a:ext cx="1269373" cy="2207605"/>
            </a:xfrm>
            <a:custGeom>
              <a:avLst/>
              <a:gdLst/>
              <a:ahLst/>
              <a:cxnLst/>
              <a:rect r="r" b="b" t="t" l="l"/>
              <a:pathLst>
                <a:path h="2207605" w="1269373">
                  <a:moveTo>
                    <a:pt x="0" y="0"/>
                  </a:moveTo>
                  <a:lnTo>
                    <a:pt x="1269373" y="0"/>
                  </a:lnTo>
                  <a:lnTo>
                    <a:pt x="1269373" y="2207605"/>
                  </a:lnTo>
                  <a:lnTo>
                    <a:pt x="0" y="2207605"/>
                  </a:lnTo>
                  <a:close/>
                </a:path>
              </a:pathLst>
            </a:custGeom>
            <a:solidFill>
              <a:srgbClr val="A6A6A6"/>
            </a:solidFill>
            <a:ln w="66675" cap="sq">
              <a:solidFill>
                <a:srgbClr val="000001"/>
              </a:solidFill>
              <a:prstDash val="solid"/>
              <a:miter/>
            </a:ln>
          </p:spPr>
        </p:sp>
        <p:sp>
          <p:nvSpPr>
            <p:cNvPr name="TextBox 21" id="21"/>
            <p:cNvSpPr txBox="true"/>
            <p:nvPr/>
          </p:nvSpPr>
          <p:spPr>
            <a:xfrm>
              <a:off x="0" y="-19050"/>
              <a:ext cx="1269373" cy="2226655"/>
            </a:xfrm>
            <a:prstGeom prst="rect">
              <a:avLst/>
            </a:prstGeom>
          </p:spPr>
          <p:txBody>
            <a:bodyPr anchor="ctr" rtlCol="false" tIns="254000" lIns="254000" bIns="254000" rIns="254000"/>
            <a:lstStyle/>
            <a:p>
              <a:pPr algn="l" marL="0" indent="0" lvl="0">
                <a:lnSpc>
                  <a:spcPts val="3600"/>
                </a:lnSpc>
                <a:spcBef>
                  <a:spcPct val="0"/>
                </a:spcBef>
              </a:pPr>
            </a:p>
          </p:txBody>
        </p:sp>
      </p:grpSp>
      <p:sp>
        <p:nvSpPr>
          <p:cNvPr name="Freeform 22" id="22"/>
          <p:cNvSpPr/>
          <p:nvPr/>
        </p:nvSpPr>
        <p:spPr>
          <a:xfrm flipH="false" flipV="false" rot="-1125810">
            <a:off x="14596088" y="1990010"/>
            <a:ext cx="1598422" cy="1392080"/>
          </a:xfrm>
          <a:custGeom>
            <a:avLst/>
            <a:gdLst/>
            <a:ahLst/>
            <a:cxnLst/>
            <a:rect r="r" b="b" t="t" l="l"/>
            <a:pathLst>
              <a:path h="1392080" w="1598422">
                <a:moveTo>
                  <a:pt x="0" y="0"/>
                </a:moveTo>
                <a:lnTo>
                  <a:pt x="1598422" y="0"/>
                </a:lnTo>
                <a:lnTo>
                  <a:pt x="1598422" y="1392080"/>
                </a:lnTo>
                <a:lnTo>
                  <a:pt x="0" y="13920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33500" y="876300"/>
            <a:ext cx="4724400" cy="8382000"/>
          </a:xfrm>
          <a:custGeom>
            <a:avLst/>
            <a:gdLst/>
            <a:ahLst/>
            <a:cxnLst/>
            <a:rect r="r" b="b" t="t" l="l"/>
            <a:pathLst>
              <a:path h="8382000" w="4724400">
                <a:moveTo>
                  <a:pt x="0" y="0"/>
                </a:moveTo>
                <a:lnTo>
                  <a:pt x="4724400" y="0"/>
                </a:lnTo>
                <a:lnTo>
                  <a:pt x="4724400" y="8382000"/>
                </a:lnTo>
                <a:lnTo>
                  <a:pt x="0" y="8382000"/>
                </a:lnTo>
                <a:lnTo>
                  <a:pt x="0" y="0"/>
                </a:lnTo>
                <a:close/>
              </a:path>
            </a:pathLst>
          </a:custGeom>
          <a:blipFill>
            <a:blip r:embed="rId6"/>
            <a:stretch>
              <a:fillRect l="-944" t="-2039" r="-2924" b="-2039"/>
            </a:stretch>
          </a:blipFill>
        </p:spPr>
      </p:sp>
      <p:sp>
        <p:nvSpPr>
          <p:cNvPr name="TextBox 24" id="24"/>
          <p:cNvSpPr txBox="true"/>
          <p:nvPr/>
        </p:nvSpPr>
        <p:spPr>
          <a:xfrm rot="0">
            <a:off x="7790203" y="4477085"/>
            <a:ext cx="8998727" cy="5047915"/>
          </a:xfrm>
          <a:prstGeom prst="rect">
            <a:avLst/>
          </a:prstGeom>
        </p:spPr>
        <p:txBody>
          <a:bodyPr anchor="t" rtlCol="false" tIns="0" lIns="0" bIns="0" rIns="0">
            <a:spAutoFit/>
          </a:bodyPr>
          <a:lstStyle/>
          <a:p>
            <a:pPr algn="l">
              <a:lnSpc>
                <a:spcPts val="3600"/>
              </a:lnSpc>
            </a:pPr>
            <a:r>
              <a:rPr lang="en-US" sz="3000">
                <a:solidFill>
                  <a:srgbClr val="000001"/>
                </a:solidFill>
                <a:latin typeface="Barlow SemiCondensed"/>
                <a:ea typeface="Barlow SemiCondensed"/>
                <a:cs typeface="Barlow SemiCondensed"/>
                <a:sym typeface="Barlow SemiCondensed"/>
              </a:rPr>
              <a:t>Science builds its truth through patterns hidden in data. While borders </a:t>
            </a:r>
            <a:r>
              <a:rPr lang="en-US" sz="3000">
                <a:solidFill>
                  <a:srgbClr val="000001"/>
                </a:solidFill>
                <a:latin typeface="Barlow SemiCondensed"/>
                <a:ea typeface="Barlow SemiCondensed"/>
                <a:cs typeface="Barlow SemiCondensed"/>
                <a:sym typeface="Barlow SemiCondensed"/>
              </a:rPr>
              <a:t>d</a:t>
            </a:r>
            <a:r>
              <a:rPr lang="en-US" sz="3000">
                <a:solidFill>
                  <a:srgbClr val="000001"/>
                </a:solidFill>
                <a:latin typeface="Barlow SemiCondensed"/>
                <a:ea typeface="Barlow SemiCondensed"/>
                <a:cs typeface="Barlow SemiCondensed"/>
                <a:sym typeface="Barlow SemiCondensed"/>
              </a:rPr>
              <a:t>e</a:t>
            </a:r>
            <a:r>
              <a:rPr lang="en-US" sz="3000">
                <a:solidFill>
                  <a:srgbClr val="000001"/>
                </a:solidFill>
                <a:latin typeface="Barlow SemiCondensed"/>
                <a:ea typeface="Barlow SemiCondensed"/>
                <a:cs typeface="Barlow SemiCondensed"/>
                <a:sym typeface="Barlow SemiCondensed"/>
              </a:rPr>
              <a:t>fi</a:t>
            </a:r>
            <a:r>
              <a:rPr lang="en-US" sz="3000">
                <a:solidFill>
                  <a:srgbClr val="000001"/>
                </a:solidFill>
                <a:latin typeface="Barlow SemiCondensed"/>
                <a:ea typeface="Barlow SemiCondensed"/>
                <a:cs typeface="Barlow SemiCondensed"/>
                <a:sym typeface="Barlow SemiCondensed"/>
              </a:rPr>
              <a:t>ne n</a:t>
            </a:r>
            <a:r>
              <a:rPr lang="en-US" sz="3000">
                <a:solidFill>
                  <a:srgbClr val="000001"/>
                </a:solidFill>
                <a:latin typeface="Barlow SemiCondensed"/>
                <a:ea typeface="Barlow SemiCondensed"/>
                <a:cs typeface="Barlow SemiCondensed"/>
                <a:sym typeface="Barlow SemiCondensed"/>
              </a:rPr>
              <a:t>ation</a:t>
            </a:r>
            <a:r>
              <a:rPr lang="en-US" sz="3000">
                <a:solidFill>
                  <a:srgbClr val="000001"/>
                </a:solidFill>
                <a:latin typeface="Barlow SemiCondensed"/>
                <a:ea typeface="Barlow SemiCondensed"/>
                <a:cs typeface="Barlow SemiCondensed"/>
                <a:sym typeface="Barlow SemiCondensed"/>
              </a:rPr>
              <a:t>s,</a:t>
            </a:r>
            <a:r>
              <a:rPr lang="en-US" sz="3000">
                <a:solidFill>
                  <a:srgbClr val="000001"/>
                </a:solidFill>
                <a:latin typeface="Barlow SemiCondensed"/>
                <a:ea typeface="Barlow SemiCondensed"/>
                <a:cs typeface="Barlow SemiCondensed"/>
                <a:sym typeface="Barlow SemiCondensed"/>
              </a:rPr>
              <a:t> gene</a:t>
            </a:r>
            <a:r>
              <a:rPr lang="en-US" sz="3000">
                <a:solidFill>
                  <a:srgbClr val="000001"/>
                </a:solidFill>
                <a:latin typeface="Barlow SemiCondensed"/>
                <a:ea typeface="Barlow SemiCondensed"/>
                <a:cs typeface="Barlow SemiCondensed"/>
                <a:sym typeface="Barlow SemiCondensed"/>
              </a:rPr>
              <a:t>s</a:t>
            </a:r>
            <a:r>
              <a:rPr lang="en-US" sz="3000">
                <a:solidFill>
                  <a:srgbClr val="000001"/>
                </a:solidFill>
                <a:latin typeface="Barlow SemiCondensed"/>
                <a:ea typeface="Barlow SemiCondensed"/>
                <a:cs typeface="Barlow SemiCondensed"/>
                <a:sym typeface="Barlow SemiCondensed"/>
              </a:rPr>
              <a:t> d</a:t>
            </a:r>
            <a:r>
              <a:rPr lang="en-US" sz="3000">
                <a:solidFill>
                  <a:srgbClr val="000001"/>
                </a:solidFill>
                <a:latin typeface="Barlow SemiCondensed"/>
                <a:ea typeface="Barlow SemiCondensed"/>
                <a:cs typeface="Barlow SemiCondensed"/>
                <a:sym typeface="Barlow SemiCondensed"/>
              </a:rPr>
              <a:t>ef</a:t>
            </a:r>
            <a:r>
              <a:rPr lang="en-US" sz="3000">
                <a:solidFill>
                  <a:srgbClr val="000001"/>
                </a:solidFill>
                <a:latin typeface="Barlow SemiCondensed"/>
                <a:ea typeface="Barlow SemiCondensed"/>
                <a:cs typeface="Barlow SemiCondensed"/>
                <a:sym typeface="Barlow SemiCondensed"/>
              </a:rPr>
              <a:t>in</a:t>
            </a:r>
            <a:r>
              <a:rPr lang="en-US" sz="3000">
                <a:solidFill>
                  <a:srgbClr val="000001"/>
                </a:solidFill>
                <a:latin typeface="Barlow SemiCondensed"/>
                <a:ea typeface="Barlow SemiCondensed"/>
                <a:cs typeface="Barlow SemiCondensed"/>
                <a:sym typeface="Barlow SemiCondensed"/>
              </a:rPr>
              <a:t>e</a:t>
            </a:r>
            <a:r>
              <a:rPr lang="en-US" sz="3000">
                <a:solidFill>
                  <a:srgbClr val="000001"/>
                </a:solidFill>
                <a:latin typeface="Barlow SemiCondensed"/>
                <a:ea typeface="Barlow SemiCondensed"/>
                <a:cs typeface="Barlow SemiCondensed"/>
                <a:sym typeface="Barlow SemiCondensed"/>
              </a:rPr>
              <a:t> t</a:t>
            </a:r>
            <a:r>
              <a:rPr lang="en-US" sz="3000">
                <a:solidFill>
                  <a:srgbClr val="000001"/>
                </a:solidFill>
                <a:latin typeface="Barlow SemiCondensed"/>
                <a:ea typeface="Barlow SemiCondensed"/>
                <a:cs typeface="Barlow SemiCondensed"/>
                <a:sym typeface="Barlow SemiCondensed"/>
              </a:rPr>
              <a:t>h</a:t>
            </a:r>
            <a:r>
              <a:rPr lang="en-US" sz="3000">
                <a:solidFill>
                  <a:srgbClr val="000001"/>
                </a:solidFill>
                <a:latin typeface="Barlow SemiCondensed"/>
                <a:ea typeface="Barlow SemiCondensed"/>
                <a:cs typeface="Barlow SemiCondensed"/>
                <a:sym typeface="Barlow SemiCondensed"/>
              </a:rPr>
              <a:t>e</a:t>
            </a:r>
            <a:r>
              <a:rPr lang="en-US" sz="3000">
                <a:solidFill>
                  <a:srgbClr val="000001"/>
                </a:solidFill>
                <a:latin typeface="Barlow SemiCondensed"/>
                <a:ea typeface="Barlow SemiCondensed"/>
                <a:cs typeface="Barlow SemiCondensed"/>
                <a:sym typeface="Barlow SemiCondensed"/>
              </a:rPr>
              <a:t> s</a:t>
            </a:r>
            <a:r>
              <a:rPr lang="en-US" sz="3000">
                <a:solidFill>
                  <a:srgbClr val="000001"/>
                </a:solidFill>
                <a:latin typeface="Barlow SemiCondensed"/>
                <a:ea typeface="Barlow SemiCondensed"/>
                <a:cs typeface="Barlow SemiCondensed"/>
                <a:sym typeface="Barlow SemiCondensed"/>
              </a:rPr>
              <a:t>h</a:t>
            </a:r>
            <a:r>
              <a:rPr lang="en-US" sz="3000">
                <a:solidFill>
                  <a:srgbClr val="000001"/>
                </a:solidFill>
                <a:latin typeface="Barlow SemiCondensed"/>
                <a:ea typeface="Barlow SemiCondensed"/>
                <a:cs typeface="Barlow SemiCondensed"/>
                <a:sym typeface="Barlow SemiCondensed"/>
              </a:rPr>
              <a:t>ared st</a:t>
            </a:r>
            <a:r>
              <a:rPr lang="en-US" sz="3000">
                <a:solidFill>
                  <a:srgbClr val="000001"/>
                </a:solidFill>
                <a:latin typeface="Barlow SemiCondensed"/>
                <a:ea typeface="Barlow SemiCondensed"/>
                <a:cs typeface="Barlow SemiCondensed"/>
                <a:sym typeface="Barlow SemiCondensed"/>
              </a:rPr>
              <a:t>o</a:t>
            </a:r>
            <a:r>
              <a:rPr lang="en-US" sz="3000">
                <a:solidFill>
                  <a:srgbClr val="000001"/>
                </a:solidFill>
                <a:latin typeface="Barlow SemiCondensed"/>
                <a:ea typeface="Barlow SemiCondensed"/>
                <a:cs typeface="Barlow SemiCondensed"/>
                <a:sym typeface="Barlow SemiCondensed"/>
              </a:rPr>
              <a:t>ry </a:t>
            </a:r>
            <a:r>
              <a:rPr lang="en-US" sz="3000">
                <a:solidFill>
                  <a:srgbClr val="000001"/>
                </a:solidFill>
                <a:latin typeface="Barlow SemiCondensed"/>
                <a:ea typeface="Barlow SemiCondensed"/>
                <a:cs typeface="Barlow SemiCondensed"/>
                <a:sym typeface="Barlow SemiCondensed"/>
              </a:rPr>
              <a:t>o</a:t>
            </a:r>
            <a:r>
              <a:rPr lang="en-US" sz="3000">
                <a:solidFill>
                  <a:srgbClr val="000001"/>
                </a:solidFill>
                <a:latin typeface="Barlow SemiCondensed"/>
                <a:ea typeface="Barlow SemiCondensed"/>
                <a:cs typeface="Barlow SemiCondensed"/>
                <a:sym typeface="Barlow SemiCondensed"/>
              </a:rPr>
              <a:t>f l</a:t>
            </a:r>
            <a:r>
              <a:rPr lang="en-US" sz="3000">
                <a:solidFill>
                  <a:srgbClr val="000001"/>
                </a:solidFill>
                <a:latin typeface="Barlow SemiCondensed"/>
                <a:ea typeface="Barlow SemiCondensed"/>
                <a:cs typeface="Barlow SemiCondensed"/>
                <a:sym typeface="Barlow SemiCondensed"/>
              </a:rPr>
              <a:t>i</a:t>
            </a:r>
            <a:r>
              <a:rPr lang="en-US" sz="3000">
                <a:solidFill>
                  <a:srgbClr val="000001"/>
                </a:solidFill>
                <a:latin typeface="Barlow SemiCondensed"/>
                <a:ea typeface="Barlow SemiCondensed"/>
                <a:cs typeface="Barlow SemiCondensed"/>
                <a:sym typeface="Barlow SemiCondensed"/>
              </a:rPr>
              <a:t>f</a:t>
            </a:r>
            <a:r>
              <a:rPr lang="en-US" sz="3000">
                <a:solidFill>
                  <a:srgbClr val="000001"/>
                </a:solidFill>
                <a:latin typeface="Barlow SemiCondensed"/>
                <a:ea typeface="Barlow SemiCondensed"/>
                <a:cs typeface="Barlow SemiCondensed"/>
                <a:sym typeface="Barlow SemiCondensed"/>
              </a:rPr>
              <a:t>e</a:t>
            </a:r>
            <a:r>
              <a:rPr lang="en-US" sz="3000">
                <a:solidFill>
                  <a:srgbClr val="000001"/>
                </a:solidFill>
                <a:latin typeface="Barlow SemiCondensed"/>
                <a:ea typeface="Barlow SemiCondensed"/>
                <a:cs typeface="Barlow SemiCondensed"/>
                <a:sym typeface="Barlow SemiCondensed"/>
              </a:rPr>
              <a:t>. Every nation carries a genetic fingerprint as unique as its culture. We will look at four countries (Korea, Pakistan, Indonesia and India) along with their genetic pool. With studies and reliable database, we shall also go through the mutations in accordance with factors affecting it.</a:t>
            </a:r>
          </a:p>
          <a:p>
            <a:pPr algn="l">
              <a:lnSpc>
                <a:spcPts val="3600"/>
              </a:lnSpc>
            </a:pPr>
            <a:r>
              <a:rPr lang="en-US" sz="3000">
                <a:solidFill>
                  <a:srgbClr val="000001"/>
                </a:solidFill>
                <a:latin typeface="Barlow SemiCondensed"/>
                <a:ea typeface="Barlow SemiCondensed"/>
                <a:cs typeface="Barlow SemiCondensed"/>
                <a:sym typeface="Barlow SemiCondensed"/>
              </a:rPr>
              <a:t>The </a:t>
            </a:r>
            <a:r>
              <a:rPr lang="en-US" sz="3000">
                <a:solidFill>
                  <a:srgbClr val="000001"/>
                </a:solidFill>
                <a:latin typeface="Barlow SemiCondensed"/>
                <a:ea typeface="Barlow SemiCondensed"/>
                <a:cs typeface="Barlow SemiCondensed"/>
                <a:sym typeface="Barlow SemiCondensed"/>
              </a:rPr>
              <a:t>countries will be discussed in increasing order of land mass so as to understand more clearly how a larger geographical area ensures diversity.</a:t>
            </a:r>
          </a:p>
          <a:p>
            <a:pPr algn="l">
              <a:lnSpc>
                <a:spcPts val="3600"/>
              </a:lnSpc>
            </a:pPr>
          </a:p>
        </p:txBody>
      </p:sp>
      <p:sp>
        <p:nvSpPr>
          <p:cNvPr name="Freeform 25" id="25"/>
          <p:cNvSpPr/>
          <p:nvPr/>
        </p:nvSpPr>
        <p:spPr>
          <a:xfrm flipH="false" flipV="false" rot="0">
            <a:off x="15968126" y="219103"/>
            <a:ext cx="1892996" cy="4647982"/>
          </a:xfrm>
          <a:custGeom>
            <a:avLst/>
            <a:gdLst/>
            <a:ahLst/>
            <a:cxnLst/>
            <a:rect r="r" b="b" t="t" l="l"/>
            <a:pathLst>
              <a:path h="4647982" w="1892996">
                <a:moveTo>
                  <a:pt x="0" y="0"/>
                </a:moveTo>
                <a:lnTo>
                  <a:pt x="1892996" y="0"/>
                </a:lnTo>
                <a:lnTo>
                  <a:pt x="1892996" y="4647982"/>
                </a:lnTo>
                <a:lnTo>
                  <a:pt x="0" y="46479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6" id="26"/>
          <p:cNvSpPr/>
          <p:nvPr/>
        </p:nvSpPr>
        <p:spPr>
          <a:xfrm flipH="false" flipV="false" rot="0">
            <a:off x="15843524" y="219103"/>
            <a:ext cx="1890813" cy="4642622"/>
          </a:xfrm>
          <a:custGeom>
            <a:avLst/>
            <a:gdLst/>
            <a:ahLst/>
            <a:cxnLst/>
            <a:rect r="r" b="b" t="t" l="l"/>
            <a:pathLst>
              <a:path h="4642622" w="1890813">
                <a:moveTo>
                  <a:pt x="0" y="0"/>
                </a:moveTo>
                <a:lnTo>
                  <a:pt x="1890813" y="0"/>
                </a:lnTo>
                <a:lnTo>
                  <a:pt x="1890813" y="4642622"/>
                </a:lnTo>
                <a:lnTo>
                  <a:pt x="0" y="4642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2095500" y="4381500"/>
            <a:ext cx="9525000" cy="5143500"/>
            <a:chOff x="0" y="0"/>
            <a:chExt cx="2508642" cy="1354667"/>
          </a:xfrm>
        </p:grpSpPr>
        <p:sp>
          <p:nvSpPr>
            <p:cNvPr name="Freeform 4" id="4"/>
            <p:cNvSpPr/>
            <p:nvPr/>
          </p:nvSpPr>
          <p:spPr>
            <a:xfrm flipH="false" flipV="false" rot="0">
              <a:off x="0" y="0"/>
              <a:ext cx="2508642" cy="1354667"/>
            </a:xfrm>
            <a:custGeom>
              <a:avLst/>
              <a:gdLst/>
              <a:ahLst/>
              <a:cxnLst/>
              <a:rect r="r" b="b" t="t" l="l"/>
              <a:pathLst>
                <a:path h="1354667" w="2508642">
                  <a:moveTo>
                    <a:pt x="0" y="0"/>
                  </a:moveTo>
                  <a:lnTo>
                    <a:pt x="2508642" y="0"/>
                  </a:lnTo>
                  <a:lnTo>
                    <a:pt x="2508642" y="1354667"/>
                  </a:lnTo>
                  <a:lnTo>
                    <a:pt x="0" y="1354667"/>
                  </a:lnTo>
                  <a:close/>
                </a:path>
              </a:pathLst>
            </a:custGeom>
            <a:solidFill>
              <a:srgbClr val="707070"/>
            </a:solidFill>
            <a:ln cap="sq">
              <a:noFill/>
              <a:prstDash val="solid"/>
              <a:miter/>
            </a:ln>
          </p:spPr>
        </p:sp>
        <p:sp>
          <p:nvSpPr>
            <p:cNvPr name="TextBox 5" id="5"/>
            <p:cNvSpPr txBox="true"/>
            <p:nvPr/>
          </p:nvSpPr>
          <p:spPr>
            <a:xfrm>
              <a:off x="0" y="38100"/>
              <a:ext cx="2508642" cy="1316567"/>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6" id="6"/>
          <p:cNvGrpSpPr/>
          <p:nvPr/>
        </p:nvGrpSpPr>
        <p:grpSpPr>
          <a:xfrm rot="0">
            <a:off x="1905000" y="4191000"/>
            <a:ext cx="9525000" cy="5143500"/>
            <a:chOff x="0" y="0"/>
            <a:chExt cx="2508642" cy="1354667"/>
          </a:xfrm>
        </p:grpSpPr>
        <p:sp>
          <p:nvSpPr>
            <p:cNvPr name="Freeform 7" id="7"/>
            <p:cNvSpPr/>
            <p:nvPr/>
          </p:nvSpPr>
          <p:spPr>
            <a:xfrm flipH="false" flipV="false" rot="0">
              <a:off x="0" y="0"/>
              <a:ext cx="2508642" cy="1354667"/>
            </a:xfrm>
            <a:custGeom>
              <a:avLst/>
              <a:gdLst/>
              <a:ahLst/>
              <a:cxnLst/>
              <a:rect r="r" b="b" t="t" l="l"/>
              <a:pathLst>
                <a:path h="1354667" w="2508642">
                  <a:moveTo>
                    <a:pt x="0" y="0"/>
                  </a:moveTo>
                  <a:lnTo>
                    <a:pt x="2508642" y="0"/>
                  </a:lnTo>
                  <a:lnTo>
                    <a:pt x="2508642" y="1354667"/>
                  </a:lnTo>
                  <a:lnTo>
                    <a:pt x="0" y="1354667"/>
                  </a:lnTo>
                  <a:close/>
                </a:path>
              </a:pathLst>
            </a:custGeom>
            <a:solidFill>
              <a:srgbClr val="EBEBEB"/>
            </a:solidFill>
            <a:ln w="66675" cap="sq">
              <a:solidFill>
                <a:srgbClr val="000001"/>
              </a:solidFill>
              <a:prstDash val="solid"/>
              <a:miter/>
            </a:ln>
          </p:spPr>
        </p:sp>
        <p:sp>
          <p:nvSpPr>
            <p:cNvPr name="TextBox 8" id="8"/>
            <p:cNvSpPr txBox="true"/>
            <p:nvPr/>
          </p:nvSpPr>
          <p:spPr>
            <a:xfrm>
              <a:off x="0" y="-19050"/>
              <a:ext cx="2508642" cy="1373717"/>
            </a:xfrm>
            <a:prstGeom prst="rect">
              <a:avLst/>
            </a:prstGeom>
          </p:spPr>
          <p:txBody>
            <a:bodyPr anchor="ctr" rtlCol="false" tIns="254000" lIns="254000" bIns="254000" rIns="254000"/>
            <a:lstStyle/>
            <a:p>
              <a:pPr algn="l" marL="0" indent="0" lvl="0">
                <a:lnSpc>
                  <a:spcPts val="3600"/>
                </a:lnSpc>
                <a:spcBef>
                  <a:spcPct val="0"/>
                </a:spcBef>
              </a:pPr>
            </a:p>
          </p:txBody>
        </p:sp>
      </p:grpSp>
      <p:grpSp>
        <p:nvGrpSpPr>
          <p:cNvPr name="Group 9" id="9"/>
          <p:cNvGrpSpPr/>
          <p:nvPr/>
        </p:nvGrpSpPr>
        <p:grpSpPr>
          <a:xfrm rot="0">
            <a:off x="1524000" y="1143000"/>
            <a:ext cx="9525000" cy="3238500"/>
            <a:chOff x="0" y="0"/>
            <a:chExt cx="2508642" cy="852938"/>
          </a:xfrm>
        </p:grpSpPr>
        <p:sp>
          <p:nvSpPr>
            <p:cNvPr name="Freeform 10" id="10"/>
            <p:cNvSpPr/>
            <p:nvPr/>
          </p:nvSpPr>
          <p:spPr>
            <a:xfrm flipH="false" flipV="false" rot="0">
              <a:off x="0" y="0"/>
              <a:ext cx="2508642" cy="852938"/>
            </a:xfrm>
            <a:custGeom>
              <a:avLst/>
              <a:gdLst/>
              <a:ahLst/>
              <a:cxnLst/>
              <a:rect r="r" b="b" t="t" l="l"/>
              <a:pathLst>
                <a:path h="852938" w="2508642">
                  <a:moveTo>
                    <a:pt x="0" y="0"/>
                  </a:moveTo>
                  <a:lnTo>
                    <a:pt x="2508642" y="0"/>
                  </a:lnTo>
                  <a:lnTo>
                    <a:pt x="2508642" y="852938"/>
                  </a:lnTo>
                  <a:lnTo>
                    <a:pt x="0" y="852938"/>
                  </a:lnTo>
                  <a:close/>
                </a:path>
              </a:pathLst>
            </a:custGeom>
            <a:solidFill>
              <a:srgbClr val="000001"/>
            </a:solidFill>
            <a:ln cap="sq">
              <a:noFill/>
              <a:prstDash val="solid"/>
              <a:miter/>
            </a:ln>
          </p:spPr>
        </p:sp>
        <p:sp>
          <p:nvSpPr>
            <p:cNvPr name="TextBox 11" id="11"/>
            <p:cNvSpPr txBox="true"/>
            <p:nvPr/>
          </p:nvSpPr>
          <p:spPr>
            <a:xfrm>
              <a:off x="0" y="38100"/>
              <a:ext cx="2508642" cy="814838"/>
            </a:xfrm>
            <a:prstGeom prst="rect">
              <a:avLst/>
            </a:prstGeom>
          </p:spPr>
          <p:txBody>
            <a:bodyPr anchor="ctr" rtlCol="false" tIns="254000" lIns="254000" bIns="254000" rIns="25400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GENETIC MODIFICATION</a:t>
              </a:r>
            </a:p>
          </p:txBody>
        </p:sp>
      </p:grpSp>
      <p:grpSp>
        <p:nvGrpSpPr>
          <p:cNvPr name="Group 12" id="12"/>
          <p:cNvGrpSpPr/>
          <p:nvPr/>
        </p:nvGrpSpPr>
        <p:grpSpPr>
          <a:xfrm rot="0">
            <a:off x="1369219" y="590613"/>
            <a:ext cx="9525000" cy="3657473"/>
            <a:chOff x="0" y="0"/>
            <a:chExt cx="12700000" cy="4876631"/>
          </a:xfrm>
        </p:grpSpPr>
        <p:grpSp>
          <p:nvGrpSpPr>
            <p:cNvPr name="Group 13" id="13"/>
            <p:cNvGrpSpPr/>
            <p:nvPr/>
          </p:nvGrpSpPr>
          <p:grpSpPr>
            <a:xfrm rot="0">
              <a:off x="0" y="2260610"/>
              <a:ext cx="12700000" cy="2616021"/>
              <a:chOff x="0" y="0"/>
              <a:chExt cx="2508642" cy="516745"/>
            </a:xfrm>
          </p:grpSpPr>
          <p:sp>
            <p:nvSpPr>
              <p:cNvPr name="Freeform 14" id="14"/>
              <p:cNvSpPr/>
              <p:nvPr/>
            </p:nvSpPr>
            <p:spPr>
              <a:xfrm flipH="false" flipV="false" rot="0">
                <a:off x="0" y="0"/>
                <a:ext cx="2508642" cy="516745"/>
              </a:xfrm>
              <a:custGeom>
                <a:avLst/>
                <a:gdLst/>
                <a:ahLst/>
                <a:cxnLst/>
                <a:rect r="r" b="b" t="t" l="l"/>
                <a:pathLst>
                  <a:path h="516745" w="2508642">
                    <a:moveTo>
                      <a:pt x="0" y="0"/>
                    </a:moveTo>
                    <a:lnTo>
                      <a:pt x="2508642" y="0"/>
                    </a:lnTo>
                    <a:lnTo>
                      <a:pt x="2508642" y="516745"/>
                    </a:lnTo>
                    <a:lnTo>
                      <a:pt x="0" y="516745"/>
                    </a:lnTo>
                    <a:close/>
                  </a:path>
                </a:pathLst>
              </a:custGeom>
              <a:solidFill>
                <a:srgbClr val="FFFFFF"/>
              </a:solidFill>
              <a:ln w="66675" cap="sq">
                <a:solidFill>
                  <a:srgbClr val="000001"/>
                </a:solidFill>
                <a:prstDash val="solid"/>
                <a:miter/>
              </a:ln>
            </p:spPr>
          </p:sp>
          <p:sp>
            <p:nvSpPr>
              <p:cNvPr name="TextBox 15" id="15"/>
              <p:cNvSpPr txBox="true"/>
              <p:nvPr/>
            </p:nvSpPr>
            <p:spPr>
              <a:xfrm>
                <a:off x="0" y="-9525"/>
                <a:ext cx="2508642" cy="526270"/>
              </a:xfrm>
              <a:prstGeom prst="rect">
                <a:avLst/>
              </a:prstGeom>
            </p:spPr>
            <p:txBody>
              <a:bodyPr anchor="ctr" rtlCol="false" tIns="254000" lIns="254000" bIns="254000" rIns="254000"/>
              <a:lstStyle/>
              <a:p>
                <a:pPr algn="l" marL="0" indent="0" lvl="0">
                  <a:lnSpc>
                    <a:spcPts val="3240"/>
                  </a:lnSpc>
                  <a:spcBef>
                    <a:spcPct val="0"/>
                  </a:spcBef>
                </a:pPr>
                <a:r>
                  <a:rPr lang="en-US" b="true" sz="2700" spc="-13">
                    <a:solidFill>
                      <a:srgbClr val="000001"/>
                    </a:solidFill>
                    <a:latin typeface="Barlow SemiCondensed Bold"/>
                    <a:ea typeface="Barlow SemiCondensed Bold"/>
                    <a:cs typeface="Barlow SemiCondensed Bold"/>
                    <a:sym typeface="Barlow SemiCondensed Bold"/>
                  </a:rPr>
                  <a:t>Korea </a:t>
                </a:r>
                <a:r>
                  <a:rPr lang="en-US" sz="2700" spc="-13">
                    <a:solidFill>
                      <a:srgbClr val="000001"/>
                    </a:solidFill>
                    <a:latin typeface="Barlow SemiCondensed"/>
                    <a:ea typeface="Barlow SemiCondensed"/>
                    <a:cs typeface="Barlow SemiCondensed"/>
                    <a:sym typeface="Barlow SemiCondensed"/>
                  </a:rPr>
                  <a:t>even if is a small, homogenous country but if you observe closely, there are actually some minor differences in genes between people from the north, south, and the islands like Jeju. </a:t>
                </a:r>
              </a:p>
            </p:txBody>
          </p:sp>
        </p:grpSp>
        <p:grpSp>
          <p:nvGrpSpPr>
            <p:cNvPr name="Group 16" id="16"/>
            <p:cNvGrpSpPr/>
            <p:nvPr/>
          </p:nvGrpSpPr>
          <p:grpSpPr>
            <a:xfrm rot="0">
              <a:off x="0" y="0"/>
              <a:ext cx="12700000" cy="2260610"/>
              <a:chOff x="0" y="0"/>
              <a:chExt cx="2508642" cy="446540"/>
            </a:xfrm>
          </p:grpSpPr>
          <p:sp>
            <p:nvSpPr>
              <p:cNvPr name="Freeform 17" id="17"/>
              <p:cNvSpPr/>
              <p:nvPr/>
            </p:nvSpPr>
            <p:spPr>
              <a:xfrm flipH="false" flipV="false" rot="0">
                <a:off x="0" y="0"/>
                <a:ext cx="2508642" cy="446540"/>
              </a:xfrm>
              <a:custGeom>
                <a:avLst/>
                <a:gdLst/>
                <a:ahLst/>
                <a:cxnLst/>
                <a:rect r="r" b="b" t="t" l="l"/>
                <a:pathLst>
                  <a:path h="446540" w="2508642">
                    <a:moveTo>
                      <a:pt x="0" y="0"/>
                    </a:moveTo>
                    <a:lnTo>
                      <a:pt x="2508642" y="0"/>
                    </a:lnTo>
                    <a:lnTo>
                      <a:pt x="2508642" y="446540"/>
                    </a:lnTo>
                    <a:lnTo>
                      <a:pt x="0" y="446540"/>
                    </a:lnTo>
                    <a:close/>
                  </a:path>
                </a:pathLst>
              </a:custGeom>
              <a:solidFill>
                <a:srgbClr val="CDE8E8"/>
              </a:solidFill>
              <a:ln w="66675" cap="sq">
                <a:solidFill>
                  <a:srgbClr val="000001"/>
                </a:solidFill>
                <a:prstDash val="solid"/>
                <a:miter/>
              </a:ln>
            </p:spPr>
          </p:sp>
          <p:sp>
            <p:nvSpPr>
              <p:cNvPr name="TextBox 18" id="18"/>
              <p:cNvSpPr txBox="true"/>
              <p:nvPr/>
            </p:nvSpPr>
            <p:spPr>
              <a:xfrm>
                <a:off x="0" y="38100"/>
                <a:ext cx="2508642" cy="408440"/>
              </a:xfrm>
              <a:prstGeom prst="rect">
                <a:avLst/>
              </a:prstGeom>
            </p:spPr>
            <p:txBody>
              <a:bodyPr anchor="ctr" rtlCol="false" tIns="254000" lIns="254000" bIns="254000" rIns="25400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KOREAN GENETIC POOL</a:t>
                </a:r>
              </a:p>
            </p:txBody>
          </p:sp>
        </p:grpSp>
      </p:grpSp>
      <p:grpSp>
        <p:nvGrpSpPr>
          <p:cNvPr name="Group 19" id="19"/>
          <p:cNvGrpSpPr/>
          <p:nvPr/>
        </p:nvGrpSpPr>
        <p:grpSpPr>
          <a:xfrm rot="0">
            <a:off x="1188244" y="800100"/>
            <a:ext cx="361950" cy="36195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1" id="21"/>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2" id="22"/>
          <p:cNvGrpSpPr/>
          <p:nvPr/>
        </p:nvGrpSpPr>
        <p:grpSpPr>
          <a:xfrm rot="0">
            <a:off x="10641806" y="800100"/>
            <a:ext cx="361950" cy="36195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4" id="2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5" id="25"/>
          <p:cNvGrpSpPr/>
          <p:nvPr/>
        </p:nvGrpSpPr>
        <p:grpSpPr>
          <a:xfrm rot="0">
            <a:off x="1188244" y="2419350"/>
            <a:ext cx="361950" cy="36195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7" id="2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8" id="28"/>
          <p:cNvGrpSpPr/>
          <p:nvPr/>
        </p:nvGrpSpPr>
        <p:grpSpPr>
          <a:xfrm rot="0">
            <a:off x="10641806" y="2419350"/>
            <a:ext cx="361950" cy="361950"/>
            <a:chOff x="0" y="0"/>
            <a:chExt cx="731520" cy="731520"/>
          </a:xfrm>
        </p:grpSpPr>
        <p:sp>
          <p:nvSpPr>
            <p:cNvPr name="Freeform 29" id="2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0" id="3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TextBox 31" id="31"/>
          <p:cNvSpPr txBox="true"/>
          <p:nvPr/>
        </p:nvSpPr>
        <p:spPr>
          <a:xfrm rot="0">
            <a:off x="2095500" y="4362129"/>
            <a:ext cx="9334500" cy="4972371"/>
          </a:xfrm>
          <a:prstGeom prst="rect">
            <a:avLst/>
          </a:prstGeom>
        </p:spPr>
        <p:txBody>
          <a:bodyPr anchor="t" rtlCol="false" tIns="0" lIns="0" bIns="0" rIns="0">
            <a:spAutoFit/>
          </a:bodyPr>
          <a:lstStyle/>
          <a:p>
            <a:pPr algn="l">
              <a:lnSpc>
                <a:spcPts val="2004"/>
              </a:lnSpc>
            </a:pPr>
            <a:r>
              <a:rPr lang="en-US" sz="1670" spc="-8" b="true">
                <a:solidFill>
                  <a:srgbClr val="000001"/>
                </a:solidFill>
                <a:latin typeface="Barlow SemiCondensed Bold"/>
                <a:ea typeface="Barlow SemiCondensed Bold"/>
                <a:cs typeface="Barlow SemiCondensed Bold"/>
                <a:sym typeface="Barlow SemiCondensed Bold"/>
              </a:rPr>
              <a:t>1.Jeju Island (Haenyeo) Genetic and Physiological Adaptation</a:t>
            </a:r>
          </a:p>
          <a:p>
            <a:pPr algn="l">
              <a:lnSpc>
                <a:spcPts val="2004"/>
              </a:lnSpc>
            </a:pPr>
            <a:r>
              <a:rPr lang="en-US" sz="1670" spc="-8">
                <a:solidFill>
                  <a:srgbClr val="000001"/>
                </a:solidFill>
                <a:latin typeface="Barlow SemiCondensed"/>
                <a:ea typeface="Barlow SemiCondensed"/>
                <a:cs typeface="Barlow SemiCondensed"/>
                <a:sym typeface="Barlow SemiCondensed"/>
              </a:rPr>
              <a:t> On Jeju Island, female divers known as Haenyeo traditionally perform repeated cold-water diving. Studies report a gene variant linked to cold-tolerance physiology found in ~33% of Jeju residents, compared to ~7% among mainland women. Physiological tests also show stronger heart-rate reduction during cold water exposure (~18.8 beats/min) than non-diving island residents (~12.6 beats/min). This suggests an advantageous adaptation contributing to improved performance in cold, breath-holding conditions. </a:t>
            </a:r>
          </a:p>
          <a:p>
            <a:pPr algn="l">
              <a:lnSpc>
                <a:spcPts val="2004"/>
              </a:lnSpc>
            </a:pPr>
            <a:r>
              <a:rPr lang="en-US" sz="1670" spc="-8" b="true">
                <a:solidFill>
                  <a:srgbClr val="000001"/>
                </a:solidFill>
                <a:latin typeface="Barlow SemiCondensed Bold"/>
                <a:ea typeface="Barlow SemiCondensed Bold"/>
                <a:cs typeface="Barlow SemiCondensed Bold"/>
                <a:sym typeface="Barlow SemiCondensed Bold"/>
              </a:rPr>
              <a:t>2.Alcohol Flushing (ALDH2 Gene) </a:t>
            </a:r>
          </a:p>
          <a:p>
            <a:pPr algn="l">
              <a:lnSpc>
                <a:spcPts val="2004"/>
              </a:lnSpc>
            </a:pPr>
            <a:r>
              <a:rPr lang="en-US" sz="1670" spc="-8">
                <a:solidFill>
                  <a:srgbClr val="000001"/>
                </a:solidFill>
                <a:latin typeface="Barlow SemiCondensed"/>
                <a:ea typeface="Barlow SemiCondensed"/>
                <a:cs typeface="Barlow SemiCondensed"/>
                <a:sym typeface="Barlow SemiCondensed"/>
              </a:rPr>
              <a:t>Koreans tend to develop a red face, nausea, or racing heartbeats after alcohol consumption, due to this gene. It’s quite common in here. Basically, the body breaks down alcohol slower and that’s why people experience such symptoms. It’s interesting because since developed, people avoid drinking too much or too often thus working as a biological warning. However, people with this gene deficiency are at a high risk of esophageal, liver and stomach cancer.</a:t>
            </a:r>
          </a:p>
          <a:p>
            <a:pPr algn="l">
              <a:lnSpc>
                <a:spcPts val="2004"/>
              </a:lnSpc>
            </a:pPr>
            <a:r>
              <a:rPr lang="en-US" sz="1670" spc="-8" b="true">
                <a:solidFill>
                  <a:srgbClr val="000001"/>
                </a:solidFill>
                <a:latin typeface="Barlow SemiCondensed Bold"/>
                <a:ea typeface="Barlow SemiCondensed Bold"/>
                <a:cs typeface="Barlow SemiCondensed Bold"/>
                <a:sym typeface="Barlow SemiCondensed Bold"/>
              </a:rPr>
              <a:t>3.MYBPC3 Gene (Heart Health) </a:t>
            </a:r>
          </a:p>
          <a:p>
            <a:pPr algn="l">
              <a:lnSpc>
                <a:spcPts val="2004"/>
              </a:lnSpc>
            </a:pPr>
            <a:r>
              <a:rPr lang="en-US" sz="1670" spc="-8">
                <a:solidFill>
                  <a:srgbClr val="000001"/>
                </a:solidFill>
                <a:latin typeface="Barlow SemiCondensed"/>
                <a:ea typeface="Barlow SemiCondensed"/>
                <a:cs typeface="Barlow SemiCondensed"/>
                <a:sym typeface="Barlow SemiCondensed"/>
              </a:rPr>
              <a:t> When this gene mutates, the heart muscle can become extremely thick or weak, causing diseases like Hypertrophic Cardiomyopathy (HCM) that is where the heart walls grow abnormally and make it harder for the heart to pump blood. In Koreans, changes in the MYBPC3 gene are very common and are one of the main reasons for heart muscle disease.</a:t>
            </a:r>
          </a:p>
          <a:p>
            <a:pPr algn="l">
              <a:lnSpc>
                <a:spcPts val="2004"/>
              </a:lnSpc>
            </a:pPr>
            <a:r>
              <a:rPr lang="en-US" sz="1670" spc="-8">
                <a:solidFill>
                  <a:srgbClr val="000001"/>
                </a:solidFill>
                <a:latin typeface="Barlow SemiCondensed"/>
                <a:ea typeface="Barlow SemiCondensed"/>
                <a:cs typeface="Barlow SemiCondensed"/>
                <a:sym typeface="Barlow SemiCondensed"/>
              </a:rPr>
              <a:t> These changes can run in families, and some people may have mild symptoms while others may have serious heart problems or even sudden heart failure.</a:t>
            </a:r>
          </a:p>
          <a:p>
            <a:pPr algn="l">
              <a:lnSpc>
                <a:spcPts val="2087"/>
              </a:lnSpc>
            </a:pPr>
          </a:p>
        </p:txBody>
      </p:sp>
      <p:sp>
        <p:nvSpPr>
          <p:cNvPr name="Freeform 32" id="32"/>
          <p:cNvSpPr/>
          <p:nvPr/>
        </p:nvSpPr>
        <p:spPr>
          <a:xfrm flipH="false" flipV="false" rot="0">
            <a:off x="11620500" y="554165"/>
            <a:ext cx="6288674" cy="6822098"/>
          </a:xfrm>
          <a:custGeom>
            <a:avLst/>
            <a:gdLst/>
            <a:ahLst/>
            <a:cxnLst/>
            <a:rect r="r" b="b" t="t" l="l"/>
            <a:pathLst>
              <a:path h="6822098" w="6288674">
                <a:moveTo>
                  <a:pt x="0" y="0"/>
                </a:moveTo>
                <a:lnTo>
                  <a:pt x="6288674" y="0"/>
                </a:lnTo>
                <a:lnTo>
                  <a:pt x="6288674" y="6822098"/>
                </a:lnTo>
                <a:lnTo>
                  <a:pt x="0" y="6822098"/>
                </a:lnTo>
                <a:lnTo>
                  <a:pt x="0" y="0"/>
                </a:lnTo>
                <a:close/>
              </a:path>
            </a:pathLst>
          </a:custGeom>
          <a:blipFill>
            <a:blip r:embed="rId4"/>
            <a:stretch>
              <a:fillRect l="0" t="-788" r="0" b="-788"/>
            </a:stretch>
          </a:blipFill>
        </p:spPr>
      </p:sp>
      <p:sp>
        <p:nvSpPr>
          <p:cNvPr name="Freeform 33" id="33"/>
          <p:cNvSpPr/>
          <p:nvPr/>
        </p:nvSpPr>
        <p:spPr>
          <a:xfrm flipH="false" flipV="false" rot="0">
            <a:off x="163873" y="6953250"/>
            <a:ext cx="2048741" cy="3333750"/>
          </a:xfrm>
          <a:custGeom>
            <a:avLst/>
            <a:gdLst/>
            <a:ahLst/>
            <a:cxnLst/>
            <a:rect r="r" b="b" t="t" l="l"/>
            <a:pathLst>
              <a:path h="3333750" w="2048741">
                <a:moveTo>
                  <a:pt x="0" y="0"/>
                </a:moveTo>
                <a:lnTo>
                  <a:pt x="2048741" y="0"/>
                </a:lnTo>
                <a:lnTo>
                  <a:pt x="2048741" y="3333750"/>
                </a:lnTo>
                <a:lnTo>
                  <a:pt x="0" y="3333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4" id="34"/>
          <p:cNvSpPr/>
          <p:nvPr/>
        </p:nvSpPr>
        <p:spPr>
          <a:xfrm flipH="false" flipV="false" rot="0">
            <a:off x="15798772" y="4483921"/>
            <a:ext cx="2489228" cy="5784683"/>
          </a:xfrm>
          <a:custGeom>
            <a:avLst/>
            <a:gdLst/>
            <a:ahLst/>
            <a:cxnLst/>
            <a:rect r="r" b="b" t="t" l="l"/>
            <a:pathLst>
              <a:path h="5784683" w="2489228">
                <a:moveTo>
                  <a:pt x="0" y="0"/>
                </a:moveTo>
                <a:lnTo>
                  <a:pt x="2489228" y="0"/>
                </a:lnTo>
                <a:lnTo>
                  <a:pt x="2489228" y="5784683"/>
                </a:lnTo>
                <a:lnTo>
                  <a:pt x="0" y="57846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grpSp>
        <p:nvGrpSpPr>
          <p:cNvPr name="Group 3" id="3"/>
          <p:cNvGrpSpPr/>
          <p:nvPr/>
        </p:nvGrpSpPr>
        <p:grpSpPr>
          <a:xfrm rot="0">
            <a:off x="9715500" y="4572000"/>
            <a:ext cx="7429500" cy="4953000"/>
            <a:chOff x="0" y="0"/>
            <a:chExt cx="1956741" cy="1304494"/>
          </a:xfrm>
        </p:grpSpPr>
        <p:sp>
          <p:nvSpPr>
            <p:cNvPr name="Freeform 4" id="4"/>
            <p:cNvSpPr/>
            <p:nvPr/>
          </p:nvSpPr>
          <p:spPr>
            <a:xfrm flipH="false" flipV="false" rot="0">
              <a:off x="0" y="0"/>
              <a:ext cx="1956741" cy="1304494"/>
            </a:xfrm>
            <a:custGeom>
              <a:avLst/>
              <a:gdLst/>
              <a:ahLst/>
              <a:cxnLst/>
              <a:rect r="r" b="b" t="t" l="l"/>
              <a:pathLst>
                <a:path h="1304494" w="1956741">
                  <a:moveTo>
                    <a:pt x="0" y="0"/>
                  </a:moveTo>
                  <a:lnTo>
                    <a:pt x="1956741" y="0"/>
                  </a:lnTo>
                  <a:lnTo>
                    <a:pt x="1956741" y="1304494"/>
                  </a:lnTo>
                  <a:lnTo>
                    <a:pt x="0" y="1304494"/>
                  </a:lnTo>
                  <a:close/>
                </a:path>
              </a:pathLst>
            </a:custGeom>
            <a:solidFill>
              <a:srgbClr val="000000"/>
            </a:solidFill>
            <a:ln cap="sq">
              <a:noFill/>
              <a:prstDash val="solid"/>
              <a:miter/>
            </a:ln>
          </p:spPr>
        </p:sp>
        <p:sp>
          <p:nvSpPr>
            <p:cNvPr name="TextBox 5" id="5"/>
            <p:cNvSpPr txBox="true"/>
            <p:nvPr/>
          </p:nvSpPr>
          <p:spPr>
            <a:xfrm>
              <a:off x="0" y="38100"/>
              <a:ext cx="1956741" cy="1266394"/>
            </a:xfrm>
            <a:prstGeom prst="rect">
              <a:avLst/>
            </a:prstGeom>
          </p:spPr>
          <p:txBody>
            <a:bodyPr anchor="b" rtlCol="false" tIns="254000" lIns="254000" bIns="254000" rIns="254000"/>
            <a:lstStyle/>
            <a:p>
              <a:pPr algn="ctr" marL="0" indent="0" lvl="0">
                <a:lnSpc>
                  <a:spcPts val="6600"/>
                </a:lnSpc>
                <a:spcBef>
                  <a:spcPct val="0"/>
                </a:spcBef>
              </a:pPr>
            </a:p>
          </p:txBody>
        </p:sp>
      </p:grpSp>
      <p:sp>
        <p:nvSpPr>
          <p:cNvPr name="Freeform 6" id="6"/>
          <p:cNvSpPr/>
          <p:nvPr/>
        </p:nvSpPr>
        <p:spPr>
          <a:xfrm flipH="false" flipV="false" rot="0">
            <a:off x="7249399" y="7827831"/>
            <a:ext cx="2036602" cy="1697169"/>
          </a:xfrm>
          <a:custGeom>
            <a:avLst/>
            <a:gdLst/>
            <a:ahLst/>
            <a:cxnLst/>
            <a:rect r="r" b="b" t="t" l="l"/>
            <a:pathLst>
              <a:path h="1697169" w="2036602">
                <a:moveTo>
                  <a:pt x="0" y="0"/>
                </a:moveTo>
                <a:lnTo>
                  <a:pt x="2036602" y="0"/>
                </a:lnTo>
                <a:lnTo>
                  <a:pt x="2036602" y="1697169"/>
                </a:lnTo>
                <a:lnTo>
                  <a:pt x="0" y="1697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9525000" y="4381500"/>
            <a:ext cx="7429500" cy="4953000"/>
            <a:chOff x="0" y="0"/>
            <a:chExt cx="1956741" cy="1304494"/>
          </a:xfrm>
        </p:grpSpPr>
        <p:sp>
          <p:nvSpPr>
            <p:cNvPr name="Freeform 8" id="8"/>
            <p:cNvSpPr/>
            <p:nvPr/>
          </p:nvSpPr>
          <p:spPr>
            <a:xfrm flipH="false" flipV="false" rot="0">
              <a:off x="0" y="0"/>
              <a:ext cx="1956741" cy="1304494"/>
            </a:xfrm>
            <a:custGeom>
              <a:avLst/>
              <a:gdLst/>
              <a:ahLst/>
              <a:cxnLst/>
              <a:rect r="r" b="b" t="t" l="l"/>
              <a:pathLst>
                <a:path h="1304494" w="1956741">
                  <a:moveTo>
                    <a:pt x="0" y="0"/>
                  </a:moveTo>
                  <a:lnTo>
                    <a:pt x="1956741" y="0"/>
                  </a:lnTo>
                  <a:lnTo>
                    <a:pt x="1956741" y="1304494"/>
                  </a:lnTo>
                  <a:lnTo>
                    <a:pt x="0" y="1304494"/>
                  </a:lnTo>
                  <a:close/>
                </a:path>
              </a:pathLst>
            </a:custGeom>
            <a:solidFill>
              <a:srgbClr val="CDE8E8"/>
            </a:solidFill>
            <a:ln w="66675" cap="sq">
              <a:solidFill>
                <a:srgbClr val="000001"/>
              </a:solidFill>
              <a:prstDash val="solid"/>
              <a:miter/>
            </a:ln>
          </p:spPr>
        </p:sp>
        <p:sp>
          <p:nvSpPr>
            <p:cNvPr name="TextBox 9" id="9"/>
            <p:cNvSpPr txBox="true"/>
            <p:nvPr/>
          </p:nvSpPr>
          <p:spPr>
            <a:xfrm>
              <a:off x="0" y="-19050"/>
              <a:ext cx="1956741" cy="1323544"/>
            </a:xfrm>
            <a:prstGeom prst="rect">
              <a:avLst/>
            </a:prstGeom>
          </p:spPr>
          <p:txBody>
            <a:bodyPr anchor="b" rtlCol="false" tIns="254000" lIns="254000" bIns="254000" rIns="254000"/>
            <a:lstStyle/>
            <a:p>
              <a:pPr algn="l" marL="0" indent="0" lvl="0">
                <a:lnSpc>
                  <a:spcPts val="3600"/>
                </a:lnSpc>
                <a:spcBef>
                  <a:spcPct val="0"/>
                </a:spcBef>
              </a:pPr>
            </a:p>
            <a:p>
              <a:pPr algn="l" marL="0" indent="0" lvl="0">
                <a:lnSpc>
                  <a:spcPts val="3600"/>
                </a:lnSpc>
                <a:spcBef>
                  <a:spcPct val="0"/>
                </a:spcBef>
              </a:pPr>
            </a:p>
            <a:p>
              <a:pPr algn="l" marL="0" indent="0" lvl="0">
                <a:lnSpc>
                  <a:spcPts val="3600"/>
                </a:lnSpc>
                <a:spcBef>
                  <a:spcPct val="0"/>
                </a:spcBef>
              </a:pPr>
            </a:p>
            <a:p>
              <a:pPr algn="l" marL="0" indent="0" lvl="0">
                <a:lnSpc>
                  <a:spcPts val="3600"/>
                </a:lnSpc>
                <a:spcBef>
                  <a:spcPct val="0"/>
                </a:spcBef>
              </a:pPr>
            </a:p>
            <a:p>
              <a:pPr algn="l" marL="0" indent="0" lvl="0">
                <a:lnSpc>
                  <a:spcPts val="3600"/>
                </a:lnSpc>
                <a:spcBef>
                  <a:spcPct val="0"/>
                </a:spcBef>
              </a:pPr>
            </a:p>
          </p:txBody>
        </p:sp>
      </p:grpSp>
      <p:grpSp>
        <p:nvGrpSpPr>
          <p:cNvPr name="Group 10" id="10"/>
          <p:cNvGrpSpPr/>
          <p:nvPr/>
        </p:nvGrpSpPr>
        <p:grpSpPr>
          <a:xfrm rot="0">
            <a:off x="1524000" y="4572000"/>
            <a:ext cx="7429500" cy="4953000"/>
            <a:chOff x="0" y="0"/>
            <a:chExt cx="1956741" cy="1304494"/>
          </a:xfrm>
        </p:grpSpPr>
        <p:sp>
          <p:nvSpPr>
            <p:cNvPr name="Freeform 11" id="11"/>
            <p:cNvSpPr/>
            <p:nvPr/>
          </p:nvSpPr>
          <p:spPr>
            <a:xfrm flipH="false" flipV="false" rot="0">
              <a:off x="0" y="0"/>
              <a:ext cx="1956741" cy="1304494"/>
            </a:xfrm>
            <a:custGeom>
              <a:avLst/>
              <a:gdLst/>
              <a:ahLst/>
              <a:cxnLst/>
              <a:rect r="r" b="b" t="t" l="l"/>
              <a:pathLst>
                <a:path h="1304494" w="1956741">
                  <a:moveTo>
                    <a:pt x="0" y="0"/>
                  </a:moveTo>
                  <a:lnTo>
                    <a:pt x="1956741" y="0"/>
                  </a:lnTo>
                  <a:lnTo>
                    <a:pt x="1956741" y="1304494"/>
                  </a:lnTo>
                  <a:lnTo>
                    <a:pt x="0" y="1304494"/>
                  </a:lnTo>
                  <a:close/>
                </a:path>
              </a:pathLst>
            </a:custGeom>
            <a:solidFill>
              <a:srgbClr val="000000"/>
            </a:solidFill>
            <a:ln cap="sq">
              <a:noFill/>
              <a:prstDash val="solid"/>
              <a:miter/>
            </a:ln>
          </p:spPr>
        </p:sp>
        <p:sp>
          <p:nvSpPr>
            <p:cNvPr name="TextBox 12" id="12"/>
            <p:cNvSpPr txBox="true"/>
            <p:nvPr/>
          </p:nvSpPr>
          <p:spPr>
            <a:xfrm>
              <a:off x="0" y="38100"/>
              <a:ext cx="1956741" cy="1266394"/>
            </a:xfrm>
            <a:prstGeom prst="rect">
              <a:avLst/>
            </a:prstGeom>
          </p:spPr>
          <p:txBody>
            <a:bodyPr anchor="b" rtlCol="false" tIns="254000" lIns="254000" bIns="254000" rIns="254000"/>
            <a:lstStyle/>
            <a:p>
              <a:pPr algn="ctr" marL="0" indent="0" lvl="0">
                <a:lnSpc>
                  <a:spcPts val="6600"/>
                </a:lnSpc>
                <a:spcBef>
                  <a:spcPct val="0"/>
                </a:spcBef>
              </a:pPr>
            </a:p>
          </p:txBody>
        </p:sp>
      </p:grpSp>
      <p:grpSp>
        <p:nvGrpSpPr>
          <p:cNvPr name="Group 13" id="13"/>
          <p:cNvGrpSpPr/>
          <p:nvPr/>
        </p:nvGrpSpPr>
        <p:grpSpPr>
          <a:xfrm rot="0">
            <a:off x="1524000" y="1143000"/>
            <a:ext cx="15621000" cy="2876550"/>
            <a:chOff x="0" y="0"/>
            <a:chExt cx="4114173" cy="757610"/>
          </a:xfrm>
        </p:grpSpPr>
        <p:sp>
          <p:nvSpPr>
            <p:cNvPr name="Freeform 14" id="14"/>
            <p:cNvSpPr/>
            <p:nvPr/>
          </p:nvSpPr>
          <p:spPr>
            <a:xfrm flipH="false" flipV="false" rot="0">
              <a:off x="0" y="0"/>
              <a:ext cx="4114173" cy="757610"/>
            </a:xfrm>
            <a:custGeom>
              <a:avLst/>
              <a:gdLst/>
              <a:ahLst/>
              <a:cxnLst/>
              <a:rect r="r" b="b" t="t" l="l"/>
              <a:pathLst>
                <a:path h="757610" w="4114173">
                  <a:moveTo>
                    <a:pt x="0" y="0"/>
                  </a:moveTo>
                  <a:lnTo>
                    <a:pt x="4114173" y="0"/>
                  </a:lnTo>
                  <a:lnTo>
                    <a:pt x="4114173" y="757610"/>
                  </a:lnTo>
                  <a:lnTo>
                    <a:pt x="0" y="757610"/>
                  </a:lnTo>
                  <a:close/>
                </a:path>
              </a:pathLst>
            </a:custGeom>
            <a:solidFill>
              <a:srgbClr val="000001"/>
            </a:solidFill>
            <a:ln cap="sq">
              <a:noFill/>
              <a:prstDash val="solid"/>
              <a:miter/>
            </a:ln>
          </p:spPr>
        </p:sp>
        <p:sp>
          <p:nvSpPr>
            <p:cNvPr name="TextBox 15" id="15"/>
            <p:cNvSpPr txBox="true"/>
            <p:nvPr/>
          </p:nvSpPr>
          <p:spPr>
            <a:xfrm>
              <a:off x="0" y="38100"/>
              <a:ext cx="4114173" cy="719510"/>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6" id="16"/>
          <p:cNvGrpSpPr/>
          <p:nvPr/>
        </p:nvGrpSpPr>
        <p:grpSpPr>
          <a:xfrm rot="0">
            <a:off x="1333500" y="2305050"/>
            <a:ext cx="15621000" cy="1524000"/>
            <a:chOff x="0" y="0"/>
            <a:chExt cx="4114173" cy="401383"/>
          </a:xfrm>
        </p:grpSpPr>
        <p:sp>
          <p:nvSpPr>
            <p:cNvPr name="Freeform 17" id="17"/>
            <p:cNvSpPr/>
            <p:nvPr/>
          </p:nvSpPr>
          <p:spPr>
            <a:xfrm flipH="false" flipV="false" rot="0">
              <a:off x="0" y="0"/>
              <a:ext cx="4114173" cy="401383"/>
            </a:xfrm>
            <a:custGeom>
              <a:avLst/>
              <a:gdLst/>
              <a:ahLst/>
              <a:cxnLst/>
              <a:rect r="r" b="b" t="t" l="l"/>
              <a:pathLst>
                <a:path h="401383" w="4114173">
                  <a:moveTo>
                    <a:pt x="0" y="0"/>
                  </a:moveTo>
                  <a:lnTo>
                    <a:pt x="4114173" y="0"/>
                  </a:lnTo>
                  <a:lnTo>
                    <a:pt x="4114173" y="401383"/>
                  </a:lnTo>
                  <a:lnTo>
                    <a:pt x="0" y="401383"/>
                  </a:lnTo>
                  <a:close/>
                </a:path>
              </a:pathLst>
            </a:custGeom>
            <a:solidFill>
              <a:srgbClr val="FFFFFF"/>
            </a:solidFill>
            <a:ln w="66675" cap="sq">
              <a:solidFill>
                <a:srgbClr val="000001"/>
              </a:solidFill>
              <a:prstDash val="solid"/>
              <a:miter/>
            </a:ln>
          </p:spPr>
        </p:sp>
        <p:sp>
          <p:nvSpPr>
            <p:cNvPr name="TextBox 18" id="18"/>
            <p:cNvSpPr txBox="true"/>
            <p:nvPr/>
          </p:nvSpPr>
          <p:spPr>
            <a:xfrm>
              <a:off x="0" y="-19050"/>
              <a:ext cx="4114173" cy="420433"/>
            </a:xfrm>
            <a:prstGeom prst="rect">
              <a:avLst/>
            </a:prstGeom>
          </p:spPr>
          <p:txBody>
            <a:bodyPr anchor="ctr" rtlCol="false" tIns="228600" lIns="228600" bIns="228600" rIns="228600"/>
            <a:lstStyle/>
            <a:p>
              <a:pPr algn="ctr" marL="0" indent="0" lvl="0">
                <a:lnSpc>
                  <a:spcPts val="3600"/>
                </a:lnSpc>
                <a:spcBef>
                  <a:spcPct val="0"/>
                </a:spcBef>
              </a:pPr>
              <a:r>
                <a:rPr lang="en-US" sz="3000" spc="-15">
                  <a:solidFill>
                    <a:srgbClr val="000001"/>
                  </a:solidFill>
                  <a:latin typeface="Barlow SemiCondensed"/>
                  <a:ea typeface="Barlow SemiCondensed"/>
                  <a:cs typeface="Barlow SemiCondensed"/>
                  <a:sym typeface="Barlow SemiCondensed"/>
                </a:rPr>
                <a:t>These differences come from old migrations, trade, and just how people lived in various areas for thousands of years and modified their bodies internally to adapt to these places. </a:t>
              </a:r>
            </a:p>
          </p:txBody>
        </p:sp>
      </p:grpSp>
      <p:grpSp>
        <p:nvGrpSpPr>
          <p:cNvPr name="Group 19" id="19"/>
          <p:cNvGrpSpPr/>
          <p:nvPr/>
        </p:nvGrpSpPr>
        <p:grpSpPr>
          <a:xfrm rot="0">
            <a:off x="1333500" y="952500"/>
            <a:ext cx="15621000" cy="1409700"/>
            <a:chOff x="0" y="0"/>
            <a:chExt cx="4114173" cy="371279"/>
          </a:xfrm>
        </p:grpSpPr>
        <p:sp>
          <p:nvSpPr>
            <p:cNvPr name="Freeform 20" id="20"/>
            <p:cNvSpPr/>
            <p:nvPr/>
          </p:nvSpPr>
          <p:spPr>
            <a:xfrm flipH="false" flipV="false" rot="0">
              <a:off x="0" y="0"/>
              <a:ext cx="4114173" cy="371279"/>
            </a:xfrm>
            <a:custGeom>
              <a:avLst/>
              <a:gdLst/>
              <a:ahLst/>
              <a:cxnLst/>
              <a:rect r="r" b="b" t="t" l="l"/>
              <a:pathLst>
                <a:path h="371279" w="4114173">
                  <a:moveTo>
                    <a:pt x="0" y="0"/>
                  </a:moveTo>
                  <a:lnTo>
                    <a:pt x="4114173" y="0"/>
                  </a:lnTo>
                  <a:lnTo>
                    <a:pt x="4114173" y="371279"/>
                  </a:lnTo>
                  <a:lnTo>
                    <a:pt x="0" y="371279"/>
                  </a:lnTo>
                  <a:close/>
                </a:path>
              </a:pathLst>
            </a:custGeom>
            <a:solidFill>
              <a:srgbClr val="E5A6F4"/>
            </a:solidFill>
            <a:ln w="66675" cap="sq">
              <a:solidFill>
                <a:srgbClr val="000001"/>
              </a:solidFill>
              <a:prstDash val="solid"/>
              <a:miter/>
            </a:ln>
          </p:spPr>
        </p:sp>
        <p:sp>
          <p:nvSpPr>
            <p:cNvPr name="TextBox 21" id="21"/>
            <p:cNvSpPr txBox="true"/>
            <p:nvPr/>
          </p:nvSpPr>
          <p:spPr>
            <a:xfrm>
              <a:off x="0" y="38100"/>
              <a:ext cx="4114173" cy="333179"/>
            </a:xfrm>
            <a:prstGeom prst="rect">
              <a:avLst/>
            </a:prstGeom>
          </p:spPr>
          <p:txBody>
            <a:bodyPr anchor="ctr" rtlCol="false" tIns="0" lIns="0" bIns="0" rIns="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GENETIC MODIFICATIONS IN KOREA</a:t>
              </a:r>
            </a:p>
          </p:txBody>
        </p:sp>
      </p:grpSp>
      <p:grpSp>
        <p:nvGrpSpPr>
          <p:cNvPr name="Group 22" id="22"/>
          <p:cNvGrpSpPr/>
          <p:nvPr/>
        </p:nvGrpSpPr>
        <p:grpSpPr>
          <a:xfrm rot="0">
            <a:off x="1189434" y="800100"/>
            <a:ext cx="361950" cy="36195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4" id="2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5" id="25"/>
          <p:cNvGrpSpPr/>
          <p:nvPr/>
        </p:nvGrpSpPr>
        <p:grpSpPr>
          <a:xfrm rot="0">
            <a:off x="16736616" y="800100"/>
            <a:ext cx="361950" cy="36195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7" id="2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8" id="28"/>
          <p:cNvGrpSpPr/>
          <p:nvPr/>
        </p:nvGrpSpPr>
        <p:grpSpPr>
          <a:xfrm rot="0">
            <a:off x="1333500" y="4381500"/>
            <a:ext cx="7429500" cy="4953000"/>
            <a:chOff x="0" y="0"/>
            <a:chExt cx="1956741" cy="1304494"/>
          </a:xfrm>
        </p:grpSpPr>
        <p:sp>
          <p:nvSpPr>
            <p:cNvPr name="Freeform 29" id="29"/>
            <p:cNvSpPr/>
            <p:nvPr/>
          </p:nvSpPr>
          <p:spPr>
            <a:xfrm flipH="false" flipV="false" rot="0">
              <a:off x="0" y="0"/>
              <a:ext cx="1956741" cy="1304494"/>
            </a:xfrm>
            <a:custGeom>
              <a:avLst/>
              <a:gdLst/>
              <a:ahLst/>
              <a:cxnLst/>
              <a:rect r="r" b="b" t="t" l="l"/>
              <a:pathLst>
                <a:path h="1304494" w="1956741">
                  <a:moveTo>
                    <a:pt x="0" y="0"/>
                  </a:moveTo>
                  <a:lnTo>
                    <a:pt x="1956741" y="0"/>
                  </a:lnTo>
                  <a:lnTo>
                    <a:pt x="1956741" y="1304494"/>
                  </a:lnTo>
                  <a:lnTo>
                    <a:pt x="0" y="1304494"/>
                  </a:lnTo>
                  <a:close/>
                </a:path>
              </a:pathLst>
            </a:custGeom>
            <a:solidFill>
              <a:srgbClr val="ECEB76"/>
            </a:solidFill>
            <a:ln w="66675" cap="sq">
              <a:solidFill>
                <a:srgbClr val="000001"/>
              </a:solidFill>
              <a:prstDash val="solid"/>
              <a:miter/>
            </a:ln>
          </p:spPr>
        </p:sp>
        <p:sp>
          <p:nvSpPr>
            <p:cNvPr name="TextBox 30" id="30"/>
            <p:cNvSpPr txBox="true"/>
            <p:nvPr/>
          </p:nvSpPr>
          <p:spPr>
            <a:xfrm>
              <a:off x="0" y="-19050"/>
              <a:ext cx="1956741" cy="1323544"/>
            </a:xfrm>
            <a:prstGeom prst="rect">
              <a:avLst/>
            </a:prstGeom>
          </p:spPr>
          <p:txBody>
            <a:bodyPr anchor="b" rtlCol="false" tIns="254000" lIns="254000" bIns="254000" rIns="254000"/>
            <a:lstStyle/>
            <a:p>
              <a:pPr algn="l" marL="0" indent="0" lvl="0">
                <a:lnSpc>
                  <a:spcPts val="3600"/>
                </a:lnSpc>
                <a:spcBef>
                  <a:spcPct val="0"/>
                </a:spcBef>
              </a:pPr>
            </a:p>
          </p:txBody>
        </p:sp>
      </p:grpSp>
      <p:grpSp>
        <p:nvGrpSpPr>
          <p:cNvPr name="Group 31" id="31"/>
          <p:cNvGrpSpPr/>
          <p:nvPr/>
        </p:nvGrpSpPr>
        <p:grpSpPr>
          <a:xfrm rot="0">
            <a:off x="1189434" y="2181225"/>
            <a:ext cx="361950" cy="361950"/>
            <a:chOff x="0" y="0"/>
            <a:chExt cx="731520" cy="731520"/>
          </a:xfrm>
        </p:grpSpPr>
        <p:sp>
          <p:nvSpPr>
            <p:cNvPr name="Freeform 32" id="3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3" id="3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4" id="34"/>
          <p:cNvGrpSpPr/>
          <p:nvPr/>
        </p:nvGrpSpPr>
        <p:grpSpPr>
          <a:xfrm rot="0">
            <a:off x="16736616" y="2181225"/>
            <a:ext cx="361950" cy="36195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6" id="3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Freeform 37" id="37"/>
          <p:cNvSpPr/>
          <p:nvPr/>
        </p:nvSpPr>
        <p:spPr>
          <a:xfrm flipH="false" flipV="false" rot="0">
            <a:off x="1189434" y="4381500"/>
            <a:ext cx="7573566" cy="4876800"/>
          </a:xfrm>
          <a:custGeom>
            <a:avLst/>
            <a:gdLst/>
            <a:ahLst/>
            <a:cxnLst/>
            <a:rect r="r" b="b" t="t" l="l"/>
            <a:pathLst>
              <a:path h="4876800" w="7573566">
                <a:moveTo>
                  <a:pt x="0" y="0"/>
                </a:moveTo>
                <a:lnTo>
                  <a:pt x="7573566" y="0"/>
                </a:lnTo>
                <a:lnTo>
                  <a:pt x="7573566" y="4876800"/>
                </a:lnTo>
                <a:lnTo>
                  <a:pt x="0" y="4876800"/>
                </a:lnTo>
                <a:lnTo>
                  <a:pt x="0" y="0"/>
                </a:lnTo>
                <a:close/>
              </a:path>
            </a:pathLst>
          </a:custGeom>
          <a:blipFill>
            <a:blip r:embed="rId6"/>
            <a:stretch>
              <a:fillRect l="0" t="-709" r="-6116" b="-434"/>
            </a:stretch>
          </a:blipFill>
        </p:spPr>
      </p:sp>
      <p:sp>
        <p:nvSpPr>
          <p:cNvPr name="Freeform 38" id="38"/>
          <p:cNvSpPr/>
          <p:nvPr/>
        </p:nvSpPr>
        <p:spPr>
          <a:xfrm flipH="false" flipV="false" rot="0">
            <a:off x="12656045" y="5038725"/>
            <a:ext cx="5631955" cy="5357397"/>
          </a:xfrm>
          <a:custGeom>
            <a:avLst/>
            <a:gdLst/>
            <a:ahLst/>
            <a:cxnLst/>
            <a:rect r="r" b="b" t="t" l="l"/>
            <a:pathLst>
              <a:path h="5357397" w="5631955">
                <a:moveTo>
                  <a:pt x="0" y="0"/>
                </a:moveTo>
                <a:lnTo>
                  <a:pt x="5631955" y="0"/>
                </a:lnTo>
                <a:lnTo>
                  <a:pt x="5631955" y="5357397"/>
                </a:lnTo>
                <a:lnTo>
                  <a:pt x="0" y="53573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9" id="39"/>
          <p:cNvSpPr/>
          <p:nvPr/>
        </p:nvSpPr>
        <p:spPr>
          <a:xfrm flipH="true" flipV="false" rot="0">
            <a:off x="8119156" y="5400512"/>
            <a:ext cx="5120594" cy="7212105"/>
          </a:xfrm>
          <a:custGeom>
            <a:avLst/>
            <a:gdLst/>
            <a:ahLst/>
            <a:cxnLst/>
            <a:rect r="r" b="b" t="t" l="l"/>
            <a:pathLst>
              <a:path h="7212105" w="5120594">
                <a:moveTo>
                  <a:pt x="5120594" y="0"/>
                </a:moveTo>
                <a:lnTo>
                  <a:pt x="0" y="0"/>
                </a:lnTo>
                <a:lnTo>
                  <a:pt x="0" y="7212105"/>
                </a:lnTo>
                <a:lnTo>
                  <a:pt x="5120594" y="7212105"/>
                </a:lnTo>
                <a:lnTo>
                  <a:pt x="512059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3"/>
            <a:ext cx="19050000" cy="10715625"/>
          </a:xfrm>
          <a:custGeom>
            <a:avLst/>
            <a:gdLst/>
            <a:ahLst/>
            <a:cxnLst/>
            <a:rect r="r" b="b" t="t" l="l"/>
            <a:pathLst>
              <a:path h="10715625" w="19050000">
                <a:moveTo>
                  <a:pt x="0" y="0"/>
                </a:moveTo>
                <a:lnTo>
                  <a:pt x="19050000" y="0"/>
                </a:lnTo>
                <a:lnTo>
                  <a:pt x="19050000" y="10715625"/>
                </a:lnTo>
                <a:lnTo>
                  <a:pt x="0" y="10715625"/>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381000" y="1790700"/>
            <a:ext cx="19050000" cy="8705850"/>
            <a:chOff x="0" y="0"/>
            <a:chExt cx="5017284" cy="2292899"/>
          </a:xfrm>
        </p:grpSpPr>
        <p:sp>
          <p:nvSpPr>
            <p:cNvPr name="Freeform 4" id="4"/>
            <p:cNvSpPr/>
            <p:nvPr/>
          </p:nvSpPr>
          <p:spPr>
            <a:xfrm flipH="false" flipV="false" rot="0">
              <a:off x="0" y="0"/>
              <a:ext cx="5017284" cy="2292899"/>
            </a:xfrm>
            <a:custGeom>
              <a:avLst/>
              <a:gdLst/>
              <a:ahLst/>
              <a:cxnLst/>
              <a:rect r="r" b="b" t="t" l="l"/>
              <a:pathLst>
                <a:path h="2292899" w="5017284">
                  <a:moveTo>
                    <a:pt x="0" y="0"/>
                  </a:moveTo>
                  <a:lnTo>
                    <a:pt x="5017284" y="0"/>
                  </a:lnTo>
                  <a:lnTo>
                    <a:pt x="5017284" y="2292899"/>
                  </a:lnTo>
                  <a:lnTo>
                    <a:pt x="0" y="2292899"/>
                  </a:lnTo>
                  <a:close/>
                </a:path>
              </a:pathLst>
            </a:custGeom>
            <a:solidFill>
              <a:srgbClr val="CDE8E8"/>
            </a:solidFill>
            <a:ln w="66675" cap="sq">
              <a:solidFill>
                <a:srgbClr val="000001"/>
              </a:solidFill>
              <a:prstDash val="solid"/>
              <a:miter/>
            </a:ln>
          </p:spPr>
        </p:sp>
        <p:sp>
          <p:nvSpPr>
            <p:cNvPr name="TextBox 5" id="5"/>
            <p:cNvSpPr txBox="true"/>
            <p:nvPr/>
          </p:nvSpPr>
          <p:spPr>
            <a:xfrm>
              <a:off x="0" y="-19050"/>
              <a:ext cx="5017284" cy="2311949"/>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6" id="6"/>
          <p:cNvGrpSpPr/>
          <p:nvPr/>
        </p:nvGrpSpPr>
        <p:grpSpPr>
          <a:xfrm rot="0">
            <a:off x="2107111" y="3318959"/>
            <a:ext cx="6815699" cy="6206041"/>
            <a:chOff x="0" y="0"/>
            <a:chExt cx="1795081" cy="1634513"/>
          </a:xfrm>
        </p:grpSpPr>
        <p:sp>
          <p:nvSpPr>
            <p:cNvPr name="Freeform 7" id="7"/>
            <p:cNvSpPr/>
            <p:nvPr/>
          </p:nvSpPr>
          <p:spPr>
            <a:xfrm flipH="false" flipV="false" rot="0">
              <a:off x="0" y="0"/>
              <a:ext cx="1795081" cy="1634513"/>
            </a:xfrm>
            <a:custGeom>
              <a:avLst/>
              <a:gdLst/>
              <a:ahLst/>
              <a:cxnLst/>
              <a:rect r="r" b="b" t="t" l="l"/>
              <a:pathLst>
                <a:path h="1634513" w="1795081">
                  <a:moveTo>
                    <a:pt x="0" y="0"/>
                  </a:moveTo>
                  <a:lnTo>
                    <a:pt x="1795081" y="0"/>
                  </a:lnTo>
                  <a:lnTo>
                    <a:pt x="1795081" y="1634513"/>
                  </a:lnTo>
                  <a:lnTo>
                    <a:pt x="0" y="1634513"/>
                  </a:lnTo>
                  <a:close/>
                </a:path>
              </a:pathLst>
            </a:custGeom>
            <a:solidFill>
              <a:srgbClr val="707070"/>
            </a:solidFill>
            <a:ln cap="sq">
              <a:noFill/>
              <a:prstDash val="solid"/>
              <a:miter/>
            </a:ln>
          </p:spPr>
        </p:sp>
        <p:sp>
          <p:nvSpPr>
            <p:cNvPr name="TextBox 8" id="8"/>
            <p:cNvSpPr txBox="true"/>
            <p:nvPr/>
          </p:nvSpPr>
          <p:spPr>
            <a:xfrm>
              <a:off x="0" y="38100"/>
              <a:ext cx="1795081" cy="1596413"/>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9" id="9"/>
          <p:cNvGrpSpPr/>
          <p:nvPr/>
        </p:nvGrpSpPr>
        <p:grpSpPr>
          <a:xfrm rot="0">
            <a:off x="529721" y="3097769"/>
            <a:ext cx="8233279" cy="6236731"/>
            <a:chOff x="0" y="0"/>
            <a:chExt cx="2168436" cy="1642596"/>
          </a:xfrm>
        </p:grpSpPr>
        <p:sp>
          <p:nvSpPr>
            <p:cNvPr name="Freeform 10" id="10"/>
            <p:cNvSpPr/>
            <p:nvPr/>
          </p:nvSpPr>
          <p:spPr>
            <a:xfrm flipH="false" flipV="false" rot="0">
              <a:off x="0" y="0"/>
              <a:ext cx="2168436" cy="1642596"/>
            </a:xfrm>
            <a:custGeom>
              <a:avLst/>
              <a:gdLst/>
              <a:ahLst/>
              <a:cxnLst/>
              <a:rect r="r" b="b" t="t" l="l"/>
              <a:pathLst>
                <a:path h="1642596" w="2168436">
                  <a:moveTo>
                    <a:pt x="0" y="0"/>
                  </a:moveTo>
                  <a:lnTo>
                    <a:pt x="2168436" y="0"/>
                  </a:lnTo>
                  <a:lnTo>
                    <a:pt x="2168436" y="1642596"/>
                  </a:lnTo>
                  <a:lnTo>
                    <a:pt x="0" y="1642596"/>
                  </a:lnTo>
                  <a:close/>
                </a:path>
              </a:pathLst>
            </a:custGeom>
            <a:solidFill>
              <a:srgbClr val="FFFFFF"/>
            </a:solidFill>
            <a:ln w="66675" cap="sq">
              <a:solidFill>
                <a:srgbClr val="000001"/>
              </a:solidFill>
              <a:prstDash val="dash"/>
              <a:miter/>
            </a:ln>
          </p:spPr>
        </p:sp>
        <p:sp>
          <p:nvSpPr>
            <p:cNvPr name="TextBox 11" id="11"/>
            <p:cNvSpPr txBox="true"/>
            <p:nvPr/>
          </p:nvSpPr>
          <p:spPr>
            <a:xfrm>
              <a:off x="0" y="0"/>
              <a:ext cx="2168436" cy="1642596"/>
            </a:xfrm>
            <a:prstGeom prst="rect">
              <a:avLst/>
            </a:prstGeom>
          </p:spPr>
          <p:txBody>
            <a:bodyPr anchor="t" rtlCol="false" tIns="254000" lIns="254000" bIns="254000" rIns="254000"/>
            <a:lstStyle/>
            <a:p>
              <a:pPr algn="l" marL="0" indent="0" lvl="0">
                <a:lnSpc>
                  <a:spcPts val="3480"/>
                </a:lnSpc>
                <a:spcBef>
                  <a:spcPct val="0"/>
                </a:spcBef>
              </a:pPr>
              <a:r>
                <a:rPr lang="en-US" sz="2900" spc="-14">
                  <a:solidFill>
                    <a:srgbClr val="000001"/>
                  </a:solidFill>
                  <a:latin typeface="Barlow SemiCondensed"/>
                  <a:ea typeface="Barlow SemiCondensed"/>
                  <a:cs typeface="Barlow SemiCondensed"/>
                  <a:sym typeface="Barlow SemiCondensed"/>
                </a:rPr>
                <a:t>Studying genetic mutations in Korean populations is significant because many variants found in this dataset were absent or misclassified in global databases dominated by European genomes. For example, the project identified novel pathogenic and benign variants that corrected earlier misinterpretations, and it uncovered population-specific allele frequencies that improve disease-risk analysis and rare-variant filtering for Asian groups.</a:t>
              </a:r>
            </a:p>
          </p:txBody>
        </p:sp>
      </p:grpSp>
      <p:grpSp>
        <p:nvGrpSpPr>
          <p:cNvPr name="Group 12" id="12"/>
          <p:cNvGrpSpPr/>
          <p:nvPr/>
        </p:nvGrpSpPr>
        <p:grpSpPr>
          <a:xfrm rot="0">
            <a:off x="4053971" y="1171575"/>
            <a:ext cx="10180058" cy="1695450"/>
            <a:chOff x="0" y="0"/>
            <a:chExt cx="2681168" cy="446538"/>
          </a:xfrm>
        </p:grpSpPr>
        <p:sp>
          <p:nvSpPr>
            <p:cNvPr name="Freeform 13" id="13"/>
            <p:cNvSpPr/>
            <p:nvPr/>
          </p:nvSpPr>
          <p:spPr>
            <a:xfrm flipH="false" flipV="false" rot="0">
              <a:off x="0" y="0"/>
              <a:ext cx="2681168" cy="446538"/>
            </a:xfrm>
            <a:custGeom>
              <a:avLst/>
              <a:gdLst/>
              <a:ahLst/>
              <a:cxnLst/>
              <a:rect r="r" b="b" t="t" l="l"/>
              <a:pathLst>
                <a:path h="446538" w="2681168">
                  <a:moveTo>
                    <a:pt x="0" y="0"/>
                  </a:moveTo>
                  <a:lnTo>
                    <a:pt x="2681168" y="0"/>
                  </a:lnTo>
                  <a:lnTo>
                    <a:pt x="2681168" y="446538"/>
                  </a:lnTo>
                  <a:lnTo>
                    <a:pt x="0" y="446538"/>
                  </a:lnTo>
                  <a:close/>
                </a:path>
              </a:pathLst>
            </a:custGeom>
            <a:solidFill>
              <a:srgbClr val="000001"/>
            </a:solidFill>
            <a:ln cap="sq">
              <a:noFill/>
              <a:prstDash val="solid"/>
              <a:miter/>
            </a:ln>
          </p:spPr>
        </p:sp>
        <p:sp>
          <p:nvSpPr>
            <p:cNvPr name="TextBox 14" id="14"/>
            <p:cNvSpPr txBox="true"/>
            <p:nvPr/>
          </p:nvSpPr>
          <p:spPr>
            <a:xfrm>
              <a:off x="0" y="38100"/>
              <a:ext cx="2681168" cy="408438"/>
            </a:xfrm>
            <a:prstGeom prst="rect">
              <a:avLst/>
            </a:prstGeom>
          </p:spPr>
          <p:txBody>
            <a:bodyPr anchor="ctr" rtlCol="false" tIns="254000" lIns="254000" bIns="254000" rIns="254000"/>
            <a:lstStyle/>
            <a:p>
              <a:pPr algn="ctr" marL="0" indent="0" lvl="0">
                <a:lnSpc>
                  <a:spcPts val="6600"/>
                </a:lnSpc>
              </a:pPr>
            </a:p>
          </p:txBody>
        </p:sp>
      </p:grpSp>
      <p:grpSp>
        <p:nvGrpSpPr>
          <p:cNvPr name="Group 15" id="15"/>
          <p:cNvGrpSpPr/>
          <p:nvPr/>
        </p:nvGrpSpPr>
        <p:grpSpPr>
          <a:xfrm rot="0">
            <a:off x="3539263" y="990600"/>
            <a:ext cx="10447473" cy="1695458"/>
            <a:chOff x="0" y="0"/>
            <a:chExt cx="2751598" cy="446540"/>
          </a:xfrm>
        </p:grpSpPr>
        <p:sp>
          <p:nvSpPr>
            <p:cNvPr name="Freeform 16" id="16"/>
            <p:cNvSpPr/>
            <p:nvPr/>
          </p:nvSpPr>
          <p:spPr>
            <a:xfrm flipH="false" flipV="false" rot="0">
              <a:off x="0" y="0"/>
              <a:ext cx="2751598" cy="446540"/>
            </a:xfrm>
            <a:custGeom>
              <a:avLst/>
              <a:gdLst/>
              <a:ahLst/>
              <a:cxnLst/>
              <a:rect r="r" b="b" t="t" l="l"/>
              <a:pathLst>
                <a:path h="446540" w="2751598">
                  <a:moveTo>
                    <a:pt x="0" y="0"/>
                  </a:moveTo>
                  <a:lnTo>
                    <a:pt x="2751598" y="0"/>
                  </a:lnTo>
                  <a:lnTo>
                    <a:pt x="2751598" y="446540"/>
                  </a:lnTo>
                  <a:lnTo>
                    <a:pt x="0" y="446540"/>
                  </a:lnTo>
                  <a:close/>
                </a:path>
              </a:pathLst>
            </a:custGeom>
            <a:solidFill>
              <a:srgbClr val="E5A6F4"/>
            </a:solidFill>
            <a:ln w="66675" cap="sq">
              <a:solidFill>
                <a:srgbClr val="000001"/>
              </a:solidFill>
              <a:prstDash val="solid"/>
              <a:miter/>
            </a:ln>
          </p:spPr>
        </p:sp>
        <p:sp>
          <p:nvSpPr>
            <p:cNvPr name="TextBox 17" id="17"/>
            <p:cNvSpPr txBox="true"/>
            <p:nvPr/>
          </p:nvSpPr>
          <p:spPr>
            <a:xfrm>
              <a:off x="0" y="38100"/>
              <a:ext cx="2751598" cy="408440"/>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SIGNIFICANCE OF OUR STUDIES</a:t>
              </a:r>
            </a:p>
          </p:txBody>
        </p:sp>
      </p:grpSp>
      <p:grpSp>
        <p:nvGrpSpPr>
          <p:cNvPr name="Group 18" id="18"/>
          <p:cNvGrpSpPr/>
          <p:nvPr/>
        </p:nvGrpSpPr>
        <p:grpSpPr>
          <a:xfrm rot="0">
            <a:off x="529721" y="7505700"/>
            <a:ext cx="7255076" cy="2329164"/>
            <a:chOff x="0" y="0"/>
            <a:chExt cx="1910802" cy="613442"/>
          </a:xfrm>
        </p:grpSpPr>
        <p:sp>
          <p:nvSpPr>
            <p:cNvPr name="Freeform 19" id="19"/>
            <p:cNvSpPr/>
            <p:nvPr/>
          </p:nvSpPr>
          <p:spPr>
            <a:xfrm flipH="false" flipV="false" rot="0">
              <a:off x="0" y="0"/>
              <a:ext cx="1910802" cy="613442"/>
            </a:xfrm>
            <a:custGeom>
              <a:avLst/>
              <a:gdLst/>
              <a:ahLst/>
              <a:cxnLst/>
              <a:rect r="r" b="b" t="t" l="l"/>
              <a:pathLst>
                <a:path h="613442" w="1910802">
                  <a:moveTo>
                    <a:pt x="0" y="0"/>
                  </a:moveTo>
                  <a:lnTo>
                    <a:pt x="1910802" y="0"/>
                  </a:lnTo>
                  <a:lnTo>
                    <a:pt x="1910802" y="613442"/>
                  </a:lnTo>
                  <a:lnTo>
                    <a:pt x="0" y="613442"/>
                  </a:lnTo>
                  <a:close/>
                </a:path>
              </a:pathLst>
            </a:custGeom>
            <a:solidFill>
              <a:srgbClr val="707070"/>
            </a:solidFill>
          </p:spPr>
        </p:sp>
        <p:sp>
          <p:nvSpPr>
            <p:cNvPr name="TextBox 20" id="20"/>
            <p:cNvSpPr txBox="true"/>
            <p:nvPr/>
          </p:nvSpPr>
          <p:spPr>
            <a:xfrm>
              <a:off x="0" y="0"/>
              <a:ext cx="1910802" cy="613442"/>
            </a:xfrm>
            <a:prstGeom prst="rect">
              <a:avLst/>
            </a:prstGeom>
          </p:spPr>
          <p:txBody>
            <a:bodyPr anchor="ctr" rtlCol="false" tIns="50800" lIns="50800" bIns="50800" rIns="50800"/>
            <a:lstStyle/>
            <a:p>
              <a:pPr algn="ctr">
                <a:lnSpc>
                  <a:spcPts val="2999"/>
                </a:lnSpc>
              </a:pPr>
            </a:p>
          </p:txBody>
        </p:sp>
      </p:grpSp>
      <p:grpSp>
        <p:nvGrpSpPr>
          <p:cNvPr name="Group 21" id="21"/>
          <p:cNvGrpSpPr/>
          <p:nvPr/>
        </p:nvGrpSpPr>
        <p:grpSpPr>
          <a:xfrm rot="0">
            <a:off x="0" y="7505700"/>
            <a:ext cx="7459920" cy="2174275"/>
            <a:chOff x="0" y="0"/>
            <a:chExt cx="1964753" cy="572649"/>
          </a:xfrm>
        </p:grpSpPr>
        <p:sp>
          <p:nvSpPr>
            <p:cNvPr name="Freeform 22" id="22"/>
            <p:cNvSpPr/>
            <p:nvPr/>
          </p:nvSpPr>
          <p:spPr>
            <a:xfrm flipH="false" flipV="false" rot="0">
              <a:off x="0" y="0"/>
              <a:ext cx="1964753" cy="572649"/>
            </a:xfrm>
            <a:custGeom>
              <a:avLst/>
              <a:gdLst/>
              <a:ahLst/>
              <a:cxnLst/>
              <a:rect r="r" b="b" t="t" l="l"/>
              <a:pathLst>
                <a:path h="572649" w="1964753">
                  <a:moveTo>
                    <a:pt x="0" y="0"/>
                  </a:moveTo>
                  <a:lnTo>
                    <a:pt x="1964753" y="0"/>
                  </a:lnTo>
                  <a:lnTo>
                    <a:pt x="1964753" y="572649"/>
                  </a:lnTo>
                  <a:lnTo>
                    <a:pt x="0" y="572649"/>
                  </a:lnTo>
                  <a:close/>
                </a:path>
              </a:pathLst>
            </a:custGeom>
            <a:solidFill>
              <a:srgbClr val="EBEBEB"/>
            </a:solidFill>
            <a:ln w="66675" cap="sq">
              <a:solidFill>
                <a:srgbClr val="000001"/>
              </a:solidFill>
              <a:prstDash val="solid"/>
              <a:miter/>
            </a:ln>
          </p:spPr>
        </p:sp>
        <p:sp>
          <p:nvSpPr>
            <p:cNvPr name="TextBox 23" id="23"/>
            <p:cNvSpPr txBox="true"/>
            <p:nvPr/>
          </p:nvSpPr>
          <p:spPr>
            <a:xfrm>
              <a:off x="0" y="-9525"/>
              <a:ext cx="1964753" cy="582174"/>
            </a:xfrm>
            <a:prstGeom prst="rect">
              <a:avLst/>
            </a:prstGeom>
          </p:spPr>
          <p:txBody>
            <a:bodyPr anchor="ctr" rtlCol="false" tIns="254000" lIns="254000" bIns="254000" rIns="254000"/>
            <a:lstStyle/>
            <a:p>
              <a:pPr algn="l" marL="0" indent="0" lvl="0">
                <a:lnSpc>
                  <a:spcPts val="2880"/>
                </a:lnSpc>
                <a:spcBef>
                  <a:spcPct val="0"/>
                </a:spcBef>
              </a:pPr>
              <a:r>
                <a:rPr lang="en-US" sz="2400" spc="-12">
                  <a:solidFill>
                    <a:srgbClr val="000001"/>
                  </a:solidFill>
                  <a:latin typeface="Barlow SemiCondensed"/>
                  <a:ea typeface="Barlow SemiCondensed"/>
                  <a:cs typeface="Barlow SemiCondensed"/>
                  <a:sym typeface="Barlow SemiCondensed"/>
                </a:rPr>
                <a:t>This re</a:t>
              </a:r>
              <a:r>
                <a:rPr lang="en-US" sz="2400" spc="-12" strike="noStrike" u="none">
                  <a:solidFill>
                    <a:srgbClr val="000001"/>
                  </a:solidFill>
                  <a:latin typeface="Barlow SemiCondensed"/>
                  <a:ea typeface="Barlow SemiCondensed"/>
                  <a:cs typeface="Barlow SemiCondensed"/>
                  <a:sym typeface="Barlow SemiCondensed"/>
                </a:rPr>
                <a:t>search directly strengthens precision medicine. The GA100K dataset showed major inter-population differences in medically relevant genes such as variants affecting drug metabolism, cancer susceptibility, and inherited disorders</a:t>
              </a:r>
            </a:p>
          </p:txBody>
        </p:sp>
      </p:grpSp>
      <p:grpSp>
        <p:nvGrpSpPr>
          <p:cNvPr name="Group 24" id="24"/>
          <p:cNvGrpSpPr/>
          <p:nvPr/>
        </p:nvGrpSpPr>
        <p:grpSpPr>
          <a:xfrm rot="0">
            <a:off x="5294709" y="809625"/>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12631341" y="809625"/>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5294709" y="2428875"/>
            <a:ext cx="361950" cy="36195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32" id="3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3" id="33"/>
          <p:cNvGrpSpPr/>
          <p:nvPr/>
        </p:nvGrpSpPr>
        <p:grpSpPr>
          <a:xfrm rot="0">
            <a:off x="12631341" y="2428875"/>
            <a:ext cx="361950" cy="361950"/>
            <a:chOff x="0" y="0"/>
            <a:chExt cx="731520" cy="731520"/>
          </a:xfrm>
        </p:grpSpPr>
        <p:sp>
          <p:nvSpPr>
            <p:cNvPr name="Freeform 34" id="34"/>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35" id="35"/>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6" id="36"/>
          <p:cNvGrpSpPr/>
          <p:nvPr/>
        </p:nvGrpSpPr>
        <p:grpSpPr>
          <a:xfrm rot="0">
            <a:off x="9525000" y="4333042"/>
            <a:ext cx="7429500" cy="5191958"/>
            <a:chOff x="0" y="0"/>
            <a:chExt cx="9906000" cy="6922611"/>
          </a:xfrm>
        </p:grpSpPr>
        <p:grpSp>
          <p:nvGrpSpPr>
            <p:cNvPr name="Group 37" id="37"/>
            <p:cNvGrpSpPr/>
            <p:nvPr/>
          </p:nvGrpSpPr>
          <p:grpSpPr>
            <a:xfrm rot="0">
              <a:off x="0" y="6668611"/>
              <a:ext cx="9906000" cy="254000"/>
              <a:chOff x="0" y="0"/>
              <a:chExt cx="1956741" cy="50173"/>
            </a:xfrm>
          </p:grpSpPr>
          <p:sp>
            <p:nvSpPr>
              <p:cNvPr name="Freeform 38" id="38"/>
              <p:cNvSpPr/>
              <p:nvPr/>
            </p:nvSpPr>
            <p:spPr>
              <a:xfrm flipH="false" flipV="false" rot="0">
                <a:off x="0" y="0"/>
                <a:ext cx="1956741" cy="50173"/>
              </a:xfrm>
              <a:custGeom>
                <a:avLst/>
                <a:gdLst/>
                <a:ahLst/>
                <a:cxnLst/>
                <a:rect r="r" b="b" t="t" l="l"/>
                <a:pathLst>
                  <a:path h="50173" w="1956741">
                    <a:moveTo>
                      <a:pt x="0" y="0"/>
                    </a:moveTo>
                    <a:lnTo>
                      <a:pt x="1956741" y="0"/>
                    </a:lnTo>
                    <a:lnTo>
                      <a:pt x="1956741" y="50173"/>
                    </a:lnTo>
                    <a:lnTo>
                      <a:pt x="0" y="50173"/>
                    </a:lnTo>
                    <a:close/>
                  </a:path>
                </a:pathLst>
              </a:custGeom>
              <a:solidFill>
                <a:srgbClr val="000001"/>
              </a:solidFill>
            </p:spPr>
          </p:sp>
          <p:sp>
            <p:nvSpPr>
              <p:cNvPr name="TextBox 39" id="39"/>
              <p:cNvSpPr txBox="true"/>
              <p:nvPr/>
            </p:nvSpPr>
            <p:spPr>
              <a:xfrm>
                <a:off x="0" y="0"/>
                <a:ext cx="1956741" cy="50173"/>
              </a:xfrm>
              <a:prstGeom prst="rect">
                <a:avLst/>
              </a:prstGeom>
            </p:spPr>
            <p:txBody>
              <a:bodyPr anchor="ctr" rtlCol="false" tIns="50800" lIns="50800" bIns="50800" rIns="50800"/>
              <a:lstStyle/>
              <a:p>
                <a:pPr algn="ctr">
                  <a:lnSpc>
                    <a:spcPts val="2999"/>
                  </a:lnSpc>
                </a:pPr>
              </a:p>
            </p:txBody>
          </p:sp>
        </p:grpSp>
        <p:sp>
          <p:nvSpPr>
            <p:cNvPr name="Freeform 40" id="40"/>
            <p:cNvSpPr/>
            <p:nvPr/>
          </p:nvSpPr>
          <p:spPr>
            <a:xfrm flipH="true" flipV="false" rot="0">
              <a:off x="0" y="5780914"/>
              <a:ext cx="9906000" cy="1040096"/>
            </a:xfrm>
            <a:custGeom>
              <a:avLst/>
              <a:gdLst/>
              <a:ahLst/>
              <a:cxnLst/>
              <a:rect r="r" b="b" t="t" l="l"/>
              <a:pathLst>
                <a:path h="1040096" w="9906000">
                  <a:moveTo>
                    <a:pt x="9906000" y="0"/>
                  </a:moveTo>
                  <a:lnTo>
                    <a:pt x="0" y="0"/>
                  </a:lnTo>
                  <a:lnTo>
                    <a:pt x="0" y="1040097"/>
                  </a:lnTo>
                  <a:lnTo>
                    <a:pt x="9906000" y="1040097"/>
                  </a:lnTo>
                  <a:lnTo>
                    <a:pt x="9906000" y="0"/>
                  </a:lnTo>
                  <a:close/>
                </a:path>
              </a:pathLst>
            </a:custGeom>
            <a:blipFill>
              <a:blip r:embed="rId4">
                <a:extLst>
                  <a:ext uri="{96DAC541-7B7A-43D3-8B79-37D633B846F1}">
                    <asvg:svgBlip xmlns:asvg="http://schemas.microsoft.com/office/drawing/2016/SVG/main" r:embed="rId5"/>
                  </a:ext>
                </a:extLst>
              </a:blip>
              <a:stretch>
                <a:fillRect l="0" t="0" r="-1312" b="0"/>
              </a:stretch>
            </a:blipFill>
            <a:ln cap="sq">
              <a:noFill/>
              <a:prstDash val="solid"/>
              <a:miter/>
            </a:ln>
          </p:spPr>
        </p:sp>
        <p:grpSp>
          <p:nvGrpSpPr>
            <p:cNvPr name="Group 41" id="41"/>
            <p:cNvGrpSpPr/>
            <p:nvPr/>
          </p:nvGrpSpPr>
          <p:grpSpPr>
            <a:xfrm rot="0">
              <a:off x="1991417" y="939456"/>
              <a:ext cx="1751918" cy="1505555"/>
              <a:chOff x="0" y="0"/>
              <a:chExt cx="812800" cy="698500"/>
            </a:xfrm>
          </p:grpSpPr>
          <p:sp>
            <p:nvSpPr>
              <p:cNvPr name="Freeform 42" id="4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43" id="43"/>
              <p:cNvSpPr txBox="true"/>
              <p:nvPr/>
            </p:nvSpPr>
            <p:spPr>
              <a:xfrm>
                <a:off x="114300" y="0"/>
                <a:ext cx="584200" cy="698500"/>
              </a:xfrm>
              <a:prstGeom prst="rect">
                <a:avLst/>
              </a:prstGeom>
            </p:spPr>
            <p:txBody>
              <a:bodyPr anchor="ctr" rtlCol="false" tIns="50157" lIns="50157" bIns="50157" rIns="50157"/>
              <a:lstStyle/>
              <a:p>
                <a:pPr algn="ctr">
                  <a:lnSpc>
                    <a:spcPts val="2999"/>
                  </a:lnSpc>
                </a:pPr>
              </a:p>
            </p:txBody>
          </p:sp>
        </p:grpSp>
        <p:grpSp>
          <p:nvGrpSpPr>
            <p:cNvPr name="Group 44" id="44"/>
            <p:cNvGrpSpPr/>
            <p:nvPr/>
          </p:nvGrpSpPr>
          <p:grpSpPr>
            <a:xfrm rot="0">
              <a:off x="475081" y="1763445"/>
              <a:ext cx="1751918" cy="1505555"/>
              <a:chOff x="0" y="0"/>
              <a:chExt cx="812800" cy="698500"/>
            </a:xfrm>
          </p:grpSpPr>
          <p:sp>
            <p:nvSpPr>
              <p:cNvPr name="Freeform 45" id="4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707070"/>
              </a:solidFill>
            </p:spPr>
          </p:sp>
          <p:sp>
            <p:nvSpPr>
              <p:cNvPr name="TextBox 46" id="46"/>
              <p:cNvSpPr txBox="true"/>
              <p:nvPr/>
            </p:nvSpPr>
            <p:spPr>
              <a:xfrm>
                <a:off x="114300" y="0"/>
                <a:ext cx="584200" cy="698500"/>
              </a:xfrm>
              <a:prstGeom prst="rect">
                <a:avLst/>
              </a:prstGeom>
            </p:spPr>
            <p:txBody>
              <a:bodyPr anchor="ctr" rtlCol="false" tIns="50157" lIns="50157" bIns="50157" rIns="50157"/>
              <a:lstStyle/>
              <a:p>
                <a:pPr algn="ctr">
                  <a:lnSpc>
                    <a:spcPts val="2999"/>
                  </a:lnSpc>
                </a:pPr>
              </a:p>
            </p:txBody>
          </p:sp>
        </p:grpSp>
        <p:grpSp>
          <p:nvGrpSpPr>
            <p:cNvPr name="Group 47" id="47"/>
            <p:cNvGrpSpPr/>
            <p:nvPr/>
          </p:nvGrpSpPr>
          <p:grpSpPr>
            <a:xfrm rot="0">
              <a:off x="2620172" y="2937128"/>
              <a:ext cx="1751918" cy="1505555"/>
              <a:chOff x="0" y="0"/>
              <a:chExt cx="812800" cy="698500"/>
            </a:xfrm>
          </p:grpSpPr>
          <p:sp>
            <p:nvSpPr>
              <p:cNvPr name="Freeform 48" id="4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49" id="49"/>
              <p:cNvSpPr txBox="true"/>
              <p:nvPr/>
            </p:nvSpPr>
            <p:spPr>
              <a:xfrm>
                <a:off x="114300" y="0"/>
                <a:ext cx="584200" cy="698500"/>
              </a:xfrm>
              <a:prstGeom prst="rect">
                <a:avLst/>
              </a:prstGeom>
            </p:spPr>
            <p:txBody>
              <a:bodyPr anchor="ctr" rtlCol="false" tIns="50157" lIns="50157" bIns="50157" rIns="50157"/>
              <a:lstStyle/>
              <a:p>
                <a:pPr algn="ctr">
                  <a:lnSpc>
                    <a:spcPts val="2999"/>
                  </a:lnSpc>
                </a:pPr>
              </a:p>
            </p:txBody>
          </p:sp>
        </p:grpSp>
        <p:grpSp>
          <p:nvGrpSpPr>
            <p:cNvPr name="Group 50" id="50"/>
            <p:cNvGrpSpPr/>
            <p:nvPr/>
          </p:nvGrpSpPr>
          <p:grpSpPr>
            <a:xfrm rot="0">
              <a:off x="7211713" y="1715982"/>
              <a:ext cx="1751918" cy="1505555"/>
              <a:chOff x="0" y="0"/>
              <a:chExt cx="812800" cy="698500"/>
            </a:xfrm>
          </p:grpSpPr>
          <p:sp>
            <p:nvSpPr>
              <p:cNvPr name="Freeform 51" id="5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707070"/>
              </a:solidFill>
            </p:spPr>
          </p:sp>
          <p:sp>
            <p:nvSpPr>
              <p:cNvPr name="TextBox 52" id="52"/>
              <p:cNvSpPr txBox="true"/>
              <p:nvPr/>
            </p:nvSpPr>
            <p:spPr>
              <a:xfrm>
                <a:off x="114300" y="0"/>
                <a:ext cx="584200" cy="698500"/>
              </a:xfrm>
              <a:prstGeom prst="rect">
                <a:avLst/>
              </a:prstGeom>
            </p:spPr>
            <p:txBody>
              <a:bodyPr anchor="ctr" rtlCol="false" tIns="50157" lIns="50157" bIns="50157" rIns="50157"/>
              <a:lstStyle/>
              <a:p>
                <a:pPr algn="ctr">
                  <a:lnSpc>
                    <a:spcPts val="2999"/>
                  </a:lnSpc>
                </a:pPr>
              </a:p>
            </p:txBody>
          </p:sp>
        </p:grpSp>
        <p:grpSp>
          <p:nvGrpSpPr>
            <p:cNvPr name="Group 53" id="53"/>
            <p:cNvGrpSpPr/>
            <p:nvPr/>
          </p:nvGrpSpPr>
          <p:grpSpPr>
            <a:xfrm rot="0">
              <a:off x="6382518" y="27141"/>
              <a:ext cx="1751918" cy="1505555"/>
              <a:chOff x="0" y="0"/>
              <a:chExt cx="812800" cy="698500"/>
            </a:xfrm>
          </p:grpSpPr>
          <p:sp>
            <p:nvSpPr>
              <p:cNvPr name="Freeform 54" id="5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name="TextBox 55" id="55"/>
              <p:cNvSpPr txBox="true"/>
              <p:nvPr/>
            </p:nvSpPr>
            <p:spPr>
              <a:xfrm>
                <a:off x="114300" y="0"/>
                <a:ext cx="584200" cy="698500"/>
              </a:xfrm>
              <a:prstGeom prst="rect">
                <a:avLst/>
              </a:prstGeom>
            </p:spPr>
            <p:txBody>
              <a:bodyPr anchor="ctr" rtlCol="false" tIns="50157" lIns="50157" bIns="50157" rIns="50157"/>
              <a:lstStyle/>
              <a:p>
                <a:pPr algn="ctr">
                  <a:lnSpc>
                    <a:spcPts val="2999"/>
                  </a:lnSpc>
                </a:pPr>
              </a:p>
            </p:txBody>
          </p:sp>
        </p:grpSp>
        <p:sp>
          <p:nvSpPr>
            <p:cNvPr name="Freeform 56" id="56"/>
            <p:cNvSpPr/>
            <p:nvPr/>
          </p:nvSpPr>
          <p:spPr>
            <a:xfrm flipH="false" flipV="false" rot="0">
              <a:off x="379491" y="0"/>
              <a:ext cx="9147018" cy="6757511"/>
            </a:xfrm>
            <a:custGeom>
              <a:avLst/>
              <a:gdLst/>
              <a:ahLst/>
              <a:cxnLst/>
              <a:rect r="r" b="b" t="t" l="l"/>
              <a:pathLst>
                <a:path h="6757511" w="9147018">
                  <a:moveTo>
                    <a:pt x="0" y="0"/>
                  </a:moveTo>
                  <a:lnTo>
                    <a:pt x="9147018" y="0"/>
                  </a:lnTo>
                  <a:lnTo>
                    <a:pt x="9147018" y="6757511"/>
                  </a:lnTo>
                  <a:lnTo>
                    <a:pt x="0" y="6757511"/>
                  </a:lnTo>
                  <a:lnTo>
                    <a:pt x="0" y="0"/>
                  </a:lnTo>
                  <a:close/>
                </a:path>
              </a:pathLst>
            </a:custGeom>
            <a:blipFill>
              <a:blip r:embed="rId6">
                <a:extLst>
                  <a:ext uri="{96DAC541-7B7A-43D3-8B79-37D633B846F1}">
                    <asvg:svgBlip xmlns:asvg="http://schemas.microsoft.com/office/drawing/2016/SVG/main" r:embed="rId7"/>
                  </a:ext>
                </a:extLst>
              </a:blip>
              <a:stretch>
                <a:fillRect l="-4600" t="0" r="-2326" b="0"/>
              </a:stretch>
            </a:blipFill>
          </p:spPr>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2476500" y="2095500"/>
            <a:ext cx="7429500" cy="7429500"/>
            <a:chOff x="0" y="0"/>
            <a:chExt cx="1956741" cy="1956741"/>
          </a:xfrm>
        </p:grpSpPr>
        <p:sp>
          <p:nvSpPr>
            <p:cNvPr name="Freeform 4" id="4"/>
            <p:cNvSpPr/>
            <p:nvPr/>
          </p:nvSpPr>
          <p:spPr>
            <a:xfrm flipH="false" flipV="false" rot="0">
              <a:off x="0" y="0"/>
              <a:ext cx="1956741" cy="1956741"/>
            </a:xfrm>
            <a:custGeom>
              <a:avLst/>
              <a:gdLst/>
              <a:ahLst/>
              <a:cxnLst/>
              <a:rect r="r" b="b" t="t" l="l"/>
              <a:pathLst>
                <a:path h="1956741" w="1956741">
                  <a:moveTo>
                    <a:pt x="0" y="0"/>
                  </a:moveTo>
                  <a:lnTo>
                    <a:pt x="1956741" y="0"/>
                  </a:lnTo>
                  <a:lnTo>
                    <a:pt x="1956741" y="1956741"/>
                  </a:lnTo>
                  <a:lnTo>
                    <a:pt x="0" y="1956741"/>
                  </a:lnTo>
                  <a:close/>
                </a:path>
              </a:pathLst>
            </a:custGeom>
            <a:solidFill>
              <a:srgbClr val="707070"/>
            </a:solidFill>
            <a:ln cap="sq">
              <a:noFill/>
              <a:prstDash val="solid"/>
              <a:miter/>
            </a:ln>
          </p:spPr>
        </p:sp>
        <p:sp>
          <p:nvSpPr>
            <p:cNvPr name="TextBox 5" id="5"/>
            <p:cNvSpPr txBox="true"/>
            <p:nvPr/>
          </p:nvSpPr>
          <p:spPr>
            <a:xfrm>
              <a:off x="0" y="38100"/>
              <a:ext cx="1956741" cy="1918641"/>
            </a:xfrm>
            <a:prstGeom prst="rect">
              <a:avLst/>
            </a:prstGeom>
          </p:spPr>
          <p:txBody>
            <a:bodyPr anchor="ctr" rtlCol="false" tIns="50800" lIns="50800" bIns="50800" rIns="50800"/>
            <a:lstStyle/>
            <a:p>
              <a:pPr algn="ctr" marL="0" indent="0" lvl="0">
                <a:lnSpc>
                  <a:spcPts val="6600"/>
                </a:lnSpc>
                <a:spcBef>
                  <a:spcPct val="0"/>
                </a:spcBef>
              </a:pPr>
            </a:p>
          </p:txBody>
        </p:sp>
      </p:grpSp>
      <p:sp>
        <p:nvSpPr>
          <p:cNvPr name="Freeform 6" id="6"/>
          <p:cNvSpPr/>
          <p:nvPr/>
        </p:nvSpPr>
        <p:spPr>
          <a:xfrm flipH="false" flipV="false" rot="0">
            <a:off x="17148054" y="8134822"/>
            <a:ext cx="1139946" cy="1390178"/>
          </a:xfrm>
          <a:custGeom>
            <a:avLst/>
            <a:gdLst/>
            <a:ahLst/>
            <a:cxnLst/>
            <a:rect r="r" b="b" t="t" l="l"/>
            <a:pathLst>
              <a:path h="1390178" w="1139946">
                <a:moveTo>
                  <a:pt x="0" y="0"/>
                </a:moveTo>
                <a:lnTo>
                  <a:pt x="1139946" y="0"/>
                </a:lnTo>
                <a:lnTo>
                  <a:pt x="1139946" y="1390178"/>
                </a:lnTo>
                <a:lnTo>
                  <a:pt x="0" y="1390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90625" y="645784"/>
            <a:ext cx="8515350" cy="8862083"/>
            <a:chOff x="0" y="0"/>
            <a:chExt cx="11353800" cy="11816111"/>
          </a:xfrm>
        </p:grpSpPr>
        <p:sp>
          <p:nvSpPr>
            <p:cNvPr name="Freeform 8" id="8"/>
            <p:cNvSpPr/>
            <p:nvPr/>
          </p:nvSpPr>
          <p:spPr>
            <a:xfrm flipH="false" flipV="false" rot="0">
              <a:off x="0" y="0"/>
              <a:ext cx="11353800" cy="11816111"/>
            </a:xfrm>
            <a:custGeom>
              <a:avLst/>
              <a:gdLst/>
              <a:ahLst/>
              <a:cxnLst/>
              <a:rect r="r" b="b" t="t" l="l"/>
              <a:pathLst>
                <a:path h="11816111" w="11353800">
                  <a:moveTo>
                    <a:pt x="0" y="0"/>
                  </a:moveTo>
                  <a:lnTo>
                    <a:pt x="11353800" y="0"/>
                  </a:lnTo>
                  <a:lnTo>
                    <a:pt x="11353800" y="11816111"/>
                  </a:lnTo>
                  <a:lnTo>
                    <a:pt x="0" y="11816111"/>
                  </a:lnTo>
                  <a:lnTo>
                    <a:pt x="0" y="0"/>
                  </a:lnTo>
                  <a:close/>
                </a:path>
              </a:pathLst>
            </a:custGeom>
            <a:blipFill>
              <a:blip r:embed="rId6">
                <a:extLst>
                  <a:ext uri="{96DAC541-7B7A-43D3-8B79-37D633B846F1}">
                    <asvg:svgBlip xmlns:asvg="http://schemas.microsoft.com/office/drawing/2016/SVG/main" r:embed="rId7"/>
                  </a:ext>
                </a:extLst>
              </a:blip>
              <a:stretch>
                <a:fillRect l="-2035" t="0" r="-2035" b="0"/>
              </a:stretch>
            </a:blipFill>
          </p:spPr>
        </p:sp>
        <p:sp>
          <p:nvSpPr>
            <p:cNvPr name="AutoShape 9" id="9"/>
            <p:cNvSpPr/>
            <p:nvPr/>
          </p:nvSpPr>
          <p:spPr>
            <a:xfrm>
              <a:off x="237062" y="3666505"/>
              <a:ext cx="9906000" cy="0"/>
            </a:xfrm>
            <a:prstGeom prst="line">
              <a:avLst/>
            </a:prstGeom>
            <a:ln cap="flat" w="88900">
              <a:solidFill>
                <a:srgbClr val="000001"/>
              </a:solidFill>
              <a:prstDash val="solid"/>
              <a:headEnd type="none" len="sm" w="sm"/>
              <a:tailEnd type="none" len="sm" w="sm"/>
            </a:ln>
          </p:spPr>
        </p:sp>
      </p:grpSp>
      <p:sp>
        <p:nvSpPr>
          <p:cNvPr name="Freeform 10" id="10"/>
          <p:cNvSpPr/>
          <p:nvPr/>
        </p:nvSpPr>
        <p:spPr>
          <a:xfrm flipH="false" flipV="false" rot="0">
            <a:off x="9705975" y="414789"/>
            <a:ext cx="613911" cy="613911"/>
          </a:xfrm>
          <a:custGeom>
            <a:avLst/>
            <a:gdLst/>
            <a:ahLst/>
            <a:cxnLst/>
            <a:rect r="r" b="b" t="t" l="l"/>
            <a:pathLst>
              <a:path h="613911" w="613911">
                <a:moveTo>
                  <a:pt x="0" y="0"/>
                </a:moveTo>
                <a:lnTo>
                  <a:pt x="613911" y="0"/>
                </a:lnTo>
                <a:lnTo>
                  <a:pt x="613911" y="613911"/>
                </a:lnTo>
                <a:lnTo>
                  <a:pt x="0" y="6139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0600652" y="819150"/>
            <a:ext cx="6563109" cy="8010761"/>
          </a:xfrm>
          <a:custGeom>
            <a:avLst/>
            <a:gdLst/>
            <a:ahLst/>
            <a:cxnLst/>
            <a:rect r="r" b="b" t="t" l="l"/>
            <a:pathLst>
              <a:path h="8010761" w="6563109">
                <a:moveTo>
                  <a:pt x="0" y="0"/>
                </a:moveTo>
                <a:lnTo>
                  <a:pt x="6563108" y="0"/>
                </a:lnTo>
                <a:lnTo>
                  <a:pt x="6563108" y="8010761"/>
                </a:lnTo>
                <a:lnTo>
                  <a:pt x="0" y="8010761"/>
                </a:lnTo>
                <a:lnTo>
                  <a:pt x="0" y="0"/>
                </a:lnTo>
                <a:close/>
              </a:path>
            </a:pathLst>
          </a:custGeom>
          <a:blipFill>
            <a:blip r:embed="rId10"/>
            <a:stretch>
              <a:fillRect l="-1295" t="-7414" r="-1295" b="0"/>
            </a:stretch>
          </a:blipFill>
        </p:spPr>
      </p:sp>
      <p:sp>
        <p:nvSpPr>
          <p:cNvPr name="TextBox 12" id="12"/>
          <p:cNvSpPr txBox="true"/>
          <p:nvPr/>
        </p:nvSpPr>
        <p:spPr>
          <a:xfrm rot="0">
            <a:off x="1428179" y="3500452"/>
            <a:ext cx="7059457" cy="4800280"/>
          </a:xfrm>
          <a:prstGeom prst="rect">
            <a:avLst/>
          </a:prstGeom>
        </p:spPr>
        <p:txBody>
          <a:bodyPr anchor="t" rtlCol="false" tIns="0" lIns="0" bIns="0" rIns="0">
            <a:spAutoFit/>
          </a:bodyPr>
          <a:lstStyle/>
          <a:p>
            <a:pPr algn="l">
              <a:lnSpc>
                <a:spcPts val="2760"/>
              </a:lnSpc>
            </a:pPr>
            <a:r>
              <a:rPr lang="en-US" sz="2300">
                <a:solidFill>
                  <a:srgbClr val="000001"/>
                </a:solidFill>
                <a:latin typeface="Barlow SemiCondensed"/>
                <a:ea typeface="Barlow SemiCondensed"/>
                <a:cs typeface="Barlow SemiCondensed"/>
                <a:sym typeface="Barlow SemiCondensed"/>
              </a:rPr>
              <a:t>Mutated genes and recessive disorders are unusually common in Pakistan because of the consistently high rate of consanguineous marriages, especially cousin marriages, which has remained culturally prevalent since the country’s formation in 1947. When relatives marry, they share a larger portion of the same genetic variants, including harmful recessive mutations, making it much more likely for children to inherit two copies of a defective gene and develop a genetic disorder. Over generations, this has led to the persistence and accumulation of founder mutations within specific families, tribes, and regions. Limited genetic screening, low public awareness, and restricted access to reproductive counseling further reinforce the continued spread of recessive conditions in the population.</a:t>
            </a:r>
          </a:p>
        </p:txBody>
      </p:sp>
      <p:sp>
        <p:nvSpPr>
          <p:cNvPr name="TextBox 13" id="13"/>
          <p:cNvSpPr txBox="true"/>
          <p:nvPr/>
        </p:nvSpPr>
        <p:spPr>
          <a:xfrm rot="0">
            <a:off x="1809750" y="1352550"/>
            <a:ext cx="6477000" cy="1714515"/>
          </a:xfrm>
          <a:prstGeom prst="rect">
            <a:avLst/>
          </a:prstGeom>
        </p:spPr>
        <p:txBody>
          <a:bodyPr anchor="t" rtlCol="false" tIns="0" lIns="0" bIns="0" rIns="0">
            <a:spAutoFit/>
          </a:bodyPr>
          <a:lstStyle/>
          <a:p>
            <a:pPr algn="ctr">
              <a:lnSpc>
                <a:spcPts val="6600"/>
              </a:lnSpc>
            </a:pPr>
            <a:r>
              <a:rPr lang="en-US" b="true" sz="6000">
                <a:solidFill>
                  <a:srgbClr val="000001"/>
                </a:solidFill>
                <a:latin typeface="Barlow SemiCondensed Bold"/>
                <a:ea typeface="Barlow SemiCondensed Bold"/>
                <a:cs typeface="Barlow SemiCondensed Bold"/>
                <a:sym typeface="Barlow SemiCondensed Bold"/>
              </a:rPr>
              <a:t>PAKISTANI GENETIC POOL</a:t>
            </a:r>
          </a:p>
        </p:txBody>
      </p:sp>
      <p:sp>
        <p:nvSpPr>
          <p:cNvPr name="Freeform 14" id="14"/>
          <p:cNvSpPr/>
          <p:nvPr/>
        </p:nvSpPr>
        <p:spPr>
          <a:xfrm flipH="false" flipV="false" rot="0">
            <a:off x="7810334" y="7181303"/>
            <a:ext cx="2790317" cy="4687393"/>
          </a:xfrm>
          <a:custGeom>
            <a:avLst/>
            <a:gdLst/>
            <a:ahLst/>
            <a:cxnLst/>
            <a:rect r="r" b="b" t="t" l="l"/>
            <a:pathLst>
              <a:path h="4687393" w="2790317">
                <a:moveTo>
                  <a:pt x="0" y="0"/>
                </a:moveTo>
                <a:lnTo>
                  <a:pt x="2790318" y="0"/>
                </a:lnTo>
                <a:lnTo>
                  <a:pt x="2790318" y="4687394"/>
                </a:lnTo>
                <a:lnTo>
                  <a:pt x="0" y="46873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3"/>
            <a:ext cx="19050000" cy="10715625"/>
          </a:xfrm>
          <a:custGeom>
            <a:avLst/>
            <a:gdLst/>
            <a:ahLst/>
            <a:cxnLst/>
            <a:rect r="r" b="b" t="t" l="l"/>
            <a:pathLst>
              <a:path h="10715625" w="19050000">
                <a:moveTo>
                  <a:pt x="0" y="0"/>
                </a:moveTo>
                <a:lnTo>
                  <a:pt x="19050000" y="0"/>
                </a:lnTo>
                <a:lnTo>
                  <a:pt x="19050000" y="10715625"/>
                </a:lnTo>
                <a:lnTo>
                  <a:pt x="0" y="10715625"/>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381000" y="6667500"/>
            <a:ext cx="19050000" cy="3810000"/>
            <a:chOff x="0" y="0"/>
            <a:chExt cx="5017284" cy="1003457"/>
          </a:xfrm>
        </p:grpSpPr>
        <p:sp>
          <p:nvSpPr>
            <p:cNvPr name="Freeform 4" id="4"/>
            <p:cNvSpPr/>
            <p:nvPr/>
          </p:nvSpPr>
          <p:spPr>
            <a:xfrm flipH="false" flipV="false" rot="0">
              <a:off x="0" y="0"/>
              <a:ext cx="5017284" cy="1003457"/>
            </a:xfrm>
            <a:custGeom>
              <a:avLst/>
              <a:gdLst/>
              <a:ahLst/>
              <a:cxnLst/>
              <a:rect r="r" b="b" t="t" l="l"/>
              <a:pathLst>
                <a:path h="1003457" w="5017284">
                  <a:moveTo>
                    <a:pt x="0" y="0"/>
                  </a:moveTo>
                  <a:lnTo>
                    <a:pt x="5017284" y="0"/>
                  </a:lnTo>
                  <a:lnTo>
                    <a:pt x="5017284" y="1003457"/>
                  </a:lnTo>
                  <a:lnTo>
                    <a:pt x="0" y="1003457"/>
                  </a:lnTo>
                  <a:close/>
                </a:path>
              </a:pathLst>
            </a:custGeom>
            <a:solidFill>
              <a:srgbClr val="A6A6A6"/>
            </a:solidFill>
            <a:ln w="66675" cap="sq">
              <a:solidFill>
                <a:srgbClr val="000001"/>
              </a:solidFill>
              <a:prstDash val="solid"/>
              <a:miter/>
            </a:ln>
          </p:spPr>
        </p:sp>
        <p:sp>
          <p:nvSpPr>
            <p:cNvPr name="TextBox 5" id="5"/>
            <p:cNvSpPr txBox="true"/>
            <p:nvPr/>
          </p:nvSpPr>
          <p:spPr>
            <a:xfrm>
              <a:off x="0" y="-19050"/>
              <a:ext cx="5017284" cy="1022507"/>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6" id="6"/>
          <p:cNvGrpSpPr/>
          <p:nvPr/>
        </p:nvGrpSpPr>
        <p:grpSpPr>
          <a:xfrm rot="0">
            <a:off x="372381" y="2952750"/>
            <a:ext cx="8581119" cy="6572250"/>
            <a:chOff x="0" y="0"/>
            <a:chExt cx="2260048" cy="1730963"/>
          </a:xfrm>
        </p:grpSpPr>
        <p:sp>
          <p:nvSpPr>
            <p:cNvPr name="Freeform 7" id="7"/>
            <p:cNvSpPr/>
            <p:nvPr/>
          </p:nvSpPr>
          <p:spPr>
            <a:xfrm flipH="false" flipV="false" rot="0">
              <a:off x="0" y="0"/>
              <a:ext cx="2260048" cy="1730963"/>
            </a:xfrm>
            <a:custGeom>
              <a:avLst/>
              <a:gdLst/>
              <a:ahLst/>
              <a:cxnLst/>
              <a:rect r="r" b="b" t="t" l="l"/>
              <a:pathLst>
                <a:path h="1730963" w="2260048">
                  <a:moveTo>
                    <a:pt x="0" y="0"/>
                  </a:moveTo>
                  <a:lnTo>
                    <a:pt x="2260048" y="0"/>
                  </a:lnTo>
                  <a:lnTo>
                    <a:pt x="2260048" y="1730963"/>
                  </a:lnTo>
                  <a:lnTo>
                    <a:pt x="0" y="1730963"/>
                  </a:lnTo>
                  <a:close/>
                </a:path>
              </a:pathLst>
            </a:custGeom>
            <a:solidFill>
              <a:srgbClr val="707070"/>
            </a:solidFill>
            <a:ln cap="sq">
              <a:noFill/>
              <a:prstDash val="solid"/>
              <a:miter/>
            </a:ln>
          </p:spPr>
        </p:sp>
        <p:sp>
          <p:nvSpPr>
            <p:cNvPr name="TextBox 8" id="8"/>
            <p:cNvSpPr txBox="true"/>
            <p:nvPr/>
          </p:nvSpPr>
          <p:spPr>
            <a:xfrm>
              <a:off x="0" y="38100"/>
              <a:ext cx="2260048" cy="1692863"/>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9" id="9"/>
          <p:cNvGrpSpPr/>
          <p:nvPr/>
        </p:nvGrpSpPr>
        <p:grpSpPr>
          <a:xfrm rot="0">
            <a:off x="372381" y="2952750"/>
            <a:ext cx="8771619" cy="6606826"/>
            <a:chOff x="0" y="0"/>
            <a:chExt cx="2310221" cy="1740069"/>
          </a:xfrm>
        </p:grpSpPr>
        <p:sp>
          <p:nvSpPr>
            <p:cNvPr name="Freeform 10" id="10"/>
            <p:cNvSpPr/>
            <p:nvPr/>
          </p:nvSpPr>
          <p:spPr>
            <a:xfrm flipH="false" flipV="false" rot="0">
              <a:off x="0" y="0"/>
              <a:ext cx="2310221" cy="1740069"/>
            </a:xfrm>
            <a:custGeom>
              <a:avLst/>
              <a:gdLst/>
              <a:ahLst/>
              <a:cxnLst/>
              <a:rect r="r" b="b" t="t" l="l"/>
              <a:pathLst>
                <a:path h="1740069" w="2310221">
                  <a:moveTo>
                    <a:pt x="0" y="0"/>
                  </a:moveTo>
                  <a:lnTo>
                    <a:pt x="2310221" y="0"/>
                  </a:lnTo>
                  <a:lnTo>
                    <a:pt x="2310221" y="1740069"/>
                  </a:lnTo>
                  <a:lnTo>
                    <a:pt x="0" y="1740069"/>
                  </a:lnTo>
                  <a:close/>
                </a:path>
              </a:pathLst>
            </a:custGeom>
            <a:solidFill>
              <a:srgbClr val="ECEB76"/>
            </a:solidFill>
            <a:ln w="66675" cap="sq">
              <a:solidFill>
                <a:srgbClr val="000001"/>
              </a:solidFill>
              <a:prstDash val="dash"/>
              <a:miter/>
            </a:ln>
          </p:spPr>
        </p:sp>
        <p:sp>
          <p:nvSpPr>
            <p:cNvPr name="TextBox 11" id="11"/>
            <p:cNvSpPr txBox="true"/>
            <p:nvPr/>
          </p:nvSpPr>
          <p:spPr>
            <a:xfrm>
              <a:off x="0" y="-19050"/>
              <a:ext cx="2310221" cy="1759119"/>
            </a:xfrm>
            <a:prstGeom prst="rect">
              <a:avLst/>
            </a:prstGeom>
          </p:spPr>
          <p:txBody>
            <a:bodyPr anchor="ctr" rtlCol="false" tIns="254000" lIns="254000" bIns="254000" rIns="254000"/>
            <a:lstStyle/>
            <a:p>
              <a:pPr algn="l" marL="0" indent="0" lvl="0">
                <a:lnSpc>
                  <a:spcPts val="3600"/>
                </a:lnSpc>
                <a:spcBef>
                  <a:spcPct val="0"/>
                </a:spcBef>
              </a:pPr>
            </a:p>
          </p:txBody>
        </p:sp>
      </p:grpSp>
      <p:grpSp>
        <p:nvGrpSpPr>
          <p:cNvPr name="Group 12" id="12"/>
          <p:cNvGrpSpPr/>
          <p:nvPr/>
        </p:nvGrpSpPr>
        <p:grpSpPr>
          <a:xfrm rot="0">
            <a:off x="1524000" y="1143000"/>
            <a:ext cx="7429500" cy="1285875"/>
            <a:chOff x="0" y="0"/>
            <a:chExt cx="1956741" cy="338667"/>
          </a:xfrm>
        </p:grpSpPr>
        <p:sp>
          <p:nvSpPr>
            <p:cNvPr name="Freeform 13" id="13"/>
            <p:cNvSpPr/>
            <p:nvPr/>
          </p:nvSpPr>
          <p:spPr>
            <a:xfrm flipH="false" flipV="false" rot="0">
              <a:off x="0" y="0"/>
              <a:ext cx="1956741" cy="338667"/>
            </a:xfrm>
            <a:custGeom>
              <a:avLst/>
              <a:gdLst/>
              <a:ahLst/>
              <a:cxnLst/>
              <a:rect r="r" b="b" t="t" l="l"/>
              <a:pathLst>
                <a:path h="338667" w="1956741">
                  <a:moveTo>
                    <a:pt x="0" y="0"/>
                  </a:moveTo>
                  <a:lnTo>
                    <a:pt x="1956741" y="0"/>
                  </a:lnTo>
                  <a:lnTo>
                    <a:pt x="1956741" y="338667"/>
                  </a:lnTo>
                  <a:lnTo>
                    <a:pt x="0" y="338667"/>
                  </a:lnTo>
                  <a:close/>
                </a:path>
              </a:pathLst>
            </a:custGeom>
            <a:solidFill>
              <a:srgbClr val="000001"/>
            </a:solidFill>
            <a:ln cap="sq">
              <a:noFill/>
              <a:prstDash val="solid"/>
              <a:miter/>
            </a:ln>
          </p:spPr>
        </p:sp>
        <p:sp>
          <p:nvSpPr>
            <p:cNvPr name="TextBox 14" id="14"/>
            <p:cNvSpPr txBox="true"/>
            <p:nvPr/>
          </p:nvSpPr>
          <p:spPr>
            <a:xfrm>
              <a:off x="0" y="38100"/>
              <a:ext cx="1956741" cy="300567"/>
            </a:xfrm>
            <a:prstGeom prst="rect">
              <a:avLst/>
            </a:prstGeom>
          </p:spPr>
          <p:txBody>
            <a:bodyPr anchor="ctr" rtlCol="false" tIns="254000" lIns="254000" bIns="254000" rIns="254000"/>
            <a:lstStyle/>
            <a:p>
              <a:pPr algn="ctr" marL="0" indent="0" lvl="0">
                <a:lnSpc>
                  <a:spcPts val="6600"/>
                </a:lnSpc>
              </a:pPr>
            </a:p>
          </p:txBody>
        </p:sp>
      </p:grpSp>
      <p:grpSp>
        <p:nvGrpSpPr>
          <p:cNvPr name="Group 15" id="15"/>
          <p:cNvGrpSpPr/>
          <p:nvPr/>
        </p:nvGrpSpPr>
        <p:grpSpPr>
          <a:xfrm rot="0">
            <a:off x="1333500" y="952500"/>
            <a:ext cx="7429500" cy="1314450"/>
            <a:chOff x="0" y="0"/>
            <a:chExt cx="1956741" cy="346193"/>
          </a:xfrm>
        </p:grpSpPr>
        <p:sp>
          <p:nvSpPr>
            <p:cNvPr name="Freeform 16" id="16"/>
            <p:cNvSpPr/>
            <p:nvPr/>
          </p:nvSpPr>
          <p:spPr>
            <a:xfrm flipH="false" flipV="false" rot="0">
              <a:off x="0" y="0"/>
              <a:ext cx="1956741" cy="346193"/>
            </a:xfrm>
            <a:custGeom>
              <a:avLst/>
              <a:gdLst/>
              <a:ahLst/>
              <a:cxnLst/>
              <a:rect r="r" b="b" t="t" l="l"/>
              <a:pathLst>
                <a:path h="346193" w="1956741">
                  <a:moveTo>
                    <a:pt x="0" y="0"/>
                  </a:moveTo>
                  <a:lnTo>
                    <a:pt x="1956741" y="0"/>
                  </a:lnTo>
                  <a:lnTo>
                    <a:pt x="1956741" y="346193"/>
                  </a:lnTo>
                  <a:lnTo>
                    <a:pt x="0" y="346193"/>
                  </a:lnTo>
                  <a:close/>
                </a:path>
              </a:pathLst>
            </a:custGeom>
            <a:solidFill>
              <a:srgbClr val="CDE8E8"/>
            </a:solidFill>
            <a:ln w="66675" cap="sq">
              <a:solidFill>
                <a:srgbClr val="000001"/>
              </a:solidFill>
              <a:prstDash val="solid"/>
              <a:miter/>
            </a:ln>
          </p:spPr>
        </p:sp>
        <p:sp>
          <p:nvSpPr>
            <p:cNvPr name="TextBox 17" id="17"/>
            <p:cNvSpPr txBox="true"/>
            <p:nvPr/>
          </p:nvSpPr>
          <p:spPr>
            <a:xfrm>
              <a:off x="0" y="19050"/>
              <a:ext cx="1956741" cy="327143"/>
            </a:xfrm>
            <a:prstGeom prst="rect">
              <a:avLst/>
            </a:prstGeom>
          </p:spPr>
          <p:txBody>
            <a:bodyPr anchor="t" rtlCol="false" tIns="254000" lIns="254000" bIns="254000" rIns="254000"/>
            <a:lstStyle/>
            <a:p>
              <a:pPr algn="ctr" marL="0" indent="0" lvl="0">
                <a:lnSpc>
                  <a:spcPts val="4400"/>
                </a:lnSpc>
                <a:spcBef>
                  <a:spcPct val="0"/>
                </a:spcBef>
              </a:pPr>
              <a:r>
                <a:rPr lang="en-US" b="true" sz="4000">
                  <a:solidFill>
                    <a:srgbClr val="000001"/>
                  </a:solidFill>
                  <a:latin typeface="Barlow SemiCondensed Bold"/>
                  <a:ea typeface="Barlow SemiCondensed Bold"/>
                  <a:cs typeface="Barlow SemiCondensed Bold"/>
                  <a:sym typeface="Barlow SemiCondensed Bold"/>
                </a:rPr>
                <a:t>PAKISTANI GENE MODIFICATIONS</a:t>
              </a:r>
            </a:p>
          </p:txBody>
        </p:sp>
      </p:grpSp>
      <p:grpSp>
        <p:nvGrpSpPr>
          <p:cNvPr name="Group 18" id="18"/>
          <p:cNvGrpSpPr/>
          <p:nvPr/>
        </p:nvGrpSpPr>
        <p:grpSpPr>
          <a:xfrm rot="0">
            <a:off x="1181100" y="80962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8517731" y="80962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1181100" y="2428875"/>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8517731" y="2428875"/>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9715500" y="1143000"/>
            <a:ext cx="7429500" cy="8382000"/>
            <a:chOff x="0" y="0"/>
            <a:chExt cx="1947846" cy="2197570"/>
          </a:xfrm>
        </p:grpSpPr>
        <p:sp>
          <p:nvSpPr>
            <p:cNvPr name="Freeform 31" id="31"/>
            <p:cNvSpPr/>
            <p:nvPr/>
          </p:nvSpPr>
          <p:spPr>
            <a:xfrm flipH="false" flipV="false" rot="0">
              <a:off x="0" y="0"/>
              <a:ext cx="1947846" cy="2197570"/>
            </a:xfrm>
            <a:custGeom>
              <a:avLst/>
              <a:gdLst/>
              <a:ahLst/>
              <a:cxnLst/>
              <a:rect r="r" b="b" t="t" l="l"/>
              <a:pathLst>
                <a:path h="2197570" w="1947846">
                  <a:moveTo>
                    <a:pt x="0" y="0"/>
                  </a:moveTo>
                  <a:lnTo>
                    <a:pt x="1947846" y="0"/>
                  </a:lnTo>
                  <a:lnTo>
                    <a:pt x="1947846" y="2197570"/>
                  </a:lnTo>
                  <a:lnTo>
                    <a:pt x="0" y="2197570"/>
                  </a:lnTo>
                  <a:close/>
                </a:path>
              </a:pathLst>
            </a:custGeom>
            <a:solidFill>
              <a:srgbClr val="707070"/>
            </a:solidFill>
            <a:ln cap="sq">
              <a:noFill/>
              <a:prstDash val="solid"/>
              <a:miter/>
            </a:ln>
          </p:spPr>
        </p:sp>
        <p:sp>
          <p:nvSpPr>
            <p:cNvPr name="TextBox 32" id="32"/>
            <p:cNvSpPr txBox="true"/>
            <p:nvPr/>
          </p:nvSpPr>
          <p:spPr>
            <a:xfrm>
              <a:off x="0" y="38100"/>
              <a:ext cx="1947846" cy="2159470"/>
            </a:xfrm>
            <a:prstGeom prst="rect">
              <a:avLst/>
            </a:prstGeom>
          </p:spPr>
          <p:txBody>
            <a:bodyPr anchor="ctr" rtlCol="false" tIns="50800" lIns="50800" bIns="50800" rIns="50800"/>
            <a:lstStyle/>
            <a:p>
              <a:pPr algn="ctr" marL="0" indent="0" lvl="0">
                <a:lnSpc>
                  <a:spcPts val="6600"/>
                </a:lnSpc>
                <a:spcBef>
                  <a:spcPct val="0"/>
                </a:spcBef>
              </a:pPr>
            </a:p>
          </p:txBody>
        </p:sp>
      </p:grpSp>
      <p:sp>
        <p:nvSpPr>
          <p:cNvPr name="Freeform 33" id="33"/>
          <p:cNvSpPr/>
          <p:nvPr/>
        </p:nvSpPr>
        <p:spPr>
          <a:xfrm flipH="false" flipV="false" rot="0">
            <a:off x="16509304" y="8650617"/>
            <a:ext cx="996601" cy="1215367"/>
          </a:xfrm>
          <a:custGeom>
            <a:avLst/>
            <a:gdLst/>
            <a:ahLst/>
            <a:cxnLst/>
            <a:rect r="r" b="b" t="t" l="l"/>
            <a:pathLst>
              <a:path h="1215367" w="996601">
                <a:moveTo>
                  <a:pt x="0" y="0"/>
                </a:moveTo>
                <a:lnTo>
                  <a:pt x="996601" y="0"/>
                </a:lnTo>
                <a:lnTo>
                  <a:pt x="996601" y="1215366"/>
                </a:lnTo>
                <a:lnTo>
                  <a:pt x="0" y="1215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4" id="34"/>
          <p:cNvSpPr/>
          <p:nvPr/>
        </p:nvSpPr>
        <p:spPr>
          <a:xfrm flipH="false" flipV="false" rot="5400000">
            <a:off x="15901621" y="8453592"/>
            <a:ext cx="996601" cy="1215367"/>
          </a:xfrm>
          <a:custGeom>
            <a:avLst/>
            <a:gdLst/>
            <a:ahLst/>
            <a:cxnLst/>
            <a:rect r="r" b="b" t="t" l="l"/>
            <a:pathLst>
              <a:path h="1215367" w="996601">
                <a:moveTo>
                  <a:pt x="0" y="0"/>
                </a:moveTo>
                <a:lnTo>
                  <a:pt x="996600" y="0"/>
                </a:lnTo>
                <a:lnTo>
                  <a:pt x="996600" y="1215367"/>
                </a:lnTo>
                <a:lnTo>
                  <a:pt x="0" y="1215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35" id="35"/>
          <p:cNvGrpSpPr/>
          <p:nvPr/>
        </p:nvGrpSpPr>
        <p:grpSpPr>
          <a:xfrm rot="0">
            <a:off x="9715500" y="276429"/>
            <a:ext cx="8267299" cy="9283146"/>
            <a:chOff x="0" y="0"/>
            <a:chExt cx="2167498" cy="2433831"/>
          </a:xfrm>
        </p:grpSpPr>
        <p:sp>
          <p:nvSpPr>
            <p:cNvPr name="Freeform 36" id="36"/>
            <p:cNvSpPr/>
            <p:nvPr/>
          </p:nvSpPr>
          <p:spPr>
            <a:xfrm flipH="false" flipV="false" rot="0">
              <a:off x="0" y="0"/>
              <a:ext cx="2167498" cy="2433831"/>
            </a:xfrm>
            <a:custGeom>
              <a:avLst/>
              <a:gdLst/>
              <a:ahLst/>
              <a:cxnLst/>
              <a:rect r="r" b="b" t="t" l="l"/>
              <a:pathLst>
                <a:path h="2433831" w="2167498">
                  <a:moveTo>
                    <a:pt x="0" y="0"/>
                  </a:moveTo>
                  <a:lnTo>
                    <a:pt x="2167498" y="0"/>
                  </a:lnTo>
                  <a:lnTo>
                    <a:pt x="2167498" y="2433831"/>
                  </a:lnTo>
                  <a:lnTo>
                    <a:pt x="0" y="2433831"/>
                  </a:lnTo>
                  <a:close/>
                </a:path>
              </a:pathLst>
            </a:custGeom>
            <a:solidFill>
              <a:srgbClr val="ECEB76"/>
            </a:solidFill>
            <a:ln w="66675" cap="sq">
              <a:solidFill>
                <a:srgbClr val="000001"/>
              </a:solidFill>
              <a:prstDash val="lgDash"/>
              <a:miter/>
            </a:ln>
          </p:spPr>
        </p:sp>
        <p:sp>
          <p:nvSpPr>
            <p:cNvPr name="TextBox 37" id="37"/>
            <p:cNvSpPr txBox="true"/>
            <p:nvPr/>
          </p:nvSpPr>
          <p:spPr>
            <a:xfrm>
              <a:off x="0" y="0"/>
              <a:ext cx="2167498" cy="2433831"/>
            </a:xfrm>
            <a:prstGeom prst="rect">
              <a:avLst/>
            </a:prstGeom>
          </p:spPr>
          <p:txBody>
            <a:bodyPr anchor="ctr" rtlCol="false" tIns="50800" lIns="50800" bIns="50800" rIns="50800"/>
            <a:lstStyle/>
            <a:p>
              <a:pPr algn="l">
                <a:lnSpc>
                  <a:spcPts val="2520"/>
                </a:lnSpc>
              </a:pPr>
              <a:r>
                <a:rPr lang="en-US" sz="2100">
                  <a:solidFill>
                    <a:srgbClr val="000001"/>
                  </a:solidFill>
                  <a:latin typeface="Canva Sans"/>
                  <a:ea typeface="Canva Sans"/>
                  <a:cs typeface="Canva Sans"/>
                  <a:sym typeface="Canva Sans"/>
                </a:rPr>
                <a:t>2.</a:t>
              </a:r>
              <a:r>
                <a:rPr lang="en-US" sz="2100" b="true">
                  <a:solidFill>
                    <a:srgbClr val="000001"/>
                  </a:solidFill>
                  <a:latin typeface="Canva Sans Bold"/>
                  <a:ea typeface="Canva Sans Bold"/>
                  <a:cs typeface="Canva Sans Bold"/>
                  <a:sym typeface="Canva Sans Bold"/>
                </a:rPr>
                <a:t> Primary Microcephaly</a:t>
              </a:r>
            </a:p>
            <a:p>
              <a:pPr algn="l">
                <a:lnSpc>
                  <a:spcPts val="2520"/>
                </a:lnSpc>
              </a:pPr>
              <a:r>
                <a:rPr lang="en-US" sz="2100">
                  <a:solidFill>
                    <a:srgbClr val="000001"/>
                  </a:solidFill>
                  <a:latin typeface="Canva Sans"/>
                  <a:ea typeface="Canva Sans"/>
                  <a:cs typeface="Canva Sans"/>
                  <a:sym typeface="Canva Sans"/>
                </a:rPr>
                <a:t>It is significantly more common in Pakistan compared to Western countries because of the high frequency of autosomal recessive mutations in genes like ASPM and WDR62, which have been repeatedly identified in Pakistani families. Consanguineous marriages amplify the chance of inheriting identical mutated genes, making this condition particularly visible in rural and tribal regions. Children with primary microcephaly often present with smaller head size at birth, developmental delay, and intellectual disability, and many cases are linked to well-documented founder mutations unique to Pakistani populations.</a:t>
              </a:r>
            </a:p>
            <a:p>
              <a:pPr algn="l">
                <a:lnSpc>
                  <a:spcPts val="2520"/>
                </a:lnSpc>
              </a:pPr>
            </a:p>
            <a:p>
              <a:pPr algn="l">
                <a:lnSpc>
                  <a:spcPts val="2520"/>
                </a:lnSpc>
              </a:pPr>
              <a:r>
                <a:rPr lang="en-US" sz="2100">
                  <a:solidFill>
                    <a:srgbClr val="000001"/>
                  </a:solidFill>
                  <a:latin typeface="Canva Sans"/>
                  <a:ea typeface="Canva Sans"/>
                  <a:cs typeface="Canva Sans"/>
                  <a:sym typeface="Canva Sans"/>
                </a:rPr>
                <a:t>3.</a:t>
              </a:r>
              <a:r>
                <a:rPr lang="en-US" sz="2100" b="true">
                  <a:solidFill>
                    <a:srgbClr val="000001"/>
                  </a:solidFill>
                  <a:latin typeface="Canva Sans Bold"/>
                  <a:ea typeface="Canva Sans Bold"/>
                  <a:cs typeface="Canva Sans Bold"/>
                  <a:sym typeface="Canva Sans Bold"/>
                </a:rPr>
                <a:t>Cystic Fibrosis (CF)</a:t>
              </a:r>
            </a:p>
            <a:p>
              <a:pPr algn="l">
                <a:lnSpc>
                  <a:spcPts val="2520"/>
                </a:lnSpc>
              </a:pPr>
              <a:r>
                <a:rPr lang="en-US" sz="2100">
                  <a:solidFill>
                    <a:srgbClr val="000001"/>
                  </a:solidFill>
                  <a:latin typeface="Canva Sans"/>
                  <a:ea typeface="Canva Sans"/>
                  <a:cs typeface="Canva Sans"/>
                  <a:sym typeface="Canva Sans"/>
                </a:rPr>
                <a:t>Although traditionally viewed as a “Western” disease, CF is increasingly recognized in Pakistan due to mutations in the CFTR gene, especially the common delta-F508 mutation. Because symptoms like chronic cough, malnutrition, and recurrent chest infections overlap with tuberculosis and other respiratory diseases, CF is frequently misdiagnosed or identified late. Limited availability of newborn screening and genetic testing means many cases go unrecorded, but increasing awareness shows that CF is more prevalent in Pakistan than previously believed, especially in families with a history of repeated child morbidity due to recessive mutations.</a:t>
              </a:r>
            </a:p>
            <a:p>
              <a:pPr algn="ctr">
                <a:lnSpc>
                  <a:spcPts val="2999"/>
                </a:lnSpc>
              </a:pPr>
            </a:p>
            <a:p>
              <a:pPr algn="ctr" marL="0" indent="0" lvl="0">
                <a:lnSpc>
                  <a:spcPts val="2999"/>
                </a:lnSpc>
                <a:spcBef>
                  <a:spcPct val="0"/>
                </a:spcBef>
              </a:pPr>
            </a:p>
          </p:txBody>
        </p:sp>
      </p:grpSp>
      <p:sp>
        <p:nvSpPr>
          <p:cNvPr name="TextBox 38" id="38"/>
          <p:cNvSpPr txBox="true"/>
          <p:nvPr/>
        </p:nvSpPr>
        <p:spPr>
          <a:xfrm rot="0">
            <a:off x="595275" y="3362325"/>
            <a:ext cx="8358225" cy="6419423"/>
          </a:xfrm>
          <a:prstGeom prst="rect">
            <a:avLst/>
          </a:prstGeom>
        </p:spPr>
        <p:txBody>
          <a:bodyPr anchor="t" rtlCol="false" tIns="0" lIns="0" bIns="0" rIns="0">
            <a:spAutoFit/>
          </a:bodyPr>
          <a:lstStyle/>
          <a:p>
            <a:pPr algn="l" marL="647700" indent="-323850" lvl="1">
              <a:lnSpc>
                <a:spcPts val="3600"/>
              </a:lnSpc>
              <a:buAutoNum type="arabicPeriod" startAt="1"/>
            </a:pPr>
            <a:r>
              <a:rPr lang="en-US" b="true" sz="3000" spc="-15">
                <a:solidFill>
                  <a:srgbClr val="000001"/>
                </a:solidFill>
                <a:latin typeface="Barlow SemiCondensed Bold"/>
                <a:ea typeface="Barlow SemiCondensed Bold"/>
                <a:cs typeface="Barlow SemiCondensed Bold"/>
                <a:sym typeface="Barlow SemiCondensed Bold"/>
              </a:rPr>
              <a:t>Muscular Dystrophies (e.g., Duchenne Muscular Dystrophy — DMD)</a:t>
            </a:r>
          </a:p>
          <a:p>
            <a:pPr algn="l">
              <a:lnSpc>
                <a:spcPts val="3600"/>
              </a:lnSpc>
            </a:pPr>
            <a:r>
              <a:rPr lang="en-US" sz="3000" spc="-15">
                <a:solidFill>
                  <a:srgbClr val="000001"/>
                </a:solidFill>
                <a:latin typeface="Barlow SemiCondensed"/>
                <a:ea typeface="Barlow SemiCondensed"/>
                <a:cs typeface="Barlow SemiCondensed"/>
                <a:sym typeface="Barlow SemiCondensed"/>
              </a:rPr>
              <a:t>DMD in Pakistan is often underdiagnosed but relatively common due to high rates of X-linked recessive mutations passing silently through female carriers in consanguineous families. Boys affected by DMD typically show muscle weakness, delayed walking, and difficulty climbing stairs, but due to limited awareness and poor access to genetic testing, diagnosis often occurs late. Fou</a:t>
            </a:r>
            <a:r>
              <a:rPr lang="en-US" sz="3000" spc="-15">
                <a:solidFill>
                  <a:srgbClr val="000001"/>
                </a:solidFill>
                <a:latin typeface="Barlow SemiCondensed"/>
                <a:ea typeface="Barlow SemiCondensed"/>
                <a:cs typeface="Barlow SemiCondensed"/>
                <a:sym typeface="Barlow SemiCondensed"/>
              </a:rPr>
              <a:t>nder mutations within certain tribes and a lack of routine carrier screening contribute to the repeated transmission of the DMD gene mutation across generations.</a:t>
            </a:r>
          </a:p>
          <a:p>
            <a:pPr algn="l">
              <a:lnSpc>
                <a:spcPts val="3600"/>
              </a:lnSpc>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sp>
        <p:nvSpPr>
          <p:cNvPr name="Freeform 3" id="3"/>
          <p:cNvSpPr/>
          <p:nvPr/>
        </p:nvSpPr>
        <p:spPr>
          <a:xfrm flipH="false" flipV="false" rot="0">
            <a:off x="3552825" y="2295191"/>
            <a:ext cx="804256" cy="857250"/>
          </a:xfrm>
          <a:custGeom>
            <a:avLst/>
            <a:gdLst/>
            <a:ahLst/>
            <a:cxnLst/>
            <a:rect r="r" b="b" t="t" l="l"/>
            <a:pathLst>
              <a:path h="857250" w="804256">
                <a:moveTo>
                  <a:pt x="0" y="0"/>
                </a:moveTo>
                <a:lnTo>
                  <a:pt x="804256" y="0"/>
                </a:lnTo>
                <a:lnTo>
                  <a:pt x="804256" y="857250"/>
                </a:lnTo>
                <a:lnTo>
                  <a:pt x="0" y="857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1459672"/>
            <a:ext cx="1390765" cy="4872106"/>
          </a:xfrm>
          <a:custGeom>
            <a:avLst/>
            <a:gdLst/>
            <a:ahLst/>
            <a:cxnLst/>
            <a:rect r="r" b="b" t="t" l="l"/>
            <a:pathLst>
              <a:path h="4872106" w="1390765">
                <a:moveTo>
                  <a:pt x="0" y="0"/>
                </a:moveTo>
                <a:lnTo>
                  <a:pt x="1390765" y="0"/>
                </a:lnTo>
                <a:lnTo>
                  <a:pt x="1390765" y="4872106"/>
                </a:lnTo>
                <a:lnTo>
                  <a:pt x="0" y="4872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1433451" y="-114027"/>
            <a:ext cx="1086650" cy="2511165"/>
          </a:xfrm>
          <a:custGeom>
            <a:avLst/>
            <a:gdLst/>
            <a:ahLst/>
            <a:cxnLst/>
            <a:rect r="r" b="b" t="t" l="l"/>
            <a:pathLst>
              <a:path h="2511165" w="1086650">
                <a:moveTo>
                  <a:pt x="0" y="0"/>
                </a:moveTo>
                <a:lnTo>
                  <a:pt x="1086650" y="0"/>
                </a:lnTo>
                <a:lnTo>
                  <a:pt x="1086650" y="2511165"/>
                </a:lnTo>
                <a:lnTo>
                  <a:pt x="0" y="25111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226973" y="1141556"/>
            <a:ext cx="954000" cy="1218731"/>
          </a:xfrm>
          <a:custGeom>
            <a:avLst/>
            <a:gdLst/>
            <a:ahLst/>
            <a:cxnLst/>
            <a:rect r="r" b="b" t="t" l="l"/>
            <a:pathLst>
              <a:path h="1218731" w="954000">
                <a:moveTo>
                  <a:pt x="0" y="0"/>
                </a:moveTo>
                <a:lnTo>
                  <a:pt x="954000" y="0"/>
                </a:lnTo>
                <a:lnTo>
                  <a:pt x="954000" y="1218731"/>
                </a:lnTo>
                <a:lnTo>
                  <a:pt x="0" y="1218731"/>
                </a:lnTo>
                <a:lnTo>
                  <a:pt x="0" y="0"/>
                </a:lnTo>
                <a:close/>
              </a:path>
            </a:pathLst>
          </a:custGeom>
          <a:blipFill>
            <a:blip r:embed="rId10">
              <a:extLst>
                <a:ext uri="{96DAC541-7B7A-43D3-8B79-37D633B846F1}">
                  <asvg:svgBlip xmlns:asvg="http://schemas.microsoft.com/office/drawing/2016/SVG/main" r:embed="rId11"/>
                </a:ext>
              </a:extLst>
            </a:blip>
            <a:stretch>
              <a:fillRect l="0" t="-64545" r="-110205" b="0"/>
            </a:stretch>
          </a:blipFill>
          <a:ln cap="sq">
            <a:noFill/>
            <a:prstDash val="solid"/>
            <a:miter/>
          </a:ln>
        </p:spPr>
      </p:sp>
      <p:sp>
        <p:nvSpPr>
          <p:cNvPr name="Freeform 7" id="7"/>
          <p:cNvSpPr/>
          <p:nvPr/>
        </p:nvSpPr>
        <p:spPr>
          <a:xfrm flipH="false" flipV="false" rot="0">
            <a:off x="5940002" y="1809750"/>
            <a:ext cx="1791689" cy="1101074"/>
          </a:xfrm>
          <a:custGeom>
            <a:avLst/>
            <a:gdLst/>
            <a:ahLst/>
            <a:cxnLst/>
            <a:rect r="r" b="b" t="t" l="l"/>
            <a:pathLst>
              <a:path h="1101074" w="1791689">
                <a:moveTo>
                  <a:pt x="0" y="0"/>
                </a:moveTo>
                <a:lnTo>
                  <a:pt x="1791689" y="0"/>
                </a:lnTo>
                <a:lnTo>
                  <a:pt x="1791689" y="1101074"/>
                </a:lnTo>
                <a:lnTo>
                  <a:pt x="0" y="11010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401527" y="756742"/>
            <a:ext cx="706120" cy="1248765"/>
          </a:xfrm>
          <a:custGeom>
            <a:avLst/>
            <a:gdLst/>
            <a:ahLst/>
            <a:cxnLst/>
            <a:rect r="r" b="b" t="t" l="l"/>
            <a:pathLst>
              <a:path h="1248765" w="706120">
                <a:moveTo>
                  <a:pt x="0" y="0"/>
                </a:moveTo>
                <a:lnTo>
                  <a:pt x="706120" y="0"/>
                </a:lnTo>
                <a:lnTo>
                  <a:pt x="706120" y="1248766"/>
                </a:lnTo>
                <a:lnTo>
                  <a:pt x="0" y="12487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2845348" y="386625"/>
            <a:ext cx="1053003" cy="1284150"/>
          </a:xfrm>
          <a:custGeom>
            <a:avLst/>
            <a:gdLst/>
            <a:ahLst/>
            <a:cxnLst/>
            <a:rect r="r" b="b" t="t" l="l"/>
            <a:pathLst>
              <a:path h="1284150" w="1053003">
                <a:moveTo>
                  <a:pt x="0" y="0"/>
                </a:moveTo>
                <a:lnTo>
                  <a:pt x="1053004" y="0"/>
                </a:lnTo>
                <a:lnTo>
                  <a:pt x="1053004" y="1284150"/>
                </a:lnTo>
                <a:lnTo>
                  <a:pt x="0" y="12841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5400000">
            <a:off x="387641" y="-160882"/>
            <a:ext cx="2036263" cy="1047750"/>
          </a:xfrm>
          <a:custGeom>
            <a:avLst/>
            <a:gdLst/>
            <a:ahLst/>
            <a:cxnLst/>
            <a:rect r="r" b="b" t="t" l="l"/>
            <a:pathLst>
              <a:path h="1047750" w="2036263">
                <a:moveTo>
                  <a:pt x="0" y="0"/>
                </a:moveTo>
                <a:lnTo>
                  <a:pt x="2036263" y="0"/>
                </a:lnTo>
                <a:lnTo>
                  <a:pt x="2036263" y="1047750"/>
                </a:lnTo>
                <a:lnTo>
                  <a:pt x="0" y="10477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4174034">
            <a:off x="13919518" y="2908370"/>
            <a:ext cx="2862566" cy="1250809"/>
          </a:xfrm>
          <a:custGeom>
            <a:avLst/>
            <a:gdLst/>
            <a:ahLst/>
            <a:cxnLst/>
            <a:rect r="r" b="b" t="t" l="l"/>
            <a:pathLst>
              <a:path h="1250809" w="2862566">
                <a:moveTo>
                  <a:pt x="0" y="0"/>
                </a:moveTo>
                <a:lnTo>
                  <a:pt x="2862566" y="0"/>
                </a:lnTo>
                <a:lnTo>
                  <a:pt x="2862566" y="1250810"/>
                </a:lnTo>
                <a:lnTo>
                  <a:pt x="0" y="125081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2" id="12"/>
          <p:cNvGrpSpPr/>
          <p:nvPr/>
        </p:nvGrpSpPr>
        <p:grpSpPr>
          <a:xfrm rot="-10800000">
            <a:off x="16249650" y="3340167"/>
            <a:ext cx="1715994" cy="857997"/>
            <a:chOff x="0" y="0"/>
            <a:chExt cx="812800" cy="406400"/>
          </a:xfrm>
        </p:grpSpPr>
        <p:sp>
          <p:nvSpPr>
            <p:cNvPr name="Freeform 13" id="1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EBEBEB"/>
            </a:solidFill>
            <a:ln w="38100" cap="sq">
              <a:solidFill>
                <a:srgbClr val="000001"/>
              </a:solidFill>
              <a:prstDash val="solid"/>
              <a:miter/>
            </a:ln>
          </p:spPr>
        </p:sp>
        <p:sp>
          <p:nvSpPr>
            <p:cNvPr name="TextBox 14" id="14"/>
            <p:cNvSpPr txBox="true"/>
            <p:nvPr/>
          </p:nvSpPr>
          <p:spPr>
            <a:xfrm>
              <a:off x="177800" y="0"/>
              <a:ext cx="558800" cy="406400"/>
            </a:xfrm>
            <a:prstGeom prst="rect">
              <a:avLst/>
            </a:prstGeom>
          </p:spPr>
          <p:txBody>
            <a:bodyPr anchor="ctr" rtlCol="false" tIns="50800" lIns="50800" bIns="50800" rIns="50800"/>
            <a:lstStyle/>
            <a:p>
              <a:pPr algn="ctr">
                <a:lnSpc>
                  <a:spcPts val="2999"/>
                </a:lnSpc>
              </a:pPr>
            </a:p>
          </p:txBody>
        </p:sp>
      </p:grpSp>
      <p:sp>
        <p:nvSpPr>
          <p:cNvPr name="Freeform 15" id="15"/>
          <p:cNvSpPr/>
          <p:nvPr/>
        </p:nvSpPr>
        <p:spPr>
          <a:xfrm flipH="false" flipV="false" rot="0">
            <a:off x="9570826" y="-741316"/>
            <a:ext cx="1434000" cy="3520983"/>
          </a:xfrm>
          <a:custGeom>
            <a:avLst/>
            <a:gdLst/>
            <a:ahLst/>
            <a:cxnLst/>
            <a:rect r="r" b="b" t="t" l="l"/>
            <a:pathLst>
              <a:path h="3520983" w="1434000">
                <a:moveTo>
                  <a:pt x="0" y="0"/>
                </a:moveTo>
                <a:lnTo>
                  <a:pt x="1434000" y="0"/>
                </a:lnTo>
                <a:lnTo>
                  <a:pt x="1434000" y="3520982"/>
                </a:lnTo>
                <a:lnTo>
                  <a:pt x="0" y="352098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6" id="16"/>
          <p:cNvSpPr/>
          <p:nvPr/>
        </p:nvSpPr>
        <p:spPr>
          <a:xfrm flipH="false" flipV="false" rot="0">
            <a:off x="9447001" y="-797167"/>
            <a:ext cx="1434000" cy="3520983"/>
          </a:xfrm>
          <a:custGeom>
            <a:avLst/>
            <a:gdLst/>
            <a:ahLst/>
            <a:cxnLst/>
            <a:rect r="r" b="b" t="t" l="l"/>
            <a:pathLst>
              <a:path h="3520983" w="1434000">
                <a:moveTo>
                  <a:pt x="0" y="0"/>
                </a:moveTo>
                <a:lnTo>
                  <a:pt x="1434000" y="0"/>
                </a:lnTo>
                <a:lnTo>
                  <a:pt x="1434000" y="3520983"/>
                </a:lnTo>
                <a:lnTo>
                  <a:pt x="0" y="352098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7" id="17"/>
          <p:cNvSpPr/>
          <p:nvPr/>
        </p:nvSpPr>
        <p:spPr>
          <a:xfrm flipH="false" flipV="false" rot="0">
            <a:off x="9367095" y="7886700"/>
            <a:ext cx="2664915" cy="2005954"/>
          </a:xfrm>
          <a:custGeom>
            <a:avLst/>
            <a:gdLst/>
            <a:ahLst/>
            <a:cxnLst/>
            <a:rect r="r" b="b" t="t" l="l"/>
            <a:pathLst>
              <a:path h="2005954" w="2664915">
                <a:moveTo>
                  <a:pt x="0" y="0"/>
                </a:moveTo>
                <a:lnTo>
                  <a:pt x="2664915" y="0"/>
                </a:lnTo>
                <a:lnTo>
                  <a:pt x="2664915" y="2005954"/>
                </a:lnTo>
                <a:lnTo>
                  <a:pt x="0" y="200595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AutoShape 18" id="18"/>
          <p:cNvSpPr/>
          <p:nvPr/>
        </p:nvSpPr>
        <p:spPr>
          <a:xfrm>
            <a:off x="4930790" y="3308025"/>
            <a:ext cx="1714251" cy="0"/>
          </a:xfrm>
          <a:prstGeom prst="line">
            <a:avLst/>
          </a:prstGeom>
          <a:ln cap="flat" w="66675">
            <a:solidFill>
              <a:srgbClr val="000001"/>
            </a:solidFill>
            <a:prstDash val="sysDot"/>
            <a:headEnd type="none" len="sm" w="sm"/>
            <a:tailEnd type="none" len="sm" w="sm"/>
          </a:ln>
        </p:spPr>
      </p:sp>
      <p:sp>
        <p:nvSpPr>
          <p:cNvPr name="AutoShape 19" id="19"/>
          <p:cNvSpPr/>
          <p:nvPr/>
        </p:nvSpPr>
        <p:spPr>
          <a:xfrm>
            <a:off x="12753474" y="1381125"/>
            <a:ext cx="0" cy="1714251"/>
          </a:xfrm>
          <a:prstGeom prst="line">
            <a:avLst/>
          </a:prstGeom>
          <a:ln cap="flat" w="66675">
            <a:solidFill>
              <a:srgbClr val="000001"/>
            </a:solidFill>
            <a:prstDash val="sysDot"/>
            <a:headEnd type="none" len="sm" w="sm"/>
            <a:tailEnd type="none" len="sm" w="sm"/>
          </a:ln>
        </p:spPr>
      </p:sp>
      <p:grpSp>
        <p:nvGrpSpPr>
          <p:cNvPr name="Group 20" id="20"/>
          <p:cNvGrpSpPr/>
          <p:nvPr/>
        </p:nvGrpSpPr>
        <p:grpSpPr>
          <a:xfrm rot="0">
            <a:off x="3275596" y="3703312"/>
            <a:ext cx="11790328" cy="3335538"/>
            <a:chOff x="0" y="0"/>
            <a:chExt cx="3105271" cy="878496"/>
          </a:xfrm>
        </p:grpSpPr>
        <p:sp>
          <p:nvSpPr>
            <p:cNvPr name="Freeform 21" id="21"/>
            <p:cNvSpPr/>
            <p:nvPr/>
          </p:nvSpPr>
          <p:spPr>
            <a:xfrm flipH="false" flipV="false" rot="0">
              <a:off x="0" y="0"/>
              <a:ext cx="3105272" cy="878496"/>
            </a:xfrm>
            <a:custGeom>
              <a:avLst/>
              <a:gdLst/>
              <a:ahLst/>
              <a:cxnLst/>
              <a:rect r="r" b="b" t="t" l="l"/>
              <a:pathLst>
                <a:path h="878496" w="3105272">
                  <a:moveTo>
                    <a:pt x="0" y="0"/>
                  </a:moveTo>
                  <a:lnTo>
                    <a:pt x="3105272" y="0"/>
                  </a:lnTo>
                  <a:lnTo>
                    <a:pt x="3105272" y="878496"/>
                  </a:lnTo>
                  <a:lnTo>
                    <a:pt x="0" y="878496"/>
                  </a:lnTo>
                  <a:close/>
                </a:path>
              </a:pathLst>
            </a:custGeom>
            <a:solidFill>
              <a:srgbClr val="000001"/>
            </a:solidFill>
            <a:ln cap="sq">
              <a:noFill/>
              <a:prstDash val="solid"/>
              <a:miter/>
            </a:ln>
          </p:spPr>
        </p:sp>
        <p:sp>
          <p:nvSpPr>
            <p:cNvPr name="TextBox 22" id="22"/>
            <p:cNvSpPr txBox="true"/>
            <p:nvPr/>
          </p:nvSpPr>
          <p:spPr>
            <a:xfrm>
              <a:off x="0" y="38100"/>
              <a:ext cx="3105271" cy="840396"/>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23" id="23"/>
          <p:cNvGrpSpPr/>
          <p:nvPr/>
        </p:nvGrpSpPr>
        <p:grpSpPr>
          <a:xfrm rot="0">
            <a:off x="3264448" y="3444213"/>
            <a:ext cx="11620500" cy="3509286"/>
            <a:chOff x="0" y="0"/>
            <a:chExt cx="15494000" cy="4679048"/>
          </a:xfrm>
        </p:grpSpPr>
        <p:grpSp>
          <p:nvGrpSpPr>
            <p:cNvPr name="Group 24" id="24"/>
            <p:cNvGrpSpPr/>
            <p:nvPr/>
          </p:nvGrpSpPr>
          <p:grpSpPr>
            <a:xfrm rot="0">
              <a:off x="0" y="1803400"/>
              <a:ext cx="15494000" cy="2875648"/>
              <a:chOff x="0" y="0"/>
              <a:chExt cx="3060543" cy="568029"/>
            </a:xfrm>
          </p:grpSpPr>
          <p:sp>
            <p:nvSpPr>
              <p:cNvPr name="Freeform 25" id="25"/>
              <p:cNvSpPr/>
              <p:nvPr/>
            </p:nvSpPr>
            <p:spPr>
              <a:xfrm flipH="false" flipV="false" rot="0">
                <a:off x="0" y="0"/>
                <a:ext cx="3060543" cy="568029"/>
              </a:xfrm>
              <a:custGeom>
                <a:avLst/>
                <a:gdLst/>
                <a:ahLst/>
                <a:cxnLst/>
                <a:rect r="r" b="b" t="t" l="l"/>
                <a:pathLst>
                  <a:path h="568029" w="3060543">
                    <a:moveTo>
                      <a:pt x="0" y="0"/>
                    </a:moveTo>
                    <a:lnTo>
                      <a:pt x="3060543" y="0"/>
                    </a:lnTo>
                    <a:lnTo>
                      <a:pt x="3060543" y="568029"/>
                    </a:lnTo>
                    <a:lnTo>
                      <a:pt x="0" y="568029"/>
                    </a:lnTo>
                    <a:close/>
                  </a:path>
                </a:pathLst>
              </a:custGeom>
              <a:solidFill>
                <a:srgbClr val="FFFFFF"/>
              </a:solidFill>
              <a:ln w="66675" cap="sq">
                <a:solidFill>
                  <a:srgbClr val="000001"/>
                </a:solidFill>
                <a:prstDash val="solid"/>
                <a:miter/>
              </a:ln>
            </p:spPr>
          </p:sp>
          <p:sp>
            <p:nvSpPr>
              <p:cNvPr name="TextBox 26" id="26"/>
              <p:cNvSpPr txBox="true"/>
              <p:nvPr/>
            </p:nvSpPr>
            <p:spPr>
              <a:xfrm>
                <a:off x="0" y="-9525"/>
                <a:ext cx="3060543" cy="577554"/>
              </a:xfrm>
              <a:prstGeom prst="rect">
                <a:avLst/>
              </a:prstGeom>
            </p:spPr>
            <p:txBody>
              <a:bodyPr anchor="ctr" rtlCol="false" tIns="228600" lIns="228600" bIns="228600" rIns="228600"/>
              <a:lstStyle/>
              <a:p>
                <a:pPr algn="ctr" marL="0" indent="0" lvl="0">
                  <a:lnSpc>
                    <a:spcPts val="2160"/>
                  </a:lnSpc>
                  <a:spcBef>
                    <a:spcPct val="0"/>
                  </a:spcBef>
                </a:pPr>
                <a:r>
                  <a:rPr lang="en-US" sz="1800" spc="-9">
                    <a:solidFill>
                      <a:srgbClr val="000001"/>
                    </a:solidFill>
                    <a:latin typeface="Barlow SemiCondensed"/>
                    <a:ea typeface="Barlow SemiCondensed"/>
                    <a:cs typeface="Barlow SemiCondensed"/>
                    <a:sym typeface="Barlow SemiCondensed"/>
                  </a:rPr>
                  <a:t>Learning about genetic mutations in Pakistan is important because the country has one of the highest rates of consanguineous marriages, which increases the expression of recessive disorders and allows harmful mutations to persist across generations. Understanding these mutations helps improve early diagnosis, guide genetic counseling, and prevent the repeated transmission of severe hereditary diseases. Although it may sound like a textbook example of a population affected by inbreeding, the reality is more complex—social, cultural, and historical factors shape these genetic patterns, and studying them is essential for better healthcare planning and community awareness.</a:t>
                </a:r>
              </a:p>
            </p:txBody>
          </p:sp>
        </p:grpSp>
        <p:grpSp>
          <p:nvGrpSpPr>
            <p:cNvPr name="Group 27" id="27"/>
            <p:cNvGrpSpPr/>
            <p:nvPr/>
          </p:nvGrpSpPr>
          <p:grpSpPr>
            <a:xfrm rot="0">
              <a:off x="0" y="0"/>
              <a:ext cx="15494000" cy="1879600"/>
              <a:chOff x="0" y="0"/>
              <a:chExt cx="3060543" cy="371279"/>
            </a:xfrm>
          </p:grpSpPr>
          <p:sp>
            <p:nvSpPr>
              <p:cNvPr name="Freeform 28" id="28"/>
              <p:cNvSpPr/>
              <p:nvPr/>
            </p:nvSpPr>
            <p:spPr>
              <a:xfrm flipH="false" flipV="false" rot="0">
                <a:off x="0" y="0"/>
                <a:ext cx="3060543" cy="371279"/>
              </a:xfrm>
              <a:custGeom>
                <a:avLst/>
                <a:gdLst/>
                <a:ahLst/>
                <a:cxnLst/>
                <a:rect r="r" b="b" t="t" l="l"/>
                <a:pathLst>
                  <a:path h="371279" w="3060543">
                    <a:moveTo>
                      <a:pt x="0" y="0"/>
                    </a:moveTo>
                    <a:lnTo>
                      <a:pt x="3060543" y="0"/>
                    </a:lnTo>
                    <a:lnTo>
                      <a:pt x="3060543" y="371279"/>
                    </a:lnTo>
                    <a:lnTo>
                      <a:pt x="0" y="371279"/>
                    </a:lnTo>
                    <a:close/>
                  </a:path>
                </a:pathLst>
              </a:custGeom>
              <a:solidFill>
                <a:srgbClr val="CDE8E8"/>
              </a:solidFill>
              <a:ln w="66675" cap="sq">
                <a:solidFill>
                  <a:srgbClr val="000001"/>
                </a:solidFill>
                <a:prstDash val="solid"/>
                <a:miter/>
              </a:ln>
            </p:spPr>
          </p:sp>
          <p:sp>
            <p:nvSpPr>
              <p:cNvPr name="TextBox 29" id="29"/>
              <p:cNvSpPr txBox="true"/>
              <p:nvPr/>
            </p:nvSpPr>
            <p:spPr>
              <a:xfrm>
                <a:off x="0" y="38100"/>
                <a:ext cx="3060543" cy="333179"/>
              </a:xfrm>
              <a:prstGeom prst="rect">
                <a:avLst/>
              </a:prstGeom>
            </p:spPr>
            <p:txBody>
              <a:bodyPr anchor="ctr" rtlCol="false" tIns="0" lIns="0" bIns="0" rIns="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IMPLICATIONS OF FINDINGS</a:t>
                </a:r>
              </a:p>
            </p:txBody>
          </p:sp>
        </p:grpSp>
      </p:grpSp>
      <p:sp>
        <p:nvSpPr>
          <p:cNvPr name="Freeform 30" id="30"/>
          <p:cNvSpPr/>
          <p:nvPr/>
        </p:nvSpPr>
        <p:spPr>
          <a:xfrm flipH="false" flipV="false" rot="-1967247">
            <a:off x="13123965" y="3846331"/>
            <a:ext cx="884040" cy="1209508"/>
          </a:xfrm>
          <a:custGeom>
            <a:avLst/>
            <a:gdLst/>
            <a:ahLst/>
            <a:cxnLst/>
            <a:rect r="r" b="b" t="t" l="l"/>
            <a:pathLst>
              <a:path h="1209508" w="884040">
                <a:moveTo>
                  <a:pt x="0" y="0"/>
                </a:moveTo>
                <a:lnTo>
                  <a:pt x="884040" y="0"/>
                </a:lnTo>
                <a:lnTo>
                  <a:pt x="884040" y="1209507"/>
                </a:lnTo>
                <a:lnTo>
                  <a:pt x="0" y="120950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grpSp>
        <p:nvGrpSpPr>
          <p:cNvPr name="Group 31" id="31"/>
          <p:cNvGrpSpPr/>
          <p:nvPr/>
        </p:nvGrpSpPr>
        <p:grpSpPr>
          <a:xfrm rot="0">
            <a:off x="3190875" y="3533775"/>
            <a:ext cx="361950" cy="361950"/>
            <a:chOff x="0" y="0"/>
            <a:chExt cx="731520" cy="731520"/>
          </a:xfrm>
        </p:grpSpPr>
        <p:sp>
          <p:nvSpPr>
            <p:cNvPr name="Freeform 32" id="3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3" id="3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4" id="34"/>
          <p:cNvGrpSpPr/>
          <p:nvPr/>
        </p:nvGrpSpPr>
        <p:grpSpPr>
          <a:xfrm rot="0">
            <a:off x="14703973" y="3533775"/>
            <a:ext cx="361950" cy="361950"/>
            <a:chOff x="0" y="0"/>
            <a:chExt cx="731520" cy="731520"/>
          </a:xfrm>
        </p:grpSpPr>
        <p:sp>
          <p:nvSpPr>
            <p:cNvPr name="Freeform 35" id="3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6" id="3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7" id="37"/>
          <p:cNvGrpSpPr/>
          <p:nvPr/>
        </p:nvGrpSpPr>
        <p:grpSpPr>
          <a:xfrm rot="0">
            <a:off x="3190875" y="6324600"/>
            <a:ext cx="361950" cy="361950"/>
            <a:chOff x="0" y="0"/>
            <a:chExt cx="731520" cy="731520"/>
          </a:xfrm>
        </p:grpSpPr>
        <p:sp>
          <p:nvSpPr>
            <p:cNvPr name="Freeform 38" id="3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9" id="3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40" id="40"/>
          <p:cNvGrpSpPr/>
          <p:nvPr/>
        </p:nvGrpSpPr>
        <p:grpSpPr>
          <a:xfrm rot="0">
            <a:off x="14703973" y="6324600"/>
            <a:ext cx="361950" cy="361950"/>
            <a:chOff x="0" y="0"/>
            <a:chExt cx="731520" cy="731520"/>
          </a:xfrm>
        </p:grpSpPr>
        <p:sp>
          <p:nvSpPr>
            <p:cNvPr name="Freeform 41" id="4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42" id="4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43" id="43"/>
          <p:cNvGrpSpPr/>
          <p:nvPr/>
        </p:nvGrpSpPr>
        <p:grpSpPr>
          <a:xfrm rot="0">
            <a:off x="12419668" y="6331778"/>
            <a:ext cx="5868332" cy="4738678"/>
            <a:chOff x="0" y="0"/>
            <a:chExt cx="7824442" cy="6318237"/>
          </a:xfrm>
        </p:grpSpPr>
        <p:sp>
          <p:nvSpPr>
            <p:cNvPr name="Freeform 44" id="44"/>
            <p:cNvSpPr/>
            <p:nvPr/>
          </p:nvSpPr>
          <p:spPr>
            <a:xfrm flipH="false" flipV="false" rot="0">
              <a:off x="0" y="0"/>
              <a:ext cx="7824442" cy="6318237"/>
            </a:xfrm>
            <a:custGeom>
              <a:avLst/>
              <a:gdLst/>
              <a:ahLst/>
              <a:cxnLst/>
              <a:rect r="r" b="b" t="t" l="l"/>
              <a:pathLst>
                <a:path h="6318237" w="7824442">
                  <a:moveTo>
                    <a:pt x="0" y="0"/>
                  </a:moveTo>
                  <a:lnTo>
                    <a:pt x="7824442" y="0"/>
                  </a:lnTo>
                  <a:lnTo>
                    <a:pt x="7824442" y="6318237"/>
                  </a:lnTo>
                  <a:lnTo>
                    <a:pt x="0" y="631823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45" id="45"/>
            <p:cNvSpPr/>
            <p:nvPr/>
          </p:nvSpPr>
          <p:spPr>
            <a:xfrm flipH="false" flipV="false" rot="0">
              <a:off x="4684073" y="0"/>
              <a:ext cx="3140369" cy="6318237"/>
            </a:xfrm>
            <a:custGeom>
              <a:avLst/>
              <a:gdLst/>
              <a:ahLst/>
              <a:cxnLst/>
              <a:rect r="r" b="b" t="t" l="l"/>
              <a:pathLst>
                <a:path h="6318237" w="3140369">
                  <a:moveTo>
                    <a:pt x="0" y="0"/>
                  </a:moveTo>
                  <a:lnTo>
                    <a:pt x="3140369" y="0"/>
                  </a:lnTo>
                  <a:lnTo>
                    <a:pt x="3140369" y="6318237"/>
                  </a:lnTo>
                  <a:lnTo>
                    <a:pt x="0" y="6318237"/>
                  </a:lnTo>
                  <a:lnTo>
                    <a:pt x="0" y="0"/>
                  </a:lnTo>
                  <a:close/>
                </a:path>
              </a:pathLst>
            </a:custGeom>
            <a:blipFill>
              <a:blip r:embed="rId32">
                <a:extLst>
                  <a:ext uri="{96DAC541-7B7A-43D3-8B79-37D633B846F1}">
                    <asvg:svgBlip xmlns:asvg="http://schemas.microsoft.com/office/drawing/2016/SVG/main" r:embed="rId33"/>
                  </a:ext>
                </a:extLst>
              </a:blip>
              <a:stretch>
                <a:fillRect l="-149156" t="0" r="0" b="0"/>
              </a:stretch>
            </a:blipFill>
          </p:spPr>
        </p:sp>
      </p:grpSp>
      <p:grpSp>
        <p:nvGrpSpPr>
          <p:cNvPr name="Group 46" id="46"/>
          <p:cNvGrpSpPr/>
          <p:nvPr/>
        </p:nvGrpSpPr>
        <p:grpSpPr>
          <a:xfrm rot="0">
            <a:off x="0" y="6630853"/>
            <a:ext cx="8979438" cy="7740919"/>
            <a:chOff x="0" y="0"/>
            <a:chExt cx="11972583" cy="10321225"/>
          </a:xfrm>
        </p:grpSpPr>
        <p:sp>
          <p:nvSpPr>
            <p:cNvPr name="Freeform 47" id="47"/>
            <p:cNvSpPr/>
            <p:nvPr/>
          </p:nvSpPr>
          <p:spPr>
            <a:xfrm flipH="false" flipV="false" rot="0">
              <a:off x="0" y="0"/>
              <a:ext cx="8611984" cy="10321225"/>
            </a:xfrm>
            <a:custGeom>
              <a:avLst/>
              <a:gdLst/>
              <a:ahLst/>
              <a:cxnLst/>
              <a:rect r="r" b="b" t="t" l="l"/>
              <a:pathLst>
                <a:path h="10321225" w="8611984">
                  <a:moveTo>
                    <a:pt x="0" y="0"/>
                  </a:moveTo>
                  <a:lnTo>
                    <a:pt x="8611984" y="0"/>
                  </a:lnTo>
                  <a:lnTo>
                    <a:pt x="8611984" y="10321225"/>
                  </a:lnTo>
                  <a:lnTo>
                    <a:pt x="0" y="10321225"/>
                  </a:lnTo>
                  <a:lnTo>
                    <a:pt x="0" y="0"/>
                  </a:lnTo>
                  <a:close/>
                </a:path>
              </a:pathLst>
            </a:custGeom>
            <a:blipFill>
              <a:blip r:embed="rId34">
                <a:extLst>
                  <a:ext uri="{96DAC541-7B7A-43D3-8B79-37D633B846F1}">
                    <asvg:svgBlip xmlns:asvg="http://schemas.microsoft.com/office/drawing/2016/SVG/main" r:embed="rId35"/>
                  </a:ext>
                </a:extLst>
              </a:blip>
              <a:stretch>
                <a:fillRect l="0" t="0" r="-40377" b="0"/>
              </a:stretch>
            </a:blipFill>
          </p:spPr>
        </p:sp>
        <p:sp>
          <p:nvSpPr>
            <p:cNvPr name="Freeform 48" id="48"/>
            <p:cNvSpPr/>
            <p:nvPr/>
          </p:nvSpPr>
          <p:spPr>
            <a:xfrm flipH="false" flipV="false" rot="0">
              <a:off x="0" y="3981321"/>
              <a:ext cx="8814811" cy="6339904"/>
            </a:xfrm>
            <a:custGeom>
              <a:avLst/>
              <a:gdLst/>
              <a:ahLst/>
              <a:cxnLst/>
              <a:rect r="r" b="b" t="t" l="l"/>
              <a:pathLst>
                <a:path h="6339904" w="8814811">
                  <a:moveTo>
                    <a:pt x="0" y="0"/>
                  </a:moveTo>
                  <a:lnTo>
                    <a:pt x="8814811" y="0"/>
                  </a:lnTo>
                  <a:lnTo>
                    <a:pt x="8814811" y="6339904"/>
                  </a:lnTo>
                  <a:lnTo>
                    <a:pt x="0" y="6339904"/>
                  </a:lnTo>
                  <a:lnTo>
                    <a:pt x="0" y="0"/>
                  </a:lnTo>
                  <a:close/>
                </a:path>
              </a:pathLst>
            </a:custGeom>
            <a:blipFill>
              <a:blip r:embed="rId34">
                <a:extLst>
                  <a:ext uri="{96DAC541-7B7A-43D3-8B79-37D633B846F1}">
                    <asvg:svgBlip xmlns:asvg="http://schemas.microsoft.com/office/drawing/2016/SVG/main" r:embed="rId35"/>
                  </a:ext>
                </a:extLst>
              </a:blip>
              <a:stretch>
                <a:fillRect l="0" t="-62797" r="-37147" b="0"/>
              </a:stretch>
            </a:blipFill>
          </p:spPr>
        </p:sp>
        <p:sp>
          <p:nvSpPr>
            <p:cNvPr name="Freeform 49" id="49"/>
            <p:cNvSpPr/>
            <p:nvPr/>
          </p:nvSpPr>
          <p:spPr>
            <a:xfrm flipH="false" flipV="false" rot="0">
              <a:off x="8814811" y="738301"/>
              <a:ext cx="3157772" cy="9582923"/>
            </a:xfrm>
            <a:custGeom>
              <a:avLst/>
              <a:gdLst/>
              <a:ahLst/>
              <a:cxnLst/>
              <a:rect r="r" b="b" t="t" l="l"/>
              <a:pathLst>
                <a:path h="9582923" w="3157772">
                  <a:moveTo>
                    <a:pt x="0" y="0"/>
                  </a:moveTo>
                  <a:lnTo>
                    <a:pt x="3157772" y="0"/>
                  </a:lnTo>
                  <a:lnTo>
                    <a:pt x="3157772" y="9582924"/>
                  </a:lnTo>
                  <a:lnTo>
                    <a:pt x="0" y="9582924"/>
                  </a:lnTo>
                  <a:lnTo>
                    <a:pt x="0" y="0"/>
                  </a:lnTo>
                  <a:close/>
                </a:path>
              </a:pathLst>
            </a:custGeom>
            <a:blipFill>
              <a:blip r:embed="rId34">
                <a:extLst>
                  <a:ext uri="{96DAC541-7B7A-43D3-8B79-37D633B846F1}">
                    <asvg:svgBlip xmlns:asvg="http://schemas.microsoft.com/office/drawing/2016/SVG/main" r:embed="rId35"/>
                  </a:ext>
                </a:extLst>
              </a:blip>
              <a:stretch>
                <a:fillRect l="-255456" t="0" r="0" b="0"/>
              </a:stretch>
            </a:blipFill>
          </p:spPr>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sp>
        <p:nvSpPr>
          <p:cNvPr name="Freeform 3" id="3"/>
          <p:cNvSpPr/>
          <p:nvPr/>
        </p:nvSpPr>
        <p:spPr>
          <a:xfrm flipH="false" flipV="false" rot="0">
            <a:off x="13239750" y="-956165"/>
            <a:ext cx="5688061" cy="5836630"/>
          </a:xfrm>
          <a:custGeom>
            <a:avLst/>
            <a:gdLst/>
            <a:ahLst/>
            <a:cxnLst/>
            <a:rect r="r" b="b" t="t" l="l"/>
            <a:pathLst>
              <a:path h="5836630" w="5688061">
                <a:moveTo>
                  <a:pt x="0" y="0"/>
                </a:moveTo>
                <a:lnTo>
                  <a:pt x="5688061" y="0"/>
                </a:lnTo>
                <a:lnTo>
                  <a:pt x="5688061" y="5836630"/>
                </a:lnTo>
                <a:lnTo>
                  <a:pt x="0" y="5836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24000" y="4000500"/>
            <a:ext cx="7429500" cy="5524500"/>
            <a:chOff x="0" y="0"/>
            <a:chExt cx="1956741" cy="1455012"/>
          </a:xfrm>
        </p:grpSpPr>
        <p:sp>
          <p:nvSpPr>
            <p:cNvPr name="Freeform 5" id="5"/>
            <p:cNvSpPr/>
            <p:nvPr/>
          </p:nvSpPr>
          <p:spPr>
            <a:xfrm flipH="false" flipV="false" rot="0">
              <a:off x="0" y="0"/>
              <a:ext cx="1956741" cy="1455012"/>
            </a:xfrm>
            <a:custGeom>
              <a:avLst/>
              <a:gdLst/>
              <a:ahLst/>
              <a:cxnLst/>
              <a:rect r="r" b="b" t="t" l="l"/>
              <a:pathLst>
                <a:path h="1455012" w="1956741">
                  <a:moveTo>
                    <a:pt x="0" y="0"/>
                  </a:moveTo>
                  <a:lnTo>
                    <a:pt x="1956741" y="0"/>
                  </a:lnTo>
                  <a:lnTo>
                    <a:pt x="1956741" y="1455012"/>
                  </a:lnTo>
                  <a:lnTo>
                    <a:pt x="0" y="1455012"/>
                  </a:lnTo>
                  <a:close/>
                </a:path>
              </a:pathLst>
            </a:custGeom>
            <a:solidFill>
              <a:srgbClr val="000001"/>
            </a:solidFill>
            <a:ln cap="sq">
              <a:noFill/>
              <a:prstDash val="solid"/>
              <a:miter/>
            </a:ln>
          </p:spPr>
        </p:sp>
        <p:sp>
          <p:nvSpPr>
            <p:cNvPr name="TextBox 6" id="6"/>
            <p:cNvSpPr txBox="true"/>
            <p:nvPr/>
          </p:nvSpPr>
          <p:spPr>
            <a:xfrm>
              <a:off x="0" y="38100"/>
              <a:ext cx="1956741" cy="1416912"/>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7" id="7"/>
          <p:cNvGrpSpPr/>
          <p:nvPr/>
        </p:nvGrpSpPr>
        <p:grpSpPr>
          <a:xfrm rot="0">
            <a:off x="1333500" y="3810000"/>
            <a:ext cx="7429500" cy="5524500"/>
            <a:chOff x="0" y="0"/>
            <a:chExt cx="1956741" cy="1455012"/>
          </a:xfrm>
        </p:grpSpPr>
        <p:sp>
          <p:nvSpPr>
            <p:cNvPr name="Freeform 8" id="8"/>
            <p:cNvSpPr/>
            <p:nvPr/>
          </p:nvSpPr>
          <p:spPr>
            <a:xfrm flipH="false" flipV="false" rot="0">
              <a:off x="0" y="0"/>
              <a:ext cx="1956741" cy="1455012"/>
            </a:xfrm>
            <a:custGeom>
              <a:avLst/>
              <a:gdLst/>
              <a:ahLst/>
              <a:cxnLst/>
              <a:rect r="r" b="b" t="t" l="l"/>
              <a:pathLst>
                <a:path h="1455012" w="1956741">
                  <a:moveTo>
                    <a:pt x="0" y="0"/>
                  </a:moveTo>
                  <a:lnTo>
                    <a:pt x="1956741" y="0"/>
                  </a:lnTo>
                  <a:lnTo>
                    <a:pt x="1956741" y="1455012"/>
                  </a:lnTo>
                  <a:lnTo>
                    <a:pt x="0" y="1455012"/>
                  </a:lnTo>
                  <a:close/>
                </a:path>
              </a:pathLst>
            </a:custGeom>
            <a:solidFill>
              <a:srgbClr val="CDE8E8"/>
            </a:solidFill>
            <a:ln w="66675" cap="sq">
              <a:solidFill>
                <a:srgbClr val="000001"/>
              </a:solidFill>
              <a:prstDash val="dash"/>
              <a:miter/>
            </a:ln>
          </p:spPr>
        </p:sp>
        <p:sp>
          <p:nvSpPr>
            <p:cNvPr name="TextBox 9" id="9"/>
            <p:cNvSpPr txBox="true"/>
            <p:nvPr/>
          </p:nvSpPr>
          <p:spPr>
            <a:xfrm>
              <a:off x="0" y="-19050"/>
              <a:ext cx="1956741" cy="1474062"/>
            </a:xfrm>
            <a:prstGeom prst="rect">
              <a:avLst/>
            </a:prstGeom>
          </p:spPr>
          <p:txBody>
            <a:bodyPr anchor="ctr" rtlCol="false" tIns="254000" lIns="254000" bIns="254000" rIns="254000"/>
            <a:lstStyle/>
            <a:p>
              <a:pPr algn="l" marL="0" indent="0" lvl="0">
                <a:lnSpc>
                  <a:spcPts val="3600"/>
                </a:lnSpc>
                <a:spcBef>
                  <a:spcPct val="0"/>
                </a:spcBef>
              </a:pPr>
            </a:p>
          </p:txBody>
        </p:sp>
      </p:grpSp>
      <p:grpSp>
        <p:nvGrpSpPr>
          <p:cNvPr name="Group 10" id="10"/>
          <p:cNvGrpSpPr/>
          <p:nvPr/>
        </p:nvGrpSpPr>
        <p:grpSpPr>
          <a:xfrm rot="0">
            <a:off x="1524000" y="1143000"/>
            <a:ext cx="7429500" cy="1695450"/>
            <a:chOff x="0" y="0"/>
            <a:chExt cx="1956741" cy="446538"/>
          </a:xfrm>
        </p:grpSpPr>
        <p:sp>
          <p:nvSpPr>
            <p:cNvPr name="Freeform 11" id="11"/>
            <p:cNvSpPr/>
            <p:nvPr/>
          </p:nvSpPr>
          <p:spPr>
            <a:xfrm flipH="false" flipV="false" rot="0">
              <a:off x="0" y="0"/>
              <a:ext cx="1956741" cy="446538"/>
            </a:xfrm>
            <a:custGeom>
              <a:avLst/>
              <a:gdLst/>
              <a:ahLst/>
              <a:cxnLst/>
              <a:rect r="r" b="b" t="t" l="l"/>
              <a:pathLst>
                <a:path h="446538" w="1956741">
                  <a:moveTo>
                    <a:pt x="0" y="0"/>
                  </a:moveTo>
                  <a:lnTo>
                    <a:pt x="1956741" y="0"/>
                  </a:lnTo>
                  <a:lnTo>
                    <a:pt x="1956741" y="446538"/>
                  </a:lnTo>
                  <a:lnTo>
                    <a:pt x="0" y="446538"/>
                  </a:lnTo>
                  <a:close/>
                </a:path>
              </a:pathLst>
            </a:custGeom>
            <a:solidFill>
              <a:srgbClr val="000001"/>
            </a:solidFill>
            <a:ln cap="sq">
              <a:noFill/>
              <a:prstDash val="solid"/>
              <a:miter/>
            </a:ln>
          </p:spPr>
        </p:sp>
        <p:sp>
          <p:nvSpPr>
            <p:cNvPr name="TextBox 12" id="12"/>
            <p:cNvSpPr txBox="true"/>
            <p:nvPr/>
          </p:nvSpPr>
          <p:spPr>
            <a:xfrm>
              <a:off x="0" y="38100"/>
              <a:ext cx="1956741" cy="408438"/>
            </a:xfrm>
            <a:prstGeom prst="rect">
              <a:avLst/>
            </a:prstGeom>
          </p:spPr>
          <p:txBody>
            <a:bodyPr anchor="ctr" rtlCol="false" tIns="254000" lIns="254000" bIns="254000" rIns="254000"/>
            <a:lstStyle/>
            <a:p>
              <a:pPr algn="ctr" marL="0" indent="0" lvl="0">
                <a:lnSpc>
                  <a:spcPts val="6600"/>
                </a:lnSpc>
              </a:pPr>
            </a:p>
          </p:txBody>
        </p:sp>
      </p:grpSp>
      <p:grpSp>
        <p:nvGrpSpPr>
          <p:cNvPr name="Group 13" id="13"/>
          <p:cNvGrpSpPr/>
          <p:nvPr/>
        </p:nvGrpSpPr>
        <p:grpSpPr>
          <a:xfrm rot="0">
            <a:off x="1333500" y="952500"/>
            <a:ext cx="7429500" cy="1638300"/>
            <a:chOff x="0" y="0"/>
            <a:chExt cx="1956741" cy="431486"/>
          </a:xfrm>
        </p:grpSpPr>
        <p:sp>
          <p:nvSpPr>
            <p:cNvPr name="Freeform 14" id="14"/>
            <p:cNvSpPr/>
            <p:nvPr/>
          </p:nvSpPr>
          <p:spPr>
            <a:xfrm flipH="false" flipV="false" rot="0">
              <a:off x="0" y="0"/>
              <a:ext cx="1956741" cy="431486"/>
            </a:xfrm>
            <a:custGeom>
              <a:avLst/>
              <a:gdLst/>
              <a:ahLst/>
              <a:cxnLst/>
              <a:rect r="r" b="b" t="t" l="l"/>
              <a:pathLst>
                <a:path h="431486" w="1956741">
                  <a:moveTo>
                    <a:pt x="0" y="0"/>
                  </a:moveTo>
                  <a:lnTo>
                    <a:pt x="1956741" y="0"/>
                  </a:lnTo>
                  <a:lnTo>
                    <a:pt x="1956741" y="431486"/>
                  </a:lnTo>
                  <a:lnTo>
                    <a:pt x="0" y="431486"/>
                  </a:lnTo>
                  <a:close/>
                </a:path>
              </a:pathLst>
            </a:custGeom>
            <a:solidFill>
              <a:srgbClr val="ECEB76"/>
            </a:solidFill>
            <a:ln w="66675" cap="sq">
              <a:solidFill>
                <a:srgbClr val="000001"/>
              </a:solidFill>
              <a:prstDash val="solid"/>
              <a:miter/>
            </a:ln>
          </p:spPr>
        </p:sp>
        <p:sp>
          <p:nvSpPr>
            <p:cNvPr name="TextBox 15" id="15"/>
            <p:cNvSpPr txBox="true"/>
            <p:nvPr/>
          </p:nvSpPr>
          <p:spPr>
            <a:xfrm>
              <a:off x="0" y="47625"/>
              <a:ext cx="1956741" cy="383861"/>
            </a:xfrm>
            <a:prstGeom prst="rect">
              <a:avLst/>
            </a:prstGeom>
          </p:spPr>
          <p:txBody>
            <a:bodyPr anchor="t" rtlCol="false" tIns="254000" lIns="254000" bIns="254000" rIns="254000"/>
            <a:lstStyle/>
            <a:p>
              <a:pPr algn="ctr" marL="0" indent="0" lvl="0">
                <a:lnSpc>
                  <a:spcPts val="5390"/>
                </a:lnSpc>
                <a:spcBef>
                  <a:spcPct val="0"/>
                </a:spcBef>
              </a:pPr>
              <a:r>
                <a:rPr lang="en-US" b="true" sz="4900">
                  <a:solidFill>
                    <a:srgbClr val="000001"/>
                  </a:solidFill>
                  <a:latin typeface="Barlow SemiCondensed Bold"/>
                  <a:ea typeface="Barlow SemiCondensed Bold"/>
                  <a:cs typeface="Barlow SemiCondensed Bold"/>
                  <a:sym typeface="Barlow SemiCondensed Bold"/>
                </a:rPr>
                <a:t>INDONESIAN GENETIC POOL</a:t>
              </a:r>
            </a:p>
          </p:txBody>
        </p:sp>
      </p:grpSp>
      <p:grpSp>
        <p:nvGrpSpPr>
          <p:cNvPr name="Group 16" id="16"/>
          <p:cNvGrpSpPr/>
          <p:nvPr/>
        </p:nvGrpSpPr>
        <p:grpSpPr>
          <a:xfrm rot="0">
            <a:off x="1181100" y="809625"/>
            <a:ext cx="361950" cy="361950"/>
            <a:chOff x="0" y="0"/>
            <a:chExt cx="731520" cy="731520"/>
          </a:xfrm>
        </p:grpSpPr>
        <p:sp>
          <p:nvSpPr>
            <p:cNvPr name="Freeform 17" id="17"/>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18" id="18"/>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9" id="19"/>
          <p:cNvGrpSpPr/>
          <p:nvPr/>
        </p:nvGrpSpPr>
        <p:grpSpPr>
          <a:xfrm rot="0">
            <a:off x="8517731" y="809625"/>
            <a:ext cx="361950" cy="36195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1" id="21"/>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2" id="22"/>
          <p:cNvGrpSpPr/>
          <p:nvPr/>
        </p:nvGrpSpPr>
        <p:grpSpPr>
          <a:xfrm rot="0">
            <a:off x="1181100" y="2428875"/>
            <a:ext cx="361950" cy="36195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4" id="2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5" id="25"/>
          <p:cNvGrpSpPr/>
          <p:nvPr/>
        </p:nvGrpSpPr>
        <p:grpSpPr>
          <a:xfrm rot="0">
            <a:off x="8517731" y="2428875"/>
            <a:ext cx="361950" cy="36195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7" id="2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8" id="28"/>
          <p:cNvGrpSpPr/>
          <p:nvPr/>
        </p:nvGrpSpPr>
        <p:grpSpPr>
          <a:xfrm rot="0">
            <a:off x="9715500" y="1143000"/>
            <a:ext cx="7429500" cy="8382000"/>
            <a:chOff x="0" y="0"/>
            <a:chExt cx="1947846" cy="2197570"/>
          </a:xfrm>
        </p:grpSpPr>
        <p:sp>
          <p:nvSpPr>
            <p:cNvPr name="Freeform 29" id="29"/>
            <p:cNvSpPr/>
            <p:nvPr/>
          </p:nvSpPr>
          <p:spPr>
            <a:xfrm flipH="false" flipV="false" rot="0">
              <a:off x="0" y="0"/>
              <a:ext cx="1947846" cy="2197570"/>
            </a:xfrm>
            <a:custGeom>
              <a:avLst/>
              <a:gdLst/>
              <a:ahLst/>
              <a:cxnLst/>
              <a:rect r="r" b="b" t="t" l="l"/>
              <a:pathLst>
                <a:path h="2197570" w="1947846">
                  <a:moveTo>
                    <a:pt x="0" y="0"/>
                  </a:moveTo>
                  <a:lnTo>
                    <a:pt x="1947846" y="0"/>
                  </a:lnTo>
                  <a:lnTo>
                    <a:pt x="1947846" y="2197570"/>
                  </a:lnTo>
                  <a:lnTo>
                    <a:pt x="0" y="2197570"/>
                  </a:lnTo>
                  <a:close/>
                </a:path>
              </a:pathLst>
            </a:custGeom>
            <a:solidFill>
              <a:srgbClr val="000001"/>
            </a:solidFill>
            <a:ln cap="sq">
              <a:noFill/>
              <a:prstDash val="solid"/>
              <a:miter/>
            </a:ln>
          </p:spPr>
        </p:sp>
        <p:sp>
          <p:nvSpPr>
            <p:cNvPr name="TextBox 30" id="30"/>
            <p:cNvSpPr txBox="true"/>
            <p:nvPr/>
          </p:nvSpPr>
          <p:spPr>
            <a:xfrm>
              <a:off x="0" y="38100"/>
              <a:ext cx="1947846" cy="2159470"/>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31" id="31"/>
          <p:cNvGrpSpPr/>
          <p:nvPr/>
        </p:nvGrpSpPr>
        <p:grpSpPr>
          <a:xfrm rot="0">
            <a:off x="9525000" y="952500"/>
            <a:ext cx="7429500" cy="8382000"/>
            <a:chOff x="0" y="0"/>
            <a:chExt cx="1947846" cy="2197570"/>
          </a:xfrm>
        </p:grpSpPr>
        <p:sp>
          <p:nvSpPr>
            <p:cNvPr name="Freeform 32" id="32"/>
            <p:cNvSpPr/>
            <p:nvPr/>
          </p:nvSpPr>
          <p:spPr>
            <a:xfrm flipH="false" flipV="false" rot="0">
              <a:off x="0" y="0"/>
              <a:ext cx="1947846" cy="2197570"/>
            </a:xfrm>
            <a:custGeom>
              <a:avLst/>
              <a:gdLst/>
              <a:ahLst/>
              <a:cxnLst/>
              <a:rect r="r" b="b" t="t" l="l"/>
              <a:pathLst>
                <a:path h="2197570" w="1947846">
                  <a:moveTo>
                    <a:pt x="0" y="0"/>
                  </a:moveTo>
                  <a:lnTo>
                    <a:pt x="1947846" y="0"/>
                  </a:lnTo>
                  <a:lnTo>
                    <a:pt x="1947846" y="2197570"/>
                  </a:lnTo>
                  <a:lnTo>
                    <a:pt x="0" y="2197570"/>
                  </a:lnTo>
                  <a:close/>
                </a:path>
              </a:pathLst>
            </a:custGeom>
            <a:solidFill>
              <a:srgbClr val="FFFFFF"/>
            </a:solidFill>
            <a:ln w="66675" cap="sq">
              <a:solidFill>
                <a:srgbClr val="000001"/>
              </a:solidFill>
              <a:prstDash val="lgDash"/>
              <a:miter/>
            </a:ln>
          </p:spPr>
        </p:sp>
        <p:sp>
          <p:nvSpPr>
            <p:cNvPr name="TextBox 33" id="33"/>
            <p:cNvSpPr txBox="true"/>
            <p:nvPr/>
          </p:nvSpPr>
          <p:spPr>
            <a:xfrm>
              <a:off x="0" y="0"/>
              <a:ext cx="1947846" cy="2197570"/>
            </a:xfrm>
            <a:prstGeom prst="rect">
              <a:avLst/>
            </a:prstGeom>
          </p:spPr>
          <p:txBody>
            <a:bodyPr anchor="ctr" rtlCol="false" tIns="50800" lIns="50800" bIns="50800" rIns="50800"/>
            <a:lstStyle/>
            <a:p>
              <a:pPr algn="l" marL="0" indent="0" lvl="0">
                <a:lnSpc>
                  <a:spcPts val="2760"/>
                </a:lnSpc>
                <a:spcBef>
                  <a:spcPct val="0"/>
                </a:spcBef>
              </a:pPr>
            </a:p>
          </p:txBody>
        </p:sp>
      </p:grpSp>
      <p:sp>
        <p:nvSpPr>
          <p:cNvPr name="AutoShape 34" id="34"/>
          <p:cNvSpPr/>
          <p:nvPr/>
        </p:nvSpPr>
        <p:spPr>
          <a:xfrm>
            <a:off x="11049000" y="1347788"/>
            <a:ext cx="4381500" cy="0"/>
          </a:xfrm>
          <a:prstGeom prst="line">
            <a:avLst/>
          </a:prstGeom>
          <a:ln cap="flat" w="66675">
            <a:solidFill>
              <a:srgbClr val="000001"/>
            </a:solidFill>
            <a:prstDash val="solid"/>
            <a:headEnd type="none" len="sm" w="sm"/>
            <a:tailEnd type="none" len="sm" w="sm"/>
          </a:ln>
        </p:spPr>
      </p:sp>
      <p:sp>
        <p:nvSpPr>
          <p:cNvPr name="Freeform 35" id="35"/>
          <p:cNvSpPr/>
          <p:nvPr/>
        </p:nvSpPr>
        <p:spPr>
          <a:xfrm flipH="false" flipV="false" rot="0">
            <a:off x="9952059" y="5143500"/>
            <a:ext cx="6575381" cy="3962400"/>
          </a:xfrm>
          <a:custGeom>
            <a:avLst/>
            <a:gdLst/>
            <a:ahLst/>
            <a:cxnLst/>
            <a:rect r="r" b="b" t="t" l="l"/>
            <a:pathLst>
              <a:path h="3962400" w="6575381">
                <a:moveTo>
                  <a:pt x="0" y="0"/>
                </a:moveTo>
                <a:lnTo>
                  <a:pt x="6575382" y="0"/>
                </a:lnTo>
                <a:lnTo>
                  <a:pt x="6575382" y="3962400"/>
                </a:lnTo>
                <a:lnTo>
                  <a:pt x="0" y="3962400"/>
                </a:lnTo>
                <a:lnTo>
                  <a:pt x="0" y="0"/>
                </a:lnTo>
                <a:close/>
              </a:path>
            </a:pathLst>
          </a:custGeom>
          <a:blipFill>
            <a:blip r:embed="rId6"/>
            <a:stretch>
              <a:fillRect l="0" t="0" r="0" b="-58891"/>
            </a:stretch>
          </a:blipFill>
          <a:ln w="38100" cap="sq">
            <a:solidFill>
              <a:srgbClr val="000000"/>
            </a:solidFill>
            <a:prstDash val="solid"/>
            <a:miter/>
          </a:ln>
        </p:spPr>
      </p:sp>
      <p:sp>
        <p:nvSpPr>
          <p:cNvPr name="TextBox 36" id="36"/>
          <p:cNvSpPr txBox="true"/>
          <p:nvPr/>
        </p:nvSpPr>
        <p:spPr>
          <a:xfrm rot="0">
            <a:off x="1809750" y="4105344"/>
            <a:ext cx="6477000" cy="4924288"/>
          </a:xfrm>
          <a:prstGeom prst="rect">
            <a:avLst/>
          </a:prstGeom>
        </p:spPr>
        <p:txBody>
          <a:bodyPr anchor="t" rtlCol="false" tIns="0" lIns="0" bIns="0" rIns="0">
            <a:spAutoFit/>
          </a:bodyPr>
          <a:lstStyle/>
          <a:p>
            <a:pPr algn="l">
              <a:lnSpc>
                <a:spcPts val="3240"/>
              </a:lnSpc>
            </a:pPr>
            <a:r>
              <a:rPr lang="en-US" sz="2700" spc="-13">
                <a:solidFill>
                  <a:srgbClr val="000001"/>
                </a:solidFill>
                <a:latin typeface="Barlow SemiCondensed"/>
                <a:ea typeface="Barlow SemiCondensed"/>
                <a:cs typeface="Barlow SemiCondensed"/>
                <a:sym typeface="Barlow SemiCondensed"/>
              </a:rPr>
              <a:t>There is great variety in the Indonesian gene pool because the country sits</a:t>
            </a:r>
            <a:r>
              <a:rPr lang="en-US" sz="2700" spc="-13">
                <a:solidFill>
                  <a:srgbClr val="000001"/>
                </a:solidFill>
                <a:latin typeface="Barlow SemiCondensed"/>
                <a:ea typeface="Barlow SemiCondensed"/>
                <a:cs typeface="Barlow SemiCondensed"/>
                <a:sym typeface="Barlow SemiCondensed"/>
              </a:rPr>
              <a:t> at a major crossroads of ancient human migration and consists of thousands of islands that kept populations partially isolated for long periods. Waves of Austronesian, Papuan, Asian, Middle Eastern, and later European ancestry mixed over thousands of years, while island-by-island separation created unique genetic signatures. This combination of migration, isolation, and cultural exchange led to one of the most diverse genetic landscapes in the world.</a:t>
            </a:r>
          </a:p>
        </p:txBody>
      </p:sp>
      <p:sp>
        <p:nvSpPr>
          <p:cNvPr name="TextBox 37" id="37"/>
          <p:cNvSpPr txBox="true"/>
          <p:nvPr/>
        </p:nvSpPr>
        <p:spPr>
          <a:xfrm rot="0">
            <a:off x="9715500" y="1643805"/>
            <a:ext cx="7149357" cy="3189391"/>
          </a:xfrm>
          <a:prstGeom prst="rect">
            <a:avLst/>
          </a:prstGeom>
        </p:spPr>
        <p:txBody>
          <a:bodyPr anchor="t" rtlCol="false" tIns="0" lIns="0" bIns="0" rIns="0">
            <a:spAutoFit/>
          </a:bodyPr>
          <a:lstStyle/>
          <a:p>
            <a:pPr algn="l">
              <a:lnSpc>
                <a:spcPts val="3220"/>
              </a:lnSpc>
            </a:pPr>
            <a:r>
              <a:rPr lang="en-US" sz="2300">
                <a:solidFill>
                  <a:srgbClr val="000001"/>
                </a:solidFill>
                <a:latin typeface="Barlow SemiCondensed"/>
                <a:ea typeface="Barlow SemiCondensed"/>
                <a:cs typeface="Barlow SemiCondensed"/>
                <a:sym typeface="Barlow SemiCondensed"/>
              </a:rPr>
              <a:t>In</a:t>
            </a:r>
            <a:r>
              <a:rPr lang="en-US" sz="2300">
                <a:solidFill>
                  <a:srgbClr val="000001"/>
                </a:solidFill>
                <a:latin typeface="Barlow SemiCondensed"/>
                <a:ea typeface="Barlow SemiCondensed"/>
                <a:cs typeface="Barlow SemiCondensed"/>
                <a:sym typeface="Barlow SemiCondensed"/>
              </a:rPr>
              <a:t>donesia’s gene pool includes some of the oldest human lineages outside Africa, with eastern groups carrying high levels of Denisovan-related DNA. Many populations show unique local adaptations, shaped by rainforest, maritime, and high-pathogen environments. Several islands have rare founder mutations, and the genetic differences between Indonesian groups are so large that two communities within Indonesia can be more distinct than entire continental populations elsewhere</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sp>
        <p:nvSpPr>
          <p:cNvPr name="Freeform 3" id="3"/>
          <p:cNvSpPr/>
          <p:nvPr/>
        </p:nvSpPr>
        <p:spPr>
          <a:xfrm flipH="false" flipV="false" rot="0">
            <a:off x="-792211" y="5334000"/>
            <a:ext cx="5688061" cy="5836630"/>
          </a:xfrm>
          <a:custGeom>
            <a:avLst/>
            <a:gdLst/>
            <a:ahLst/>
            <a:cxnLst/>
            <a:rect r="r" b="b" t="t" l="l"/>
            <a:pathLst>
              <a:path h="5836630" w="5688061">
                <a:moveTo>
                  <a:pt x="0" y="0"/>
                </a:moveTo>
                <a:lnTo>
                  <a:pt x="5688061" y="0"/>
                </a:lnTo>
                <a:lnTo>
                  <a:pt x="5688061" y="5836630"/>
                </a:lnTo>
                <a:lnTo>
                  <a:pt x="0" y="5836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24000" y="1143000"/>
            <a:ext cx="7429500" cy="2552700"/>
            <a:chOff x="0" y="0"/>
            <a:chExt cx="1956741" cy="672316"/>
          </a:xfrm>
        </p:grpSpPr>
        <p:sp>
          <p:nvSpPr>
            <p:cNvPr name="Freeform 5" id="5"/>
            <p:cNvSpPr/>
            <p:nvPr/>
          </p:nvSpPr>
          <p:spPr>
            <a:xfrm flipH="false" flipV="false" rot="0">
              <a:off x="0" y="0"/>
              <a:ext cx="1956741" cy="672316"/>
            </a:xfrm>
            <a:custGeom>
              <a:avLst/>
              <a:gdLst/>
              <a:ahLst/>
              <a:cxnLst/>
              <a:rect r="r" b="b" t="t" l="l"/>
              <a:pathLst>
                <a:path h="672316" w="1956741">
                  <a:moveTo>
                    <a:pt x="0" y="0"/>
                  </a:moveTo>
                  <a:lnTo>
                    <a:pt x="1956741" y="0"/>
                  </a:lnTo>
                  <a:lnTo>
                    <a:pt x="1956741" y="672316"/>
                  </a:lnTo>
                  <a:lnTo>
                    <a:pt x="0" y="672316"/>
                  </a:lnTo>
                  <a:close/>
                </a:path>
              </a:pathLst>
            </a:custGeom>
            <a:solidFill>
              <a:srgbClr val="000001"/>
            </a:solidFill>
            <a:ln cap="sq">
              <a:noFill/>
              <a:prstDash val="solid"/>
              <a:miter/>
            </a:ln>
          </p:spPr>
        </p:sp>
        <p:sp>
          <p:nvSpPr>
            <p:cNvPr name="TextBox 6" id="6"/>
            <p:cNvSpPr txBox="true"/>
            <p:nvPr/>
          </p:nvSpPr>
          <p:spPr>
            <a:xfrm>
              <a:off x="0" y="38100"/>
              <a:ext cx="1956741" cy="634216"/>
            </a:xfrm>
            <a:prstGeom prst="rect">
              <a:avLst/>
            </a:prstGeom>
          </p:spPr>
          <p:txBody>
            <a:bodyPr anchor="ctr" rtlCol="false" tIns="254000" lIns="254000" bIns="254000" rIns="254000"/>
            <a:lstStyle/>
            <a:p>
              <a:pPr algn="ctr" marL="0" indent="0" lvl="0">
                <a:lnSpc>
                  <a:spcPts val="6600"/>
                </a:lnSpc>
              </a:pPr>
            </a:p>
          </p:txBody>
        </p:sp>
      </p:grpSp>
      <p:grpSp>
        <p:nvGrpSpPr>
          <p:cNvPr name="Group 7" id="7"/>
          <p:cNvGrpSpPr/>
          <p:nvPr/>
        </p:nvGrpSpPr>
        <p:grpSpPr>
          <a:xfrm rot="0">
            <a:off x="1333500" y="952500"/>
            <a:ext cx="7429500" cy="2552700"/>
            <a:chOff x="0" y="0"/>
            <a:chExt cx="1956741" cy="672316"/>
          </a:xfrm>
        </p:grpSpPr>
        <p:sp>
          <p:nvSpPr>
            <p:cNvPr name="Freeform 8" id="8"/>
            <p:cNvSpPr/>
            <p:nvPr/>
          </p:nvSpPr>
          <p:spPr>
            <a:xfrm flipH="false" flipV="false" rot="0">
              <a:off x="0" y="0"/>
              <a:ext cx="1956741" cy="672316"/>
            </a:xfrm>
            <a:custGeom>
              <a:avLst/>
              <a:gdLst/>
              <a:ahLst/>
              <a:cxnLst/>
              <a:rect r="r" b="b" t="t" l="l"/>
              <a:pathLst>
                <a:path h="672316" w="1956741">
                  <a:moveTo>
                    <a:pt x="0" y="0"/>
                  </a:moveTo>
                  <a:lnTo>
                    <a:pt x="1956741" y="0"/>
                  </a:lnTo>
                  <a:lnTo>
                    <a:pt x="1956741" y="672316"/>
                  </a:lnTo>
                  <a:lnTo>
                    <a:pt x="0" y="672316"/>
                  </a:lnTo>
                  <a:close/>
                </a:path>
              </a:pathLst>
            </a:custGeom>
            <a:solidFill>
              <a:srgbClr val="FFFFFF"/>
            </a:solidFill>
            <a:ln w="66675" cap="sq">
              <a:solidFill>
                <a:srgbClr val="000001"/>
              </a:solidFill>
              <a:prstDash val="solid"/>
              <a:miter/>
            </a:ln>
          </p:spPr>
        </p:sp>
        <p:sp>
          <p:nvSpPr>
            <p:cNvPr name="TextBox 9" id="9"/>
            <p:cNvSpPr txBox="true"/>
            <p:nvPr/>
          </p:nvSpPr>
          <p:spPr>
            <a:xfrm>
              <a:off x="0" y="38100"/>
              <a:ext cx="1956741" cy="634216"/>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INDONESIAN GENE MODIFICATIONS</a:t>
              </a:r>
            </a:p>
          </p:txBody>
        </p:sp>
      </p:grpSp>
      <p:grpSp>
        <p:nvGrpSpPr>
          <p:cNvPr name="Group 10" id="10"/>
          <p:cNvGrpSpPr/>
          <p:nvPr/>
        </p:nvGrpSpPr>
        <p:grpSpPr>
          <a:xfrm rot="0">
            <a:off x="1524000" y="4381500"/>
            <a:ext cx="7429500" cy="5143500"/>
            <a:chOff x="0" y="0"/>
            <a:chExt cx="1956741" cy="1354667"/>
          </a:xfrm>
        </p:grpSpPr>
        <p:sp>
          <p:nvSpPr>
            <p:cNvPr name="Freeform 11" id="11"/>
            <p:cNvSpPr/>
            <p:nvPr/>
          </p:nvSpPr>
          <p:spPr>
            <a:xfrm flipH="false" flipV="false" rot="0">
              <a:off x="0" y="0"/>
              <a:ext cx="1956741" cy="1354667"/>
            </a:xfrm>
            <a:custGeom>
              <a:avLst/>
              <a:gdLst/>
              <a:ahLst/>
              <a:cxnLst/>
              <a:rect r="r" b="b" t="t" l="l"/>
              <a:pathLst>
                <a:path h="1354667" w="1956741">
                  <a:moveTo>
                    <a:pt x="0" y="0"/>
                  </a:moveTo>
                  <a:lnTo>
                    <a:pt x="1956741" y="0"/>
                  </a:lnTo>
                  <a:lnTo>
                    <a:pt x="1956741" y="1354667"/>
                  </a:lnTo>
                  <a:lnTo>
                    <a:pt x="0" y="1354667"/>
                  </a:lnTo>
                  <a:close/>
                </a:path>
              </a:pathLst>
            </a:custGeom>
            <a:solidFill>
              <a:srgbClr val="707070"/>
            </a:solidFill>
            <a:ln cap="sq">
              <a:noFill/>
              <a:prstDash val="solid"/>
              <a:miter/>
            </a:ln>
          </p:spPr>
        </p:sp>
        <p:sp>
          <p:nvSpPr>
            <p:cNvPr name="TextBox 12" id="12"/>
            <p:cNvSpPr txBox="true"/>
            <p:nvPr/>
          </p:nvSpPr>
          <p:spPr>
            <a:xfrm>
              <a:off x="0" y="38100"/>
              <a:ext cx="1956741" cy="1316567"/>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3" id="13"/>
          <p:cNvGrpSpPr/>
          <p:nvPr/>
        </p:nvGrpSpPr>
        <p:grpSpPr>
          <a:xfrm rot="0">
            <a:off x="1333500" y="4191000"/>
            <a:ext cx="7429500" cy="5143500"/>
            <a:chOff x="0" y="0"/>
            <a:chExt cx="1956741" cy="1354667"/>
          </a:xfrm>
        </p:grpSpPr>
        <p:sp>
          <p:nvSpPr>
            <p:cNvPr name="Freeform 14" id="14"/>
            <p:cNvSpPr/>
            <p:nvPr/>
          </p:nvSpPr>
          <p:spPr>
            <a:xfrm flipH="false" flipV="false" rot="0">
              <a:off x="0" y="0"/>
              <a:ext cx="1956741" cy="1354667"/>
            </a:xfrm>
            <a:custGeom>
              <a:avLst/>
              <a:gdLst/>
              <a:ahLst/>
              <a:cxnLst/>
              <a:rect r="r" b="b" t="t" l="l"/>
              <a:pathLst>
                <a:path h="1354667" w="1956741">
                  <a:moveTo>
                    <a:pt x="0" y="0"/>
                  </a:moveTo>
                  <a:lnTo>
                    <a:pt x="1956741" y="0"/>
                  </a:lnTo>
                  <a:lnTo>
                    <a:pt x="1956741" y="1354667"/>
                  </a:lnTo>
                  <a:lnTo>
                    <a:pt x="0" y="1354667"/>
                  </a:lnTo>
                  <a:close/>
                </a:path>
              </a:pathLst>
            </a:custGeom>
            <a:solidFill>
              <a:srgbClr val="ECEB76"/>
            </a:solidFill>
            <a:ln w="66675" cap="sq">
              <a:solidFill>
                <a:srgbClr val="000001"/>
              </a:solidFill>
              <a:prstDash val="lgDash"/>
              <a:miter/>
            </a:ln>
          </p:spPr>
        </p:sp>
        <p:sp>
          <p:nvSpPr>
            <p:cNvPr name="TextBox 15" id="15"/>
            <p:cNvSpPr txBox="true"/>
            <p:nvPr/>
          </p:nvSpPr>
          <p:spPr>
            <a:xfrm>
              <a:off x="0" y="-19050"/>
              <a:ext cx="1956741" cy="1373717"/>
            </a:xfrm>
            <a:prstGeom prst="rect">
              <a:avLst/>
            </a:prstGeom>
          </p:spPr>
          <p:txBody>
            <a:bodyPr anchor="ctr" rtlCol="false" tIns="254000" lIns="254000" bIns="254000" rIns="254000"/>
            <a:lstStyle/>
            <a:p>
              <a:pPr algn="l" marL="0" indent="0" lvl="0">
                <a:lnSpc>
                  <a:spcPts val="3600"/>
                </a:lnSpc>
                <a:spcBef>
                  <a:spcPct val="0"/>
                </a:spcBef>
              </a:pPr>
            </a:p>
          </p:txBody>
        </p:sp>
      </p:grpSp>
      <p:sp>
        <p:nvSpPr>
          <p:cNvPr name="TextBox 16" id="16"/>
          <p:cNvSpPr txBox="true"/>
          <p:nvPr/>
        </p:nvSpPr>
        <p:spPr>
          <a:xfrm rot="0">
            <a:off x="1673823" y="4457853"/>
            <a:ext cx="6748854" cy="4590745"/>
          </a:xfrm>
          <a:prstGeom prst="rect">
            <a:avLst/>
          </a:prstGeom>
        </p:spPr>
        <p:txBody>
          <a:bodyPr anchor="t" rtlCol="false" tIns="0" lIns="0" bIns="0" rIns="0">
            <a:spAutoFit/>
          </a:bodyPr>
          <a:lstStyle/>
          <a:p>
            <a:pPr algn="l">
              <a:lnSpc>
                <a:spcPts val="3600"/>
              </a:lnSpc>
            </a:pPr>
            <a:r>
              <a:rPr lang="en-US" sz="3000" spc="-15" b="true">
                <a:solidFill>
                  <a:srgbClr val="000001"/>
                </a:solidFill>
                <a:latin typeface="Barlow SemiCondensed Bold"/>
                <a:ea typeface="Barlow SemiCondensed Bold"/>
                <a:cs typeface="Barlow SemiCondensed Bold"/>
                <a:sym typeface="Barlow SemiCondensed Bold"/>
              </a:rPr>
              <a:t>1.Influence of Single Nucleotide Polymorphism of ENPP1 and ADIPOQ on Insulin Resistance and Obesity</a:t>
            </a:r>
          </a:p>
          <a:p>
            <a:pPr algn="l">
              <a:lnSpc>
                <a:spcPts val="3600"/>
              </a:lnSpc>
            </a:pPr>
            <a:r>
              <a:rPr lang="en-US" sz="3000" spc="-15">
                <a:solidFill>
                  <a:srgbClr val="000001"/>
                </a:solidFill>
                <a:latin typeface="Barlow SemiCondensed"/>
                <a:ea typeface="Barlow SemiCondensed"/>
                <a:cs typeface="Barlow SemiCondensed"/>
                <a:sym typeface="Barlow SemiCondensed"/>
              </a:rPr>
              <a:t>An individual with the Q allele had a 6.6× higher risk of insulin resistance among obese subjects compared to non-carriers. While the ENPP1 gene effect is universal, it's just more noticeable in Javanese because of their genetics and lifestyle. </a:t>
            </a:r>
          </a:p>
          <a:p>
            <a:pPr algn="l">
              <a:lnSpc>
                <a:spcPts val="3600"/>
              </a:lnSpc>
            </a:pPr>
          </a:p>
        </p:txBody>
      </p:sp>
      <p:grpSp>
        <p:nvGrpSpPr>
          <p:cNvPr name="Group 17" id="17"/>
          <p:cNvGrpSpPr/>
          <p:nvPr/>
        </p:nvGrpSpPr>
        <p:grpSpPr>
          <a:xfrm rot="0">
            <a:off x="9715500" y="1143000"/>
            <a:ext cx="7429500" cy="8382000"/>
            <a:chOff x="0" y="0"/>
            <a:chExt cx="1947846" cy="2197570"/>
          </a:xfrm>
        </p:grpSpPr>
        <p:sp>
          <p:nvSpPr>
            <p:cNvPr name="Freeform 18" id="18"/>
            <p:cNvSpPr/>
            <p:nvPr/>
          </p:nvSpPr>
          <p:spPr>
            <a:xfrm flipH="false" flipV="false" rot="0">
              <a:off x="0" y="0"/>
              <a:ext cx="1947846" cy="2197570"/>
            </a:xfrm>
            <a:custGeom>
              <a:avLst/>
              <a:gdLst/>
              <a:ahLst/>
              <a:cxnLst/>
              <a:rect r="r" b="b" t="t" l="l"/>
              <a:pathLst>
                <a:path h="2197570" w="1947846">
                  <a:moveTo>
                    <a:pt x="0" y="0"/>
                  </a:moveTo>
                  <a:lnTo>
                    <a:pt x="1947846" y="0"/>
                  </a:lnTo>
                  <a:lnTo>
                    <a:pt x="1947846" y="2197570"/>
                  </a:lnTo>
                  <a:lnTo>
                    <a:pt x="0" y="2197570"/>
                  </a:lnTo>
                  <a:close/>
                </a:path>
              </a:pathLst>
            </a:custGeom>
            <a:solidFill>
              <a:srgbClr val="707070"/>
            </a:solidFill>
            <a:ln cap="sq">
              <a:noFill/>
              <a:prstDash val="solid"/>
              <a:miter/>
            </a:ln>
          </p:spPr>
        </p:sp>
        <p:sp>
          <p:nvSpPr>
            <p:cNvPr name="TextBox 19" id="19"/>
            <p:cNvSpPr txBox="true"/>
            <p:nvPr/>
          </p:nvSpPr>
          <p:spPr>
            <a:xfrm>
              <a:off x="0" y="38100"/>
              <a:ext cx="1947846" cy="2159470"/>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20" id="20"/>
          <p:cNvGrpSpPr/>
          <p:nvPr/>
        </p:nvGrpSpPr>
        <p:grpSpPr>
          <a:xfrm rot="0">
            <a:off x="9144000" y="809625"/>
            <a:ext cx="7810500" cy="8571050"/>
            <a:chOff x="0" y="0"/>
            <a:chExt cx="2047736" cy="2247135"/>
          </a:xfrm>
        </p:grpSpPr>
        <p:sp>
          <p:nvSpPr>
            <p:cNvPr name="Freeform 21" id="21"/>
            <p:cNvSpPr/>
            <p:nvPr/>
          </p:nvSpPr>
          <p:spPr>
            <a:xfrm flipH="false" flipV="false" rot="0">
              <a:off x="0" y="0"/>
              <a:ext cx="2047736" cy="2247135"/>
            </a:xfrm>
            <a:custGeom>
              <a:avLst/>
              <a:gdLst/>
              <a:ahLst/>
              <a:cxnLst/>
              <a:rect r="r" b="b" t="t" l="l"/>
              <a:pathLst>
                <a:path h="2247135" w="2047736">
                  <a:moveTo>
                    <a:pt x="0" y="0"/>
                  </a:moveTo>
                  <a:lnTo>
                    <a:pt x="2047736" y="0"/>
                  </a:lnTo>
                  <a:lnTo>
                    <a:pt x="2047736" y="2247135"/>
                  </a:lnTo>
                  <a:lnTo>
                    <a:pt x="0" y="2247135"/>
                  </a:lnTo>
                  <a:close/>
                </a:path>
              </a:pathLst>
            </a:custGeom>
            <a:solidFill>
              <a:srgbClr val="CDE8E8"/>
            </a:solidFill>
            <a:ln w="66675" cap="sq">
              <a:solidFill>
                <a:srgbClr val="000001"/>
              </a:solidFill>
              <a:prstDash val="lgDash"/>
              <a:miter/>
            </a:ln>
          </p:spPr>
        </p:sp>
        <p:sp>
          <p:nvSpPr>
            <p:cNvPr name="TextBox 22" id="22"/>
            <p:cNvSpPr txBox="true"/>
            <p:nvPr/>
          </p:nvSpPr>
          <p:spPr>
            <a:xfrm>
              <a:off x="0" y="19050"/>
              <a:ext cx="2047736" cy="2228085"/>
            </a:xfrm>
            <a:prstGeom prst="rect">
              <a:avLst/>
            </a:prstGeom>
          </p:spPr>
          <p:txBody>
            <a:bodyPr anchor="ctr" rtlCol="false" tIns="50800" lIns="50800" bIns="50800" rIns="50800"/>
            <a:lstStyle/>
            <a:p>
              <a:pPr algn="l">
                <a:lnSpc>
                  <a:spcPts val="2970"/>
                </a:lnSpc>
              </a:pPr>
              <a:r>
                <a:rPr lang="en-US" sz="2700" b="true">
                  <a:solidFill>
                    <a:srgbClr val="000001"/>
                  </a:solidFill>
                  <a:latin typeface="Barlow SemiCondensed Bold"/>
                  <a:ea typeface="Barlow SemiCondensed Bold"/>
                  <a:cs typeface="Barlow SemiCondensed Bold"/>
                  <a:sym typeface="Barlow SemiCondensed Bold"/>
                </a:rPr>
                <a:t>2. Physiological and Genetic Adaptations to Diving in Sea Nomads</a:t>
              </a:r>
            </a:p>
            <a:p>
              <a:pPr algn="l">
                <a:lnSpc>
                  <a:spcPts val="2970"/>
                </a:lnSpc>
              </a:pPr>
              <a:r>
                <a:rPr lang="en-US" sz="2700">
                  <a:solidFill>
                    <a:srgbClr val="000001"/>
                  </a:solidFill>
                  <a:latin typeface="Barlow SemiCondensed"/>
                  <a:ea typeface="Barlow SemiCondensed"/>
                  <a:cs typeface="Barlow SemiCondensed"/>
                  <a:sym typeface="Barlow SemiCondensed"/>
                </a:rPr>
                <a:t>The Bajau people have practiced diving by holding their breath for thousands of years. They can dive to 70 meters without using any scuba equipment. Researchers have found that their spleens are 50% bigger than their non-diving neighbor, the saluan people. The larger spleen holds oxygen-rich blood and releases it when diving. The BDKRB2 gene mutation improves blood flow during dives, and the PDE10A gene mutation makes their spleen grow larger.</a:t>
              </a:r>
            </a:p>
            <a:p>
              <a:pPr algn="l">
                <a:lnSpc>
                  <a:spcPts val="2970"/>
                </a:lnSpc>
              </a:pPr>
            </a:p>
            <a:p>
              <a:pPr algn="l">
                <a:lnSpc>
                  <a:spcPts val="2970"/>
                </a:lnSpc>
              </a:pPr>
              <a:r>
                <a:rPr lang="en-US" sz="2700" b="true">
                  <a:solidFill>
                    <a:srgbClr val="000001"/>
                  </a:solidFill>
                  <a:latin typeface="Barlow SemiCondensed Bold"/>
                  <a:ea typeface="Barlow SemiCondensed Bold"/>
                  <a:cs typeface="Barlow SemiCondensed Bold"/>
                  <a:sym typeface="Barlow SemiCondensed Bold"/>
                </a:rPr>
                <a:t>3. Genome-wide DNA methylation and gene expression patterns reflect genetic ancestry and environmental differences across the Indonesian archipelago </a:t>
              </a:r>
            </a:p>
            <a:p>
              <a:pPr algn="l">
                <a:lnSpc>
                  <a:spcPts val="2970"/>
                </a:lnSpc>
              </a:pPr>
              <a:r>
                <a:rPr lang="en-US" sz="2700">
                  <a:solidFill>
                    <a:srgbClr val="000001"/>
                  </a:solidFill>
                  <a:latin typeface="Barlow SemiCondensed"/>
                  <a:ea typeface="Barlow SemiCondensed"/>
                  <a:cs typeface="Barlow SemiCondensed"/>
                  <a:sym typeface="Barlow SemiCondensed"/>
                </a:rPr>
                <a:t>Genes from Western Indonesia are more closely related to Asia, with genes similar to mainland Asia. Genes in central Indonesia, especially from Sumba, have mixed genes from Asia and Papua. Lastly, people in eastern Indonesia have more Papuan-like genes. These genes are found in their immune genes</a:t>
              </a:r>
            </a:p>
            <a:p>
              <a:pPr algn="l" marL="0" indent="0" lvl="0">
                <a:lnSpc>
                  <a:spcPts val="3190"/>
                </a:lnSpc>
                <a:spcBef>
                  <a:spcPct val="0"/>
                </a:spcBef>
              </a:pPr>
            </a:p>
          </p:txBody>
        </p:sp>
      </p:grpSp>
      <p:sp>
        <p:nvSpPr>
          <p:cNvPr name="Freeform 23" id="23"/>
          <p:cNvSpPr/>
          <p:nvPr/>
        </p:nvSpPr>
        <p:spPr>
          <a:xfrm flipH="false" flipV="false" rot="-2699999">
            <a:off x="7913566" y="8435842"/>
            <a:ext cx="1198023" cy="1639087"/>
          </a:xfrm>
          <a:custGeom>
            <a:avLst/>
            <a:gdLst/>
            <a:ahLst/>
            <a:cxnLst/>
            <a:rect r="r" b="b" t="t" l="l"/>
            <a:pathLst>
              <a:path h="1639087" w="1198023">
                <a:moveTo>
                  <a:pt x="0" y="0"/>
                </a:moveTo>
                <a:lnTo>
                  <a:pt x="1198023" y="0"/>
                </a:lnTo>
                <a:lnTo>
                  <a:pt x="1198023" y="1639086"/>
                </a:lnTo>
                <a:lnTo>
                  <a:pt x="0" y="16390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24" id="24"/>
          <p:cNvGrpSpPr/>
          <p:nvPr/>
        </p:nvGrpSpPr>
        <p:grpSpPr>
          <a:xfrm rot="0">
            <a:off x="1175946" y="809625"/>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8512577" y="809625"/>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1175946" y="3244800"/>
            <a:ext cx="361950" cy="36195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2" id="3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3" id="33"/>
          <p:cNvGrpSpPr/>
          <p:nvPr/>
        </p:nvGrpSpPr>
        <p:grpSpPr>
          <a:xfrm rot="0">
            <a:off x="8512577" y="3244800"/>
            <a:ext cx="361950" cy="361950"/>
            <a:chOff x="0" y="0"/>
            <a:chExt cx="731520" cy="731520"/>
          </a:xfrm>
        </p:grpSpPr>
        <p:sp>
          <p:nvSpPr>
            <p:cNvPr name="Freeform 34" id="34"/>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35" id="35"/>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DE8E8"/>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grpSp>
        <p:nvGrpSpPr>
          <p:cNvPr name="Group 3" id="3"/>
          <p:cNvGrpSpPr/>
          <p:nvPr/>
        </p:nvGrpSpPr>
        <p:grpSpPr>
          <a:xfrm rot="0">
            <a:off x="9144000" y="3143250"/>
            <a:ext cx="8563918" cy="6667500"/>
            <a:chOff x="0" y="0"/>
            <a:chExt cx="2255517" cy="1756049"/>
          </a:xfrm>
        </p:grpSpPr>
        <p:sp>
          <p:nvSpPr>
            <p:cNvPr name="Freeform 4" id="4"/>
            <p:cNvSpPr/>
            <p:nvPr/>
          </p:nvSpPr>
          <p:spPr>
            <a:xfrm flipH="false" flipV="false" rot="0">
              <a:off x="0" y="0"/>
              <a:ext cx="2255517" cy="1756049"/>
            </a:xfrm>
            <a:custGeom>
              <a:avLst/>
              <a:gdLst/>
              <a:ahLst/>
              <a:cxnLst/>
              <a:rect r="r" b="b" t="t" l="l"/>
              <a:pathLst>
                <a:path h="1756049" w="2255517">
                  <a:moveTo>
                    <a:pt x="0" y="0"/>
                  </a:moveTo>
                  <a:lnTo>
                    <a:pt x="2255517" y="0"/>
                  </a:lnTo>
                  <a:lnTo>
                    <a:pt x="2255517" y="1756049"/>
                  </a:lnTo>
                  <a:lnTo>
                    <a:pt x="0" y="1756049"/>
                  </a:lnTo>
                  <a:close/>
                </a:path>
              </a:pathLst>
            </a:custGeom>
            <a:solidFill>
              <a:srgbClr val="000001"/>
            </a:solidFill>
            <a:ln cap="sq">
              <a:noFill/>
              <a:prstDash val="solid"/>
              <a:miter/>
            </a:ln>
          </p:spPr>
        </p:sp>
        <p:sp>
          <p:nvSpPr>
            <p:cNvPr name="TextBox 5" id="5"/>
            <p:cNvSpPr txBox="true"/>
            <p:nvPr/>
          </p:nvSpPr>
          <p:spPr>
            <a:xfrm>
              <a:off x="0" y="38100"/>
              <a:ext cx="2255517" cy="1717949"/>
            </a:xfrm>
            <a:prstGeom prst="rect">
              <a:avLst/>
            </a:prstGeom>
          </p:spPr>
          <p:txBody>
            <a:bodyPr anchor="ctr" rtlCol="false" tIns="254000" lIns="254000" bIns="254000" rIns="254000"/>
            <a:lstStyle/>
            <a:p>
              <a:pPr algn="ctr" marL="0" indent="0" lvl="0">
                <a:lnSpc>
                  <a:spcPts val="6600"/>
                </a:lnSpc>
              </a:pPr>
            </a:p>
          </p:txBody>
        </p:sp>
      </p:grpSp>
      <p:grpSp>
        <p:nvGrpSpPr>
          <p:cNvPr name="Group 6" id="6"/>
          <p:cNvGrpSpPr/>
          <p:nvPr/>
        </p:nvGrpSpPr>
        <p:grpSpPr>
          <a:xfrm rot="0">
            <a:off x="-190500" y="-190500"/>
            <a:ext cx="5181600" cy="10668000"/>
            <a:chOff x="0" y="0"/>
            <a:chExt cx="1364701" cy="2809679"/>
          </a:xfrm>
        </p:grpSpPr>
        <p:sp>
          <p:nvSpPr>
            <p:cNvPr name="Freeform 7" id="7"/>
            <p:cNvSpPr/>
            <p:nvPr/>
          </p:nvSpPr>
          <p:spPr>
            <a:xfrm flipH="false" flipV="false" rot="0">
              <a:off x="0" y="0"/>
              <a:ext cx="1364701" cy="2809679"/>
            </a:xfrm>
            <a:custGeom>
              <a:avLst/>
              <a:gdLst/>
              <a:ahLst/>
              <a:cxnLst/>
              <a:rect r="r" b="b" t="t" l="l"/>
              <a:pathLst>
                <a:path h="2809679" w="1364701">
                  <a:moveTo>
                    <a:pt x="0" y="0"/>
                  </a:moveTo>
                  <a:lnTo>
                    <a:pt x="1364701" y="0"/>
                  </a:lnTo>
                  <a:lnTo>
                    <a:pt x="1364701" y="2809679"/>
                  </a:lnTo>
                  <a:lnTo>
                    <a:pt x="0" y="2809679"/>
                  </a:lnTo>
                  <a:close/>
                </a:path>
              </a:pathLst>
            </a:custGeom>
            <a:solidFill>
              <a:srgbClr val="A6A6A6"/>
            </a:solidFill>
            <a:ln w="66675" cap="sq">
              <a:solidFill>
                <a:srgbClr val="000001"/>
              </a:solidFill>
              <a:prstDash val="solid"/>
              <a:miter/>
            </a:ln>
          </p:spPr>
        </p:sp>
        <p:sp>
          <p:nvSpPr>
            <p:cNvPr name="TextBox 8" id="8"/>
            <p:cNvSpPr txBox="true"/>
            <p:nvPr/>
          </p:nvSpPr>
          <p:spPr>
            <a:xfrm>
              <a:off x="0" y="0"/>
              <a:ext cx="1364701" cy="2809679"/>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9" id="9"/>
          <p:cNvGrpSpPr/>
          <p:nvPr/>
        </p:nvGrpSpPr>
        <p:grpSpPr>
          <a:xfrm rot="0">
            <a:off x="1028700" y="225557"/>
            <a:ext cx="7582643" cy="12883887"/>
            <a:chOff x="0" y="0"/>
            <a:chExt cx="10110191" cy="17178516"/>
          </a:xfrm>
        </p:grpSpPr>
        <p:sp>
          <p:nvSpPr>
            <p:cNvPr name="Freeform 10" id="10"/>
            <p:cNvSpPr/>
            <p:nvPr/>
          </p:nvSpPr>
          <p:spPr>
            <a:xfrm flipH="false" flipV="false" rot="0">
              <a:off x="203200" y="101600"/>
              <a:ext cx="9906991" cy="17076916"/>
            </a:xfrm>
            <a:custGeom>
              <a:avLst/>
              <a:gdLst/>
              <a:ahLst/>
              <a:cxnLst/>
              <a:rect r="r" b="b" t="t" l="l"/>
              <a:pathLst>
                <a:path h="17076916" w="9906991">
                  <a:moveTo>
                    <a:pt x="0" y="0"/>
                  </a:moveTo>
                  <a:lnTo>
                    <a:pt x="9906991" y="0"/>
                  </a:lnTo>
                  <a:lnTo>
                    <a:pt x="9906991" y="17076916"/>
                  </a:lnTo>
                  <a:lnTo>
                    <a:pt x="0" y="170769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0" y="0"/>
              <a:ext cx="9906000" cy="17075207"/>
            </a:xfrm>
            <a:custGeom>
              <a:avLst/>
              <a:gdLst/>
              <a:ahLst/>
              <a:cxnLst/>
              <a:rect r="r" b="b" t="t" l="l"/>
              <a:pathLst>
                <a:path h="17075207" w="9906000">
                  <a:moveTo>
                    <a:pt x="0" y="0"/>
                  </a:moveTo>
                  <a:lnTo>
                    <a:pt x="9906000" y="0"/>
                  </a:lnTo>
                  <a:lnTo>
                    <a:pt x="9906000" y="17075207"/>
                  </a:lnTo>
                  <a:lnTo>
                    <a:pt x="0" y="170752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2" id="12"/>
          <p:cNvGrpSpPr/>
          <p:nvPr/>
        </p:nvGrpSpPr>
        <p:grpSpPr>
          <a:xfrm rot="0">
            <a:off x="9715500" y="1143000"/>
            <a:ext cx="7429500" cy="1695450"/>
            <a:chOff x="0" y="0"/>
            <a:chExt cx="1956741" cy="446538"/>
          </a:xfrm>
        </p:grpSpPr>
        <p:sp>
          <p:nvSpPr>
            <p:cNvPr name="Freeform 13" id="13"/>
            <p:cNvSpPr/>
            <p:nvPr/>
          </p:nvSpPr>
          <p:spPr>
            <a:xfrm flipH="false" flipV="false" rot="0">
              <a:off x="0" y="0"/>
              <a:ext cx="1956741" cy="446538"/>
            </a:xfrm>
            <a:custGeom>
              <a:avLst/>
              <a:gdLst/>
              <a:ahLst/>
              <a:cxnLst/>
              <a:rect r="r" b="b" t="t" l="l"/>
              <a:pathLst>
                <a:path h="446538" w="1956741">
                  <a:moveTo>
                    <a:pt x="0" y="0"/>
                  </a:moveTo>
                  <a:lnTo>
                    <a:pt x="1956741" y="0"/>
                  </a:lnTo>
                  <a:lnTo>
                    <a:pt x="1956741" y="446538"/>
                  </a:lnTo>
                  <a:lnTo>
                    <a:pt x="0" y="446538"/>
                  </a:lnTo>
                  <a:close/>
                </a:path>
              </a:pathLst>
            </a:custGeom>
            <a:solidFill>
              <a:srgbClr val="000001"/>
            </a:solidFill>
            <a:ln cap="sq">
              <a:noFill/>
              <a:prstDash val="solid"/>
              <a:miter/>
            </a:ln>
          </p:spPr>
        </p:sp>
        <p:sp>
          <p:nvSpPr>
            <p:cNvPr name="TextBox 14" id="14"/>
            <p:cNvSpPr txBox="true"/>
            <p:nvPr/>
          </p:nvSpPr>
          <p:spPr>
            <a:xfrm>
              <a:off x="0" y="38100"/>
              <a:ext cx="1956741" cy="408438"/>
            </a:xfrm>
            <a:prstGeom prst="rect">
              <a:avLst/>
            </a:prstGeom>
          </p:spPr>
          <p:txBody>
            <a:bodyPr anchor="ctr" rtlCol="false" tIns="254000" lIns="254000" bIns="254000" rIns="254000"/>
            <a:lstStyle/>
            <a:p>
              <a:pPr algn="ctr" marL="0" indent="0" lvl="0">
                <a:lnSpc>
                  <a:spcPts val="6600"/>
                </a:lnSpc>
              </a:pPr>
            </a:p>
          </p:txBody>
        </p:sp>
      </p:grpSp>
      <p:grpSp>
        <p:nvGrpSpPr>
          <p:cNvPr name="Group 15" id="15"/>
          <p:cNvGrpSpPr/>
          <p:nvPr/>
        </p:nvGrpSpPr>
        <p:grpSpPr>
          <a:xfrm rot="0">
            <a:off x="9525000" y="952500"/>
            <a:ext cx="7429500" cy="1638300"/>
            <a:chOff x="0" y="0"/>
            <a:chExt cx="1956741" cy="431486"/>
          </a:xfrm>
        </p:grpSpPr>
        <p:sp>
          <p:nvSpPr>
            <p:cNvPr name="Freeform 16" id="16"/>
            <p:cNvSpPr/>
            <p:nvPr/>
          </p:nvSpPr>
          <p:spPr>
            <a:xfrm flipH="false" flipV="false" rot="0">
              <a:off x="0" y="0"/>
              <a:ext cx="1956741" cy="431486"/>
            </a:xfrm>
            <a:custGeom>
              <a:avLst/>
              <a:gdLst/>
              <a:ahLst/>
              <a:cxnLst/>
              <a:rect r="r" b="b" t="t" l="l"/>
              <a:pathLst>
                <a:path h="431486" w="1956741">
                  <a:moveTo>
                    <a:pt x="0" y="0"/>
                  </a:moveTo>
                  <a:lnTo>
                    <a:pt x="1956741" y="0"/>
                  </a:lnTo>
                  <a:lnTo>
                    <a:pt x="1956741" y="431486"/>
                  </a:lnTo>
                  <a:lnTo>
                    <a:pt x="0" y="431486"/>
                  </a:lnTo>
                  <a:close/>
                </a:path>
              </a:pathLst>
            </a:custGeom>
            <a:solidFill>
              <a:srgbClr val="ECEB76"/>
            </a:solidFill>
            <a:ln w="66675" cap="sq">
              <a:solidFill>
                <a:srgbClr val="000001"/>
              </a:solidFill>
              <a:prstDash val="solid"/>
              <a:miter/>
            </a:ln>
          </p:spPr>
        </p:sp>
        <p:sp>
          <p:nvSpPr>
            <p:cNvPr name="TextBox 17" id="17"/>
            <p:cNvSpPr txBox="true"/>
            <p:nvPr/>
          </p:nvSpPr>
          <p:spPr>
            <a:xfrm>
              <a:off x="0" y="47625"/>
              <a:ext cx="1956741" cy="383861"/>
            </a:xfrm>
            <a:prstGeom prst="rect">
              <a:avLst/>
            </a:prstGeom>
          </p:spPr>
          <p:txBody>
            <a:bodyPr anchor="t" rtlCol="false" tIns="254000" lIns="254000" bIns="254000" rIns="254000"/>
            <a:lstStyle/>
            <a:p>
              <a:pPr algn="ctr" marL="0" indent="0" lvl="0">
                <a:lnSpc>
                  <a:spcPts val="6160"/>
                </a:lnSpc>
                <a:spcBef>
                  <a:spcPct val="0"/>
                </a:spcBef>
              </a:pPr>
              <a:r>
                <a:rPr lang="en-US" b="true" sz="5600">
                  <a:solidFill>
                    <a:srgbClr val="000001"/>
                  </a:solidFill>
                  <a:latin typeface="Barlow SemiCondensed Bold"/>
                  <a:ea typeface="Barlow SemiCondensed Bold"/>
                  <a:cs typeface="Barlow SemiCondensed Bold"/>
                  <a:sym typeface="Barlow SemiCondensed Bold"/>
                </a:rPr>
                <a:t>RESEARCH RELEVANCE</a:t>
              </a:r>
            </a:p>
          </p:txBody>
        </p:sp>
      </p:grpSp>
      <p:grpSp>
        <p:nvGrpSpPr>
          <p:cNvPr name="Group 18" id="18"/>
          <p:cNvGrpSpPr/>
          <p:nvPr/>
        </p:nvGrpSpPr>
        <p:grpSpPr>
          <a:xfrm rot="0">
            <a:off x="9373433" y="80962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16710064" y="80962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9373433" y="2428875"/>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16710064" y="2428875"/>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8702110" y="3143250"/>
            <a:ext cx="8746653" cy="6359930"/>
            <a:chOff x="0" y="0"/>
            <a:chExt cx="2303645" cy="1675043"/>
          </a:xfrm>
        </p:grpSpPr>
        <p:sp>
          <p:nvSpPr>
            <p:cNvPr name="Freeform 31" id="31"/>
            <p:cNvSpPr/>
            <p:nvPr/>
          </p:nvSpPr>
          <p:spPr>
            <a:xfrm flipH="false" flipV="false" rot="0">
              <a:off x="0" y="0"/>
              <a:ext cx="2303645" cy="1675043"/>
            </a:xfrm>
            <a:custGeom>
              <a:avLst/>
              <a:gdLst/>
              <a:ahLst/>
              <a:cxnLst/>
              <a:rect r="r" b="b" t="t" l="l"/>
              <a:pathLst>
                <a:path h="1675043" w="2303645">
                  <a:moveTo>
                    <a:pt x="0" y="0"/>
                  </a:moveTo>
                  <a:lnTo>
                    <a:pt x="2303645" y="0"/>
                  </a:lnTo>
                  <a:lnTo>
                    <a:pt x="2303645" y="1675043"/>
                  </a:lnTo>
                  <a:lnTo>
                    <a:pt x="0" y="1675043"/>
                  </a:lnTo>
                  <a:close/>
                </a:path>
              </a:pathLst>
            </a:custGeom>
            <a:solidFill>
              <a:srgbClr val="FFFFFF"/>
            </a:solidFill>
            <a:ln w="66675" cap="sq">
              <a:solidFill>
                <a:srgbClr val="000001"/>
              </a:solidFill>
              <a:prstDash val="dash"/>
              <a:miter/>
            </a:ln>
          </p:spPr>
        </p:sp>
        <p:sp>
          <p:nvSpPr>
            <p:cNvPr name="TextBox 32" id="32"/>
            <p:cNvSpPr txBox="true"/>
            <p:nvPr/>
          </p:nvSpPr>
          <p:spPr>
            <a:xfrm>
              <a:off x="0" y="-9525"/>
              <a:ext cx="2303645" cy="1684568"/>
            </a:xfrm>
            <a:prstGeom prst="rect">
              <a:avLst/>
            </a:prstGeom>
          </p:spPr>
          <p:txBody>
            <a:bodyPr anchor="t" rtlCol="false" tIns="254000" lIns="254000" bIns="254000" rIns="254000"/>
            <a:lstStyle/>
            <a:p>
              <a:pPr algn="l" marL="0" indent="0" lvl="0">
                <a:lnSpc>
                  <a:spcPts val="4199"/>
                </a:lnSpc>
                <a:spcBef>
                  <a:spcPct val="0"/>
                </a:spcBef>
              </a:pPr>
            </a:p>
          </p:txBody>
        </p:sp>
      </p:grpSp>
      <p:sp>
        <p:nvSpPr>
          <p:cNvPr name="TextBox 33" id="33"/>
          <p:cNvSpPr txBox="true"/>
          <p:nvPr/>
        </p:nvSpPr>
        <p:spPr>
          <a:xfrm rot="0">
            <a:off x="8893644" y="3207384"/>
            <a:ext cx="8555120" cy="5953491"/>
          </a:xfrm>
          <a:prstGeom prst="rect">
            <a:avLst/>
          </a:prstGeom>
        </p:spPr>
        <p:txBody>
          <a:bodyPr anchor="t" rtlCol="false" tIns="0" lIns="0" bIns="0" rIns="0">
            <a:spAutoFit/>
          </a:bodyPr>
          <a:lstStyle/>
          <a:p>
            <a:pPr algn="l">
              <a:lnSpc>
                <a:spcPts val="3959"/>
              </a:lnSpc>
            </a:pPr>
            <a:r>
              <a:rPr lang="en-US" sz="3299" spc="-16">
                <a:solidFill>
                  <a:srgbClr val="000001"/>
                </a:solidFill>
                <a:latin typeface="Barlow SemiCondensed"/>
                <a:ea typeface="Barlow SemiCondensed"/>
                <a:cs typeface="Barlow SemiCondensed"/>
                <a:sym typeface="Barlow SemiCondensed"/>
              </a:rPr>
              <a:t>The Indonesian diversity has produced rare and unique genetic variants that help scientists understand human evolution, disease mechanisms, and how populations adapt to extreme environments such as rainforests and high-pathogen regions. Indonesia also carries high levels of Denisovan ancestry, offering insights into ancient human interbreeding and its effects on immunity and physiology. Overall, its genetic uniqueness makes Indonesia a key region for discovering medically relevant mutations and expanding global precision-medicine research.</a:t>
            </a:r>
          </a:p>
        </p:txBody>
      </p:sp>
      <p:sp>
        <p:nvSpPr>
          <p:cNvPr name="Freeform 34" id="34"/>
          <p:cNvSpPr/>
          <p:nvPr/>
        </p:nvSpPr>
        <p:spPr>
          <a:xfrm flipH="false" flipV="false" rot="-1507717">
            <a:off x="16548701" y="8764658"/>
            <a:ext cx="811599" cy="1417077"/>
          </a:xfrm>
          <a:custGeom>
            <a:avLst/>
            <a:gdLst/>
            <a:ahLst/>
            <a:cxnLst/>
            <a:rect r="r" b="b" t="t" l="l"/>
            <a:pathLst>
              <a:path h="1417077" w="811599">
                <a:moveTo>
                  <a:pt x="0" y="0"/>
                </a:moveTo>
                <a:lnTo>
                  <a:pt x="811598" y="0"/>
                </a:lnTo>
                <a:lnTo>
                  <a:pt x="811598" y="1417077"/>
                </a:lnTo>
                <a:lnTo>
                  <a:pt x="0" y="14170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381000" y="5334000"/>
            <a:ext cx="19050000" cy="5143500"/>
            <a:chOff x="0" y="0"/>
            <a:chExt cx="5017284" cy="1354667"/>
          </a:xfrm>
        </p:grpSpPr>
        <p:sp>
          <p:nvSpPr>
            <p:cNvPr name="Freeform 4" id="4"/>
            <p:cNvSpPr/>
            <p:nvPr/>
          </p:nvSpPr>
          <p:spPr>
            <a:xfrm flipH="false" flipV="false" rot="0">
              <a:off x="0" y="0"/>
              <a:ext cx="5017284" cy="1354667"/>
            </a:xfrm>
            <a:custGeom>
              <a:avLst/>
              <a:gdLst/>
              <a:ahLst/>
              <a:cxnLst/>
              <a:rect r="r" b="b" t="t" l="l"/>
              <a:pathLst>
                <a:path h="1354667" w="5017284">
                  <a:moveTo>
                    <a:pt x="0" y="0"/>
                  </a:moveTo>
                  <a:lnTo>
                    <a:pt x="5017284" y="0"/>
                  </a:lnTo>
                  <a:lnTo>
                    <a:pt x="5017284" y="1354667"/>
                  </a:lnTo>
                  <a:lnTo>
                    <a:pt x="0" y="1354667"/>
                  </a:lnTo>
                  <a:close/>
                </a:path>
              </a:pathLst>
            </a:custGeom>
            <a:solidFill>
              <a:srgbClr val="A6A6A6"/>
            </a:solidFill>
            <a:ln w="66675" cap="sq">
              <a:solidFill>
                <a:srgbClr val="000001"/>
              </a:solidFill>
              <a:prstDash val="solid"/>
              <a:miter/>
            </a:ln>
          </p:spPr>
        </p:sp>
        <p:sp>
          <p:nvSpPr>
            <p:cNvPr name="TextBox 5" id="5"/>
            <p:cNvSpPr txBox="true"/>
            <p:nvPr/>
          </p:nvSpPr>
          <p:spPr>
            <a:xfrm>
              <a:off x="0" y="-19050"/>
              <a:ext cx="5017284" cy="1373717"/>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6" id="6"/>
          <p:cNvGrpSpPr/>
          <p:nvPr/>
        </p:nvGrpSpPr>
        <p:grpSpPr>
          <a:xfrm rot="0">
            <a:off x="1370409" y="590551"/>
            <a:ext cx="15574566" cy="2952750"/>
            <a:chOff x="0" y="0"/>
            <a:chExt cx="4101943" cy="777679"/>
          </a:xfrm>
        </p:grpSpPr>
        <p:sp>
          <p:nvSpPr>
            <p:cNvPr name="Freeform 7" id="7"/>
            <p:cNvSpPr/>
            <p:nvPr/>
          </p:nvSpPr>
          <p:spPr>
            <a:xfrm flipH="false" flipV="false" rot="0">
              <a:off x="0" y="0"/>
              <a:ext cx="4101943" cy="777679"/>
            </a:xfrm>
            <a:custGeom>
              <a:avLst/>
              <a:gdLst/>
              <a:ahLst/>
              <a:cxnLst/>
              <a:rect r="r" b="b" t="t" l="l"/>
              <a:pathLst>
                <a:path h="777679" w="4101943">
                  <a:moveTo>
                    <a:pt x="0" y="0"/>
                  </a:moveTo>
                  <a:lnTo>
                    <a:pt x="4101943" y="0"/>
                  </a:lnTo>
                  <a:lnTo>
                    <a:pt x="4101943" y="777679"/>
                  </a:lnTo>
                  <a:lnTo>
                    <a:pt x="0" y="777679"/>
                  </a:lnTo>
                  <a:close/>
                </a:path>
              </a:pathLst>
            </a:custGeom>
            <a:solidFill>
              <a:srgbClr val="000001"/>
            </a:solidFill>
            <a:ln cap="sq">
              <a:noFill/>
              <a:prstDash val="solid"/>
              <a:miter/>
            </a:ln>
          </p:spPr>
        </p:sp>
        <p:sp>
          <p:nvSpPr>
            <p:cNvPr name="TextBox 8" id="8"/>
            <p:cNvSpPr txBox="true"/>
            <p:nvPr/>
          </p:nvSpPr>
          <p:spPr>
            <a:xfrm>
              <a:off x="0" y="38100"/>
              <a:ext cx="4101943" cy="739579"/>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9" id="9"/>
          <p:cNvGrpSpPr/>
          <p:nvPr/>
        </p:nvGrpSpPr>
        <p:grpSpPr>
          <a:xfrm rot="0">
            <a:off x="1189434" y="398710"/>
            <a:ext cx="15621000" cy="2971813"/>
            <a:chOff x="0" y="0"/>
            <a:chExt cx="20828000" cy="3962417"/>
          </a:xfrm>
        </p:grpSpPr>
        <p:grpSp>
          <p:nvGrpSpPr>
            <p:cNvPr name="Group 10" id="10"/>
            <p:cNvGrpSpPr/>
            <p:nvPr/>
          </p:nvGrpSpPr>
          <p:grpSpPr>
            <a:xfrm rot="0">
              <a:off x="0" y="0"/>
              <a:ext cx="20828000" cy="1752610"/>
              <a:chOff x="0" y="0"/>
              <a:chExt cx="4114173" cy="346195"/>
            </a:xfrm>
          </p:grpSpPr>
          <p:sp>
            <p:nvSpPr>
              <p:cNvPr name="Freeform 11" id="11"/>
              <p:cNvSpPr/>
              <p:nvPr/>
            </p:nvSpPr>
            <p:spPr>
              <a:xfrm flipH="false" flipV="false" rot="0">
                <a:off x="0" y="0"/>
                <a:ext cx="4114173" cy="346195"/>
              </a:xfrm>
              <a:custGeom>
                <a:avLst/>
                <a:gdLst/>
                <a:ahLst/>
                <a:cxnLst/>
                <a:rect r="r" b="b" t="t" l="l"/>
                <a:pathLst>
                  <a:path h="346195" w="4114173">
                    <a:moveTo>
                      <a:pt x="0" y="0"/>
                    </a:moveTo>
                    <a:lnTo>
                      <a:pt x="4114173" y="0"/>
                    </a:lnTo>
                    <a:lnTo>
                      <a:pt x="4114173" y="346195"/>
                    </a:lnTo>
                    <a:lnTo>
                      <a:pt x="0" y="346195"/>
                    </a:lnTo>
                    <a:close/>
                  </a:path>
                </a:pathLst>
              </a:custGeom>
              <a:solidFill>
                <a:srgbClr val="ECEB76"/>
              </a:solidFill>
              <a:ln w="66675" cap="sq">
                <a:solidFill>
                  <a:srgbClr val="000001"/>
                </a:solidFill>
                <a:prstDash val="solid"/>
                <a:miter/>
              </a:ln>
            </p:spPr>
          </p:sp>
          <p:sp>
            <p:nvSpPr>
              <p:cNvPr name="TextBox 12" id="12"/>
              <p:cNvSpPr txBox="true"/>
              <p:nvPr/>
            </p:nvSpPr>
            <p:spPr>
              <a:xfrm>
                <a:off x="0" y="38100"/>
                <a:ext cx="4114173" cy="308095"/>
              </a:xfrm>
              <a:prstGeom prst="rect">
                <a:avLst/>
              </a:prstGeom>
            </p:spPr>
            <p:txBody>
              <a:bodyPr anchor="ctr" rtlCol="false" tIns="0" lIns="0" bIns="0" rIns="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INDIAN GENE POOL</a:t>
                </a:r>
              </a:p>
            </p:txBody>
          </p:sp>
        </p:grpSp>
        <p:grpSp>
          <p:nvGrpSpPr>
            <p:cNvPr name="Group 13" id="13"/>
            <p:cNvGrpSpPr/>
            <p:nvPr/>
          </p:nvGrpSpPr>
          <p:grpSpPr>
            <a:xfrm rot="0">
              <a:off x="0" y="1676396"/>
              <a:ext cx="20828000" cy="2286021"/>
              <a:chOff x="0" y="0"/>
              <a:chExt cx="4114173" cy="451560"/>
            </a:xfrm>
          </p:grpSpPr>
          <p:sp>
            <p:nvSpPr>
              <p:cNvPr name="Freeform 14" id="14"/>
              <p:cNvSpPr/>
              <p:nvPr/>
            </p:nvSpPr>
            <p:spPr>
              <a:xfrm flipH="false" flipV="false" rot="0">
                <a:off x="0" y="0"/>
                <a:ext cx="4114173" cy="451560"/>
              </a:xfrm>
              <a:custGeom>
                <a:avLst/>
                <a:gdLst/>
                <a:ahLst/>
                <a:cxnLst/>
                <a:rect r="r" b="b" t="t" l="l"/>
                <a:pathLst>
                  <a:path h="451560" w="4114173">
                    <a:moveTo>
                      <a:pt x="0" y="0"/>
                    </a:moveTo>
                    <a:lnTo>
                      <a:pt x="4114173" y="0"/>
                    </a:lnTo>
                    <a:lnTo>
                      <a:pt x="4114173" y="451560"/>
                    </a:lnTo>
                    <a:lnTo>
                      <a:pt x="0" y="451560"/>
                    </a:lnTo>
                    <a:close/>
                  </a:path>
                </a:pathLst>
              </a:custGeom>
              <a:solidFill>
                <a:srgbClr val="FFFFFF"/>
              </a:solidFill>
              <a:ln w="66675" cap="sq">
                <a:solidFill>
                  <a:srgbClr val="000001"/>
                </a:solidFill>
                <a:prstDash val="solid"/>
                <a:miter/>
              </a:ln>
            </p:spPr>
          </p:sp>
          <p:sp>
            <p:nvSpPr>
              <p:cNvPr name="TextBox 15" id="15"/>
              <p:cNvSpPr txBox="true"/>
              <p:nvPr/>
            </p:nvSpPr>
            <p:spPr>
              <a:xfrm>
                <a:off x="0" y="9525"/>
                <a:ext cx="4114173" cy="442035"/>
              </a:xfrm>
              <a:prstGeom prst="rect">
                <a:avLst/>
              </a:prstGeom>
            </p:spPr>
            <p:txBody>
              <a:bodyPr anchor="ctr" rtlCol="false" tIns="101600" lIns="101600" bIns="101600" rIns="101600"/>
              <a:lstStyle/>
              <a:p>
                <a:pPr algn="ctr" marL="0" indent="0" lvl="0">
                  <a:lnSpc>
                    <a:spcPts val="3300"/>
                  </a:lnSpc>
                </a:pPr>
                <a:r>
                  <a:rPr lang="en-US" sz="3000">
                    <a:solidFill>
                      <a:srgbClr val="000001"/>
                    </a:solidFill>
                    <a:latin typeface="Barlow SemiCondensed"/>
                    <a:ea typeface="Barlow SemiCondensed"/>
                    <a:cs typeface="Barlow SemiCondensed"/>
                    <a:sym typeface="Barlow SemiCondensed"/>
                  </a:rPr>
                  <a:t>We all do know that India is the most populated and is also the 7</a:t>
                </a:r>
                <a:r>
                  <a:rPr lang="en-US" sz="3000">
                    <a:solidFill>
                      <a:srgbClr val="000001"/>
                    </a:solidFill>
                    <a:latin typeface="Barlow SemiCondensed"/>
                    <a:ea typeface="Barlow SemiCondensed"/>
                    <a:cs typeface="Barlow SemiCondensed"/>
                    <a:sym typeface="Barlow SemiCondensed"/>
                  </a:rPr>
                  <a:t>th</a:t>
                </a:r>
                <a:r>
                  <a:rPr lang="en-US" sz="3000">
                    <a:solidFill>
                      <a:srgbClr val="000001"/>
                    </a:solidFill>
                    <a:latin typeface="Barlow SemiCondensed"/>
                    <a:ea typeface="Barlow SemiCondensed"/>
                    <a:cs typeface="Barlow SemiCondensed"/>
                    <a:sym typeface="Barlow SemiCondensed"/>
                  </a:rPr>
                  <a:t> largest country. It is very obvious to note its extensive diversity and rich gene pool. India is not just a country but a case study in itself. It is an epitome of gene diversity among people of a same country. </a:t>
                </a:r>
              </a:p>
            </p:txBody>
          </p:sp>
        </p:grpSp>
      </p:grpSp>
      <p:grpSp>
        <p:nvGrpSpPr>
          <p:cNvPr name="Group 16" id="16"/>
          <p:cNvGrpSpPr/>
          <p:nvPr/>
        </p:nvGrpSpPr>
        <p:grpSpPr>
          <a:xfrm rot="0">
            <a:off x="1028700" y="228601"/>
            <a:ext cx="361950" cy="361950"/>
            <a:chOff x="0" y="0"/>
            <a:chExt cx="731520" cy="731520"/>
          </a:xfrm>
        </p:grpSpPr>
        <p:sp>
          <p:nvSpPr>
            <p:cNvPr name="Freeform 17" id="17"/>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18" id="18"/>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9" id="19"/>
          <p:cNvGrpSpPr/>
          <p:nvPr/>
        </p:nvGrpSpPr>
        <p:grpSpPr>
          <a:xfrm rot="0">
            <a:off x="16583025" y="228601"/>
            <a:ext cx="361950" cy="36195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21" id="21"/>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2" id="22"/>
          <p:cNvGrpSpPr/>
          <p:nvPr/>
        </p:nvGrpSpPr>
        <p:grpSpPr>
          <a:xfrm rot="0">
            <a:off x="1028700" y="1522666"/>
            <a:ext cx="361950" cy="36195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24" id="2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5" id="25"/>
          <p:cNvGrpSpPr/>
          <p:nvPr/>
        </p:nvGrpSpPr>
        <p:grpSpPr>
          <a:xfrm rot="0">
            <a:off x="16629459" y="1522666"/>
            <a:ext cx="361950" cy="361950"/>
            <a:chOff x="0" y="0"/>
            <a:chExt cx="731520" cy="731520"/>
          </a:xfrm>
        </p:grpSpPr>
        <p:sp>
          <p:nvSpPr>
            <p:cNvPr name="Freeform 26" id="2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27" id="2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8" id="28"/>
          <p:cNvGrpSpPr/>
          <p:nvPr/>
        </p:nvGrpSpPr>
        <p:grpSpPr>
          <a:xfrm rot="0">
            <a:off x="8767671" y="3829050"/>
            <a:ext cx="8491629" cy="6205422"/>
            <a:chOff x="0" y="0"/>
            <a:chExt cx="11322173" cy="8273895"/>
          </a:xfrm>
        </p:grpSpPr>
        <p:grpSp>
          <p:nvGrpSpPr>
            <p:cNvPr name="Group 29" id="29"/>
            <p:cNvGrpSpPr/>
            <p:nvPr/>
          </p:nvGrpSpPr>
          <p:grpSpPr>
            <a:xfrm rot="0">
              <a:off x="0" y="7983583"/>
              <a:ext cx="11322173" cy="290312"/>
              <a:chOff x="0" y="0"/>
              <a:chExt cx="1956741" cy="50173"/>
            </a:xfrm>
          </p:grpSpPr>
          <p:sp>
            <p:nvSpPr>
              <p:cNvPr name="Freeform 30" id="30"/>
              <p:cNvSpPr/>
              <p:nvPr/>
            </p:nvSpPr>
            <p:spPr>
              <a:xfrm flipH="false" flipV="false" rot="0">
                <a:off x="0" y="0"/>
                <a:ext cx="1956741" cy="50173"/>
              </a:xfrm>
              <a:custGeom>
                <a:avLst/>
                <a:gdLst/>
                <a:ahLst/>
                <a:cxnLst/>
                <a:rect r="r" b="b" t="t" l="l"/>
                <a:pathLst>
                  <a:path h="50173" w="1956741">
                    <a:moveTo>
                      <a:pt x="0" y="0"/>
                    </a:moveTo>
                    <a:lnTo>
                      <a:pt x="1956741" y="0"/>
                    </a:lnTo>
                    <a:lnTo>
                      <a:pt x="1956741" y="50173"/>
                    </a:lnTo>
                    <a:lnTo>
                      <a:pt x="0" y="50173"/>
                    </a:lnTo>
                    <a:close/>
                  </a:path>
                </a:pathLst>
              </a:custGeom>
              <a:solidFill>
                <a:srgbClr val="000001"/>
              </a:solidFill>
            </p:spPr>
          </p:sp>
          <p:sp>
            <p:nvSpPr>
              <p:cNvPr name="TextBox 31" id="31"/>
              <p:cNvSpPr txBox="true"/>
              <p:nvPr/>
            </p:nvSpPr>
            <p:spPr>
              <a:xfrm>
                <a:off x="0" y="0"/>
                <a:ext cx="1956741" cy="50173"/>
              </a:xfrm>
              <a:prstGeom prst="rect">
                <a:avLst/>
              </a:prstGeom>
            </p:spPr>
            <p:txBody>
              <a:bodyPr anchor="ctr" rtlCol="false" tIns="50800" lIns="50800" bIns="50800" rIns="50800"/>
              <a:lstStyle/>
              <a:p>
                <a:pPr algn="ctr">
                  <a:lnSpc>
                    <a:spcPts val="2999"/>
                  </a:lnSpc>
                </a:pPr>
              </a:p>
            </p:txBody>
          </p:sp>
        </p:grpSp>
        <p:sp>
          <p:nvSpPr>
            <p:cNvPr name="Freeform 32" id="32"/>
            <p:cNvSpPr/>
            <p:nvPr/>
          </p:nvSpPr>
          <p:spPr>
            <a:xfrm flipH="true" flipV="false" rot="0">
              <a:off x="0" y="6968981"/>
              <a:ext cx="11322173" cy="1188790"/>
            </a:xfrm>
            <a:custGeom>
              <a:avLst/>
              <a:gdLst/>
              <a:ahLst/>
              <a:cxnLst/>
              <a:rect r="r" b="b" t="t" l="l"/>
              <a:pathLst>
                <a:path h="1188790" w="11322173">
                  <a:moveTo>
                    <a:pt x="11322173" y="0"/>
                  </a:moveTo>
                  <a:lnTo>
                    <a:pt x="0" y="0"/>
                  </a:lnTo>
                  <a:lnTo>
                    <a:pt x="0" y="1188790"/>
                  </a:lnTo>
                  <a:lnTo>
                    <a:pt x="11322173" y="1188790"/>
                  </a:lnTo>
                  <a:lnTo>
                    <a:pt x="11322173" y="0"/>
                  </a:lnTo>
                  <a:close/>
                </a:path>
              </a:pathLst>
            </a:custGeom>
            <a:blipFill>
              <a:blip r:embed="rId4">
                <a:extLst>
                  <a:ext uri="{96DAC541-7B7A-43D3-8B79-37D633B846F1}">
                    <asvg:svgBlip xmlns:asvg="http://schemas.microsoft.com/office/drawing/2016/SVG/main" r:embed="rId5"/>
                  </a:ext>
                </a:extLst>
              </a:blip>
              <a:stretch>
                <a:fillRect l="0" t="0" r="-1312" b="0"/>
              </a:stretch>
            </a:blipFill>
            <a:ln cap="sq">
              <a:noFill/>
              <a:prstDash val="solid"/>
              <a:miter/>
            </a:ln>
          </p:spPr>
        </p:sp>
        <p:grpSp>
          <p:nvGrpSpPr>
            <p:cNvPr name="Group 33" id="33"/>
            <p:cNvGrpSpPr/>
            <p:nvPr/>
          </p:nvGrpSpPr>
          <p:grpSpPr>
            <a:xfrm rot="0">
              <a:off x="1995896" y="290312"/>
              <a:ext cx="8792230" cy="3777048"/>
              <a:chOff x="0" y="0"/>
              <a:chExt cx="1519506" cy="652764"/>
            </a:xfrm>
          </p:grpSpPr>
          <p:sp>
            <p:nvSpPr>
              <p:cNvPr name="Freeform 34" id="34"/>
              <p:cNvSpPr/>
              <p:nvPr/>
            </p:nvSpPr>
            <p:spPr>
              <a:xfrm flipH="false" flipV="false" rot="0">
                <a:off x="0" y="0"/>
                <a:ext cx="1519506" cy="652764"/>
              </a:xfrm>
              <a:custGeom>
                <a:avLst/>
                <a:gdLst/>
                <a:ahLst/>
                <a:cxnLst/>
                <a:rect r="r" b="b" t="t" l="l"/>
                <a:pathLst>
                  <a:path h="652764" w="1519506">
                    <a:moveTo>
                      <a:pt x="32206" y="0"/>
                    </a:moveTo>
                    <a:lnTo>
                      <a:pt x="1487301" y="0"/>
                    </a:lnTo>
                    <a:cubicBezTo>
                      <a:pt x="1495842" y="0"/>
                      <a:pt x="1504034" y="3393"/>
                      <a:pt x="1510074" y="9433"/>
                    </a:cubicBezTo>
                    <a:cubicBezTo>
                      <a:pt x="1516113" y="15473"/>
                      <a:pt x="1519506" y="23664"/>
                      <a:pt x="1519506" y="32206"/>
                    </a:cubicBezTo>
                    <a:lnTo>
                      <a:pt x="1519506" y="620558"/>
                    </a:lnTo>
                    <a:cubicBezTo>
                      <a:pt x="1519506" y="629100"/>
                      <a:pt x="1516113" y="637291"/>
                      <a:pt x="1510074" y="643331"/>
                    </a:cubicBezTo>
                    <a:cubicBezTo>
                      <a:pt x="1504034" y="649371"/>
                      <a:pt x="1495842" y="652764"/>
                      <a:pt x="1487301" y="652764"/>
                    </a:cubicBezTo>
                    <a:lnTo>
                      <a:pt x="32206" y="652764"/>
                    </a:lnTo>
                    <a:cubicBezTo>
                      <a:pt x="23664" y="652764"/>
                      <a:pt x="15473" y="649371"/>
                      <a:pt x="9433" y="643331"/>
                    </a:cubicBezTo>
                    <a:cubicBezTo>
                      <a:pt x="3393" y="637291"/>
                      <a:pt x="0" y="629100"/>
                      <a:pt x="0" y="620558"/>
                    </a:cubicBezTo>
                    <a:lnTo>
                      <a:pt x="0" y="32206"/>
                    </a:lnTo>
                    <a:cubicBezTo>
                      <a:pt x="0" y="23664"/>
                      <a:pt x="3393" y="15473"/>
                      <a:pt x="9433" y="9433"/>
                    </a:cubicBezTo>
                    <a:cubicBezTo>
                      <a:pt x="15473" y="3393"/>
                      <a:pt x="23664" y="0"/>
                      <a:pt x="32206" y="0"/>
                    </a:cubicBezTo>
                    <a:close/>
                  </a:path>
                </a:pathLst>
              </a:custGeom>
              <a:solidFill>
                <a:srgbClr val="000001"/>
              </a:solidFill>
            </p:spPr>
          </p:sp>
          <p:sp>
            <p:nvSpPr>
              <p:cNvPr name="TextBox 35" id="35"/>
              <p:cNvSpPr txBox="true"/>
              <p:nvPr/>
            </p:nvSpPr>
            <p:spPr>
              <a:xfrm>
                <a:off x="0" y="0"/>
                <a:ext cx="1519506" cy="652764"/>
              </a:xfrm>
              <a:prstGeom prst="rect">
                <a:avLst/>
              </a:prstGeom>
            </p:spPr>
            <p:txBody>
              <a:bodyPr anchor="ctr" rtlCol="false" tIns="50800" lIns="50800" bIns="50800" rIns="50800"/>
              <a:lstStyle/>
              <a:p>
                <a:pPr algn="ctr">
                  <a:lnSpc>
                    <a:spcPts val="2999"/>
                  </a:lnSpc>
                </a:pPr>
              </a:p>
            </p:txBody>
          </p:sp>
        </p:grpSp>
        <p:sp>
          <p:nvSpPr>
            <p:cNvPr name="Freeform 36" id="36"/>
            <p:cNvSpPr/>
            <p:nvPr/>
          </p:nvSpPr>
          <p:spPr>
            <a:xfrm flipH="false" flipV="false" rot="0">
              <a:off x="73247" y="0"/>
              <a:ext cx="11175679" cy="8087128"/>
            </a:xfrm>
            <a:custGeom>
              <a:avLst/>
              <a:gdLst/>
              <a:ahLst/>
              <a:cxnLst/>
              <a:rect r="r" b="b" t="t" l="l"/>
              <a:pathLst>
                <a:path h="8087128" w="11175679">
                  <a:moveTo>
                    <a:pt x="0" y="0"/>
                  </a:moveTo>
                  <a:lnTo>
                    <a:pt x="11175679" y="0"/>
                  </a:lnTo>
                  <a:lnTo>
                    <a:pt x="11175679" y="8087128"/>
                  </a:lnTo>
                  <a:lnTo>
                    <a:pt x="0" y="80871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37" id="37"/>
          <p:cNvSpPr/>
          <p:nvPr/>
        </p:nvSpPr>
        <p:spPr>
          <a:xfrm flipH="false" flipV="false" rot="0">
            <a:off x="1662792" y="3643883"/>
            <a:ext cx="6747443" cy="6449323"/>
          </a:xfrm>
          <a:custGeom>
            <a:avLst/>
            <a:gdLst/>
            <a:ahLst/>
            <a:cxnLst/>
            <a:rect r="r" b="b" t="t" l="l"/>
            <a:pathLst>
              <a:path h="6449323" w="6747443">
                <a:moveTo>
                  <a:pt x="0" y="0"/>
                </a:moveTo>
                <a:lnTo>
                  <a:pt x="6747443" y="0"/>
                </a:lnTo>
                <a:lnTo>
                  <a:pt x="6747443" y="6449323"/>
                </a:lnTo>
                <a:lnTo>
                  <a:pt x="0" y="6449323"/>
                </a:lnTo>
                <a:lnTo>
                  <a:pt x="0" y="0"/>
                </a:lnTo>
                <a:close/>
              </a:path>
            </a:pathLst>
          </a:custGeom>
          <a:blipFill>
            <a:blip r:embed="rId8"/>
            <a:stretch>
              <a:fillRect l="0" t="0" r="0" b="0"/>
            </a:stretch>
          </a:blipFill>
        </p:spPr>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grpSp>
        <p:nvGrpSpPr>
          <p:cNvPr name="Group 3" id="3"/>
          <p:cNvGrpSpPr/>
          <p:nvPr/>
        </p:nvGrpSpPr>
        <p:grpSpPr>
          <a:xfrm rot="0">
            <a:off x="-381000" y="1790700"/>
            <a:ext cx="19050000" cy="8705850"/>
            <a:chOff x="0" y="0"/>
            <a:chExt cx="5017284" cy="2292899"/>
          </a:xfrm>
        </p:grpSpPr>
        <p:sp>
          <p:nvSpPr>
            <p:cNvPr name="Freeform 4" id="4"/>
            <p:cNvSpPr/>
            <p:nvPr/>
          </p:nvSpPr>
          <p:spPr>
            <a:xfrm flipH="false" flipV="false" rot="0">
              <a:off x="0" y="0"/>
              <a:ext cx="5017284" cy="2292899"/>
            </a:xfrm>
            <a:custGeom>
              <a:avLst/>
              <a:gdLst/>
              <a:ahLst/>
              <a:cxnLst/>
              <a:rect r="r" b="b" t="t" l="l"/>
              <a:pathLst>
                <a:path h="2292899" w="5017284">
                  <a:moveTo>
                    <a:pt x="0" y="0"/>
                  </a:moveTo>
                  <a:lnTo>
                    <a:pt x="5017284" y="0"/>
                  </a:lnTo>
                  <a:lnTo>
                    <a:pt x="5017284" y="2292899"/>
                  </a:lnTo>
                  <a:lnTo>
                    <a:pt x="0" y="2292899"/>
                  </a:lnTo>
                  <a:close/>
                </a:path>
              </a:pathLst>
            </a:custGeom>
            <a:solidFill>
              <a:srgbClr val="CDE8E8"/>
            </a:solidFill>
            <a:ln w="66675" cap="sq">
              <a:solidFill>
                <a:srgbClr val="000001"/>
              </a:solidFill>
              <a:prstDash val="solid"/>
              <a:miter/>
            </a:ln>
          </p:spPr>
        </p:sp>
        <p:sp>
          <p:nvSpPr>
            <p:cNvPr name="TextBox 5" id="5"/>
            <p:cNvSpPr txBox="true"/>
            <p:nvPr/>
          </p:nvSpPr>
          <p:spPr>
            <a:xfrm>
              <a:off x="0" y="-19050"/>
              <a:ext cx="5017284" cy="2311949"/>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6" id="6"/>
          <p:cNvGrpSpPr/>
          <p:nvPr/>
        </p:nvGrpSpPr>
        <p:grpSpPr>
          <a:xfrm rot="0">
            <a:off x="1524000" y="1143000"/>
            <a:ext cx="8763000" cy="1695450"/>
            <a:chOff x="0" y="0"/>
            <a:chExt cx="2307951" cy="446538"/>
          </a:xfrm>
        </p:grpSpPr>
        <p:sp>
          <p:nvSpPr>
            <p:cNvPr name="Freeform 7" id="7"/>
            <p:cNvSpPr/>
            <p:nvPr/>
          </p:nvSpPr>
          <p:spPr>
            <a:xfrm flipH="false" flipV="false" rot="0">
              <a:off x="0" y="0"/>
              <a:ext cx="2307951" cy="446538"/>
            </a:xfrm>
            <a:custGeom>
              <a:avLst/>
              <a:gdLst/>
              <a:ahLst/>
              <a:cxnLst/>
              <a:rect r="r" b="b" t="t" l="l"/>
              <a:pathLst>
                <a:path h="446538" w="2307951">
                  <a:moveTo>
                    <a:pt x="0" y="0"/>
                  </a:moveTo>
                  <a:lnTo>
                    <a:pt x="2307951" y="0"/>
                  </a:lnTo>
                  <a:lnTo>
                    <a:pt x="2307951" y="446538"/>
                  </a:lnTo>
                  <a:lnTo>
                    <a:pt x="0" y="446538"/>
                  </a:lnTo>
                  <a:close/>
                </a:path>
              </a:pathLst>
            </a:custGeom>
            <a:solidFill>
              <a:srgbClr val="000001"/>
            </a:solidFill>
            <a:ln cap="sq">
              <a:noFill/>
              <a:prstDash val="solid"/>
              <a:miter/>
            </a:ln>
          </p:spPr>
        </p:sp>
        <p:sp>
          <p:nvSpPr>
            <p:cNvPr name="TextBox 8" id="8"/>
            <p:cNvSpPr txBox="true"/>
            <p:nvPr/>
          </p:nvSpPr>
          <p:spPr>
            <a:xfrm>
              <a:off x="0" y="38100"/>
              <a:ext cx="2307951" cy="408438"/>
            </a:xfrm>
            <a:prstGeom prst="rect">
              <a:avLst/>
            </a:prstGeom>
          </p:spPr>
          <p:txBody>
            <a:bodyPr anchor="ctr" rtlCol="false" tIns="254000" lIns="254000" bIns="254000" rIns="254000"/>
            <a:lstStyle/>
            <a:p>
              <a:pPr algn="ctr" marL="0" indent="0" lvl="0">
                <a:lnSpc>
                  <a:spcPts val="6600"/>
                </a:lnSpc>
              </a:pPr>
            </a:p>
          </p:txBody>
        </p:sp>
      </p:grpSp>
      <p:grpSp>
        <p:nvGrpSpPr>
          <p:cNvPr name="Group 9" id="9"/>
          <p:cNvGrpSpPr/>
          <p:nvPr/>
        </p:nvGrpSpPr>
        <p:grpSpPr>
          <a:xfrm rot="0">
            <a:off x="1333500" y="952500"/>
            <a:ext cx="8763000" cy="1695458"/>
            <a:chOff x="0" y="0"/>
            <a:chExt cx="2307951" cy="446540"/>
          </a:xfrm>
        </p:grpSpPr>
        <p:sp>
          <p:nvSpPr>
            <p:cNvPr name="Freeform 10" id="10"/>
            <p:cNvSpPr/>
            <p:nvPr/>
          </p:nvSpPr>
          <p:spPr>
            <a:xfrm flipH="false" flipV="false" rot="0">
              <a:off x="0" y="0"/>
              <a:ext cx="2307951" cy="446540"/>
            </a:xfrm>
            <a:custGeom>
              <a:avLst/>
              <a:gdLst/>
              <a:ahLst/>
              <a:cxnLst/>
              <a:rect r="r" b="b" t="t" l="l"/>
              <a:pathLst>
                <a:path h="446540" w="2307951">
                  <a:moveTo>
                    <a:pt x="0" y="0"/>
                  </a:moveTo>
                  <a:lnTo>
                    <a:pt x="2307951" y="0"/>
                  </a:lnTo>
                  <a:lnTo>
                    <a:pt x="2307951" y="446540"/>
                  </a:lnTo>
                  <a:lnTo>
                    <a:pt x="0" y="446540"/>
                  </a:lnTo>
                  <a:close/>
                </a:path>
              </a:pathLst>
            </a:custGeom>
            <a:solidFill>
              <a:srgbClr val="E5A6F4"/>
            </a:solidFill>
            <a:ln w="66675" cap="sq">
              <a:solidFill>
                <a:srgbClr val="000001"/>
              </a:solidFill>
              <a:prstDash val="solid"/>
              <a:miter/>
            </a:ln>
          </p:spPr>
        </p:sp>
        <p:sp>
          <p:nvSpPr>
            <p:cNvPr name="TextBox 11" id="11"/>
            <p:cNvSpPr txBox="true"/>
            <p:nvPr/>
          </p:nvSpPr>
          <p:spPr>
            <a:xfrm>
              <a:off x="0" y="38100"/>
              <a:ext cx="2307951" cy="408440"/>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INDIAN GENE ADAPTATION </a:t>
              </a:r>
            </a:p>
          </p:txBody>
        </p:sp>
      </p:grpSp>
      <p:grpSp>
        <p:nvGrpSpPr>
          <p:cNvPr name="Group 12" id="12"/>
          <p:cNvGrpSpPr/>
          <p:nvPr/>
        </p:nvGrpSpPr>
        <p:grpSpPr>
          <a:xfrm rot="0">
            <a:off x="1181100" y="809625"/>
            <a:ext cx="361950" cy="361950"/>
            <a:chOff x="0" y="0"/>
            <a:chExt cx="731520" cy="731520"/>
          </a:xfrm>
        </p:grpSpPr>
        <p:sp>
          <p:nvSpPr>
            <p:cNvPr name="Freeform 13" id="13"/>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14" id="14"/>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5" id="15"/>
          <p:cNvGrpSpPr/>
          <p:nvPr/>
        </p:nvGrpSpPr>
        <p:grpSpPr>
          <a:xfrm rot="0">
            <a:off x="9862114" y="809625"/>
            <a:ext cx="361950" cy="36195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17" id="1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8" id="18"/>
          <p:cNvGrpSpPr/>
          <p:nvPr/>
        </p:nvGrpSpPr>
        <p:grpSpPr>
          <a:xfrm rot="0">
            <a:off x="1181100" y="242887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9862114" y="242887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11487150" y="1171575"/>
            <a:ext cx="6388249" cy="8666875"/>
            <a:chOff x="0" y="0"/>
            <a:chExt cx="1682502" cy="2282634"/>
          </a:xfrm>
        </p:grpSpPr>
        <p:sp>
          <p:nvSpPr>
            <p:cNvPr name="Freeform 25" id="25"/>
            <p:cNvSpPr/>
            <p:nvPr/>
          </p:nvSpPr>
          <p:spPr>
            <a:xfrm flipH="false" flipV="false" rot="0">
              <a:off x="0" y="0"/>
              <a:ext cx="1682502" cy="2282634"/>
            </a:xfrm>
            <a:custGeom>
              <a:avLst/>
              <a:gdLst/>
              <a:ahLst/>
              <a:cxnLst/>
              <a:rect r="r" b="b" t="t" l="l"/>
              <a:pathLst>
                <a:path h="2282634" w="1682502">
                  <a:moveTo>
                    <a:pt x="0" y="0"/>
                  </a:moveTo>
                  <a:lnTo>
                    <a:pt x="1682502" y="0"/>
                  </a:lnTo>
                  <a:lnTo>
                    <a:pt x="1682502" y="2282634"/>
                  </a:lnTo>
                  <a:lnTo>
                    <a:pt x="0" y="2282634"/>
                  </a:lnTo>
                  <a:close/>
                </a:path>
              </a:pathLst>
            </a:custGeom>
            <a:solidFill>
              <a:srgbClr val="000001"/>
            </a:solidFill>
            <a:ln cap="sq">
              <a:noFill/>
              <a:prstDash val="solid"/>
              <a:miter/>
            </a:ln>
          </p:spPr>
        </p:sp>
        <p:sp>
          <p:nvSpPr>
            <p:cNvPr name="TextBox 26" id="26"/>
            <p:cNvSpPr txBox="true"/>
            <p:nvPr/>
          </p:nvSpPr>
          <p:spPr>
            <a:xfrm>
              <a:off x="0" y="38100"/>
              <a:ext cx="1682502" cy="2244534"/>
            </a:xfrm>
            <a:prstGeom prst="rect">
              <a:avLst/>
            </a:prstGeom>
          </p:spPr>
          <p:txBody>
            <a:bodyPr anchor="t" rtlCol="false" tIns="254000" lIns="254000" bIns="254000" rIns="254000"/>
            <a:lstStyle/>
            <a:p>
              <a:pPr algn="ctr" marL="0" indent="0" lvl="0">
                <a:lnSpc>
                  <a:spcPts val="6600"/>
                </a:lnSpc>
                <a:spcBef>
                  <a:spcPct val="0"/>
                </a:spcBef>
              </a:pPr>
            </a:p>
          </p:txBody>
        </p:sp>
      </p:grpSp>
      <p:grpSp>
        <p:nvGrpSpPr>
          <p:cNvPr name="Group 27" id="27"/>
          <p:cNvGrpSpPr/>
          <p:nvPr/>
        </p:nvGrpSpPr>
        <p:grpSpPr>
          <a:xfrm rot="0">
            <a:off x="10629900" y="952500"/>
            <a:ext cx="7029450" cy="8572500"/>
            <a:chOff x="0" y="0"/>
            <a:chExt cx="1851378" cy="2257778"/>
          </a:xfrm>
        </p:grpSpPr>
        <p:sp>
          <p:nvSpPr>
            <p:cNvPr name="Freeform 28" id="28"/>
            <p:cNvSpPr/>
            <p:nvPr/>
          </p:nvSpPr>
          <p:spPr>
            <a:xfrm flipH="false" flipV="false" rot="0">
              <a:off x="0" y="0"/>
              <a:ext cx="1851378" cy="2257778"/>
            </a:xfrm>
            <a:custGeom>
              <a:avLst/>
              <a:gdLst/>
              <a:ahLst/>
              <a:cxnLst/>
              <a:rect r="r" b="b" t="t" l="l"/>
              <a:pathLst>
                <a:path h="2257778" w="1851378">
                  <a:moveTo>
                    <a:pt x="0" y="0"/>
                  </a:moveTo>
                  <a:lnTo>
                    <a:pt x="1851378" y="0"/>
                  </a:lnTo>
                  <a:lnTo>
                    <a:pt x="1851378" y="2257778"/>
                  </a:lnTo>
                  <a:lnTo>
                    <a:pt x="0" y="2257778"/>
                  </a:lnTo>
                  <a:close/>
                </a:path>
              </a:pathLst>
            </a:custGeom>
            <a:solidFill>
              <a:srgbClr val="FFFFFF"/>
            </a:solidFill>
            <a:ln w="66675" cap="sq">
              <a:solidFill>
                <a:srgbClr val="000001"/>
              </a:solidFill>
              <a:prstDash val="dash"/>
              <a:miter/>
            </a:ln>
          </p:spPr>
        </p:sp>
        <p:sp>
          <p:nvSpPr>
            <p:cNvPr name="TextBox 29" id="29"/>
            <p:cNvSpPr txBox="true"/>
            <p:nvPr/>
          </p:nvSpPr>
          <p:spPr>
            <a:xfrm>
              <a:off x="0" y="-19050"/>
              <a:ext cx="1851378" cy="2276828"/>
            </a:xfrm>
            <a:prstGeom prst="rect">
              <a:avLst/>
            </a:prstGeom>
          </p:spPr>
          <p:txBody>
            <a:bodyPr anchor="t" rtlCol="false" tIns="254000" lIns="254000" bIns="254000" rIns="254000"/>
            <a:lstStyle/>
            <a:p>
              <a:pPr algn="l" marL="0" indent="0" lvl="0">
                <a:lnSpc>
                  <a:spcPts val="3600"/>
                </a:lnSpc>
                <a:spcBef>
                  <a:spcPct val="0"/>
                </a:spcBef>
              </a:pPr>
            </a:p>
          </p:txBody>
        </p:sp>
      </p:grpSp>
      <p:sp>
        <p:nvSpPr>
          <p:cNvPr name="TextBox 30" id="30"/>
          <p:cNvSpPr txBox="true"/>
          <p:nvPr/>
        </p:nvSpPr>
        <p:spPr>
          <a:xfrm rot="0">
            <a:off x="10858500" y="1143000"/>
            <a:ext cx="6595505" cy="9334004"/>
          </a:xfrm>
          <a:prstGeom prst="rect">
            <a:avLst/>
          </a:prstGeom>
        </p:spPr>
        <p:txBody>
          <a:bodyPr anchor="t" rtlCol="false" tIns="0" lIns="0" bIns="0" rIns="0">
            <a:spAutoFit/>
          </a:bodyPr>
          <a:lstStyle/>
          <a:p>
            <a:pPr algn="just" marL="496574" indent="-248287" lvl="1">
              <a:lnSpc>
                <a:spcPts val="2760"/>
              </a:lnSpc>
              <a:buAutoNum type="arabicPeriod" startAt="1"/>
            </a:pPr>
            <a:r>
              <a:rPr lang="en-US" b="true" sz="2300" spc="-11">
                <a:solidFill>
                  <a:srgbClr val="000001"/>
                </a:solidFill>
                <a:latin typeface="Barlow SemiCondensed Bold"/>
                <a:ea typeface="Barlow SemiCondensed Bold"/>
                <a:cs typeface="Barlow SemiCondensed Bold"/>
                <a:sym typeface="Barlow SemiCondensed Bold"/>
              </a:rPr>
              <a:t>Lactase Persistence (Milk Digestion) </a:t>
            </a:r>
          </a:p>
          <a:p>
            <a:pPr algn="just">
              <a:lnSpc>
                <a:spcPts val="2760"/>
              </a:lnSpc>
            </a:pPr>
            <a:r>
              <a:rPr lang="en-US" sz="2300" spc="-11">
                <a:solidFill>
                  <a:srgbClr val="000001"/>
                </a:solidFill>
                <a:latin typeface="Barlow SemiCondensed"/>
                <a:ea typeface="Barlow SemiCondensed"/>
                <a:cs typeface="Barlow SemiCondensed"/>
                <a:sym typeface="Barlow SemiCondensed"/>
              </a:rPr>
              <a:t>Historical reliance on dairy farming in the north and west led to natural selection favouring lactase persistence. Populations in south have low lactase persistence may experience lactose intolerance, leading to gastrointestinal discomfort when consuming dairy products.</a:t>
            </a:r>
          </a:p>
          <a:p>
            <a:pPr algn="just">
              <a:lnSpc>
                <a:spcPts val="2760"/>
              </a:lnSpc>
            </a:pPr>
            <a:r>
              <a:rPr lang="en-US" sz="2300" spc="-11">
                <a:solidFill>
                  <a:srgbClr val="000001"/>
                </a:solidFill>
                <a:latin typeface="Barlow SemiCondensed"/>
                <a:ea typeface="Barlow SemiCondensed"/>
                <a:cs typeface="Barlow SemiCondensed"/>
                <a:sym typeface="Barlow SemiCondensed"/>
              </a:rPr>
              <a:t>2. </a:t>
            </a:r>
            <a:r>
              <a:rPr lang="en-US" b="true" sz="2300" spc="-11">
                <a:solidFill>
                  <a:srgbClr val="000001"/>
                </a:solidFill>
                <a:latin typeface="Barlow SemiCondensed Bold"/>
                <a:ea typeface="Barlow SemiCondensed Bold"/>
                <a:cs typeface="Barlow SemiCondensed Bold"/>
                <a:sym typeface="Barlow SemiCondensed Bold"/>
              </a:rPr>
              <a:t>MYBPC3 Deletion (Cardiomyopathy)</a:t>
            </a:r>
          </a:p>
          <a:p>
            <a:pPr algn="just">
              <a:lnSpc>
                <a:spcPts val="2760"/>
              </a:lnSpc>
            </a:pPr>
            <a:r>
              <a:rPr lang="en-US" sz="2300" spc="-11">
                <a:solidFill>
                  <a:srgbClr val="000001"/>
                </a:solidFill>
                <a:latin typeface="Barlow SemiCondensed"/>
                <a:ea typeface="Barlow SemiCondensed"/>
                <a:cs typeface="Barlow SemiCondensed"/>
                <a:sym typeface="Barlow SemiCondensed"/>
              </a:rPr>
              <a:t>Mutation likely originated in India about 33,000 years ago and prevalence is high in general Indian population Increased risk of sudden cardiac death due to inherited cardiomyopathies. The clear reason for this mutation is still unknown.</a:t>
            </a:r>
          </a:p>
          <a:p>
            <a:pPr algn="just">
              <a:lnSpc>
                <a:spcPts val="2760"/>
              </a:lnSpc>
            </a:pPr>
            <a:r>
              <a:rPr lang="en-US" sz="2300" spc="-11">
                <a:solidFill>
                  <a:srgbClr val="000001"/>
                </a:solidFill>
                <a:latin typeface="Barlow SemiCondensed"/>
                <a:ea typeface="Barlow SemiCondensed"/>
                <a:cs typeface="Barlow SemiCondensed"/>
                <a:sym typeface="Barlow SemiCondensed"/>
              </a:rPr>
              <a:t>3.</a:t>
            </a:r>
            <a:r>
              <a:rPr lang="en-US" b="true" sz="2300" spc="-11">
                <a:solidFill>
                  <a:srgbClr val="000001"/>
                </a:solidFill>
                <a:latin typeface="Barlow SemiCondensed Bold"/>
                <a:ea typeface="Barlow SemiCondensed Bold"/>
                <a:cs typeface="Barlow SemiCondensed Bold"/>
                <a:sym typeface="Barlow SemiCondensed Bold"/>
              </a:rPr>
              <a:t>CYP2C19 and CYP2D6; liver enzymes metabolizing drugs</a:t>
            </a:r>
          </a:p>
          <a:p>
            <a:pPr algn="just">
              <a:lnSpc>
                <a:spcPts val="2760"/>
              </a:lnSpc>
            </a:pPr>
            <a:r>
              <a:rPr lang="en-US" b="true" sz="2300" spc="-11">
                <a:solidFill>
                  <a:srgbClr val="000001"/>
                </a:solidFill>
                <a:latin typeface="Barlow SemiCondensed Bold"/>
                <a:ea typeface="Barlow SemiCondensed Bold"/>
                <a:cs typeface="Barlow SemiCondensed Bold"/>
                <a:sym typeface="Barlow SemiCondensed Bold"/>
              </a:rPr>
              <a:t> </a:t>
            </a:r>
            <a:r>
              <a:rPr lang="en-US" sz="2300" spc="-11">
                <a:solidFill>
                  <a:srgbClr val="000001"/>
                </a:solidFill>
                <a:latin typeface="Barlow SemiCondensed"/>
                <a:ea typeface="Barlow SemiCondensed"/>
                <a:cs typeface="Barlow SemiCondensed"/>
                <a:sym typeface="Barlow SemiCondensed"/>
              </a:rPr>
              <a:t>People with “poor metabolizer” alleles may need dose adjustments; for example, clopidogrel effectiveness depends on CYP2C19; isoniazid toxicity relates to NAT2 slow acetylators. Risk of adverse drug reactions or ineffective therapy if genotype not considered. Indian subpopulations show substantial variation in CYP and NAT2 allele frequencies; slow NAT2 acetylator genotypes are common (&gt;~50% slow in many Indian cohorts), meaning higher risk of isoniazid toxicity without dose adjustments. </a:t>
            </a:r>
          </a:p>
          <a:p>
            <a:pPr algn="just">
              <a:lnSpc>
                <a:spcPts val="2880"/>
              </a:lnSpc>
            </a:pPr>
          </a:p>
          <a:p>
            <a:pPr algn="just">
              <a:lnSpc>
                <a:spcPts val="2880"/>
              </a:lnSpc>
            </a:pPr>
          </a:p>
          <a:p>
            <a:pPr algn="just">
              <a:lnSpc>
                <a:spcPts val="2880"/>
              </a:lnSpc>
            </a:pPr>
          </a:p>
          <a:p>
            <a:pPr algn="just">
              <a:lnSpc>
                <a:spcPts val="2880"/>
              </a:lnSpc>
            </a:pPr>
          </a:p>
        </p:txBody>
      </p:sp>
      <p:grpSp>
        <p:nvGrpSpPr>
          <p:cNvPr name="Group 31" id="31"/>
          <p:cNvGrpSpPr/>
          <p:nvPr/>
        </p:nvGrpSpPr>
        <p:grpSpPr>
          <a:xfrm rot="0">
            <a:off x="4000500" y="3219450"/>
            <a:ext cx="6286500" cy="1813323"/>
            <a:chOff x="0" y="0"/>
            <a:chExt cx="8382000" cy="2417765"/>
          </a:xfrm>
        </p:grpSpPr>
        <p:grpSp>
          <p:nvGrpSpPr>
            <p:cNvPr name="Group 32" id="32"/>
            <p:cNvGrpSpPr/>
            <p:nvPr/>
          </p:nvGrpSpPr>
          <p:grpSpPr>
            <a:xfrm rot="0">
              <a:off x="254000" y="208428"/>
              <a:ext cx="8128000" cy="2209337"/>
              <a:chOff x="0" y="0"/>
              <a:chExt cx="1605531" cy="436412"/>
            </a:xfrm>
          </p:grpSpPr>
          <p:sp>
            <p:nvSpPr>
              <p:cNvPr name="Freeform 33" id="33"/>
              <p:cNvSpPr/>
              <p:nvPr/>
            </p:nvSpPr>
            <p:spPr>
              <a:xfrm flipH="false" flipV="false" rot="0">
                <a:off x="0" y="0"/>
                <a:ext cx="1605531" cy="436412"/>
              </a:xfrm>
              <a:custGeom>
                <a:avLst/>
                <a:gdLst/>
                <a:ahLst/>
                <a:cxnLst/>
                <a:rect r="r" b="b" t="t" l="l"/>
                <a:pathLst>
                  <a:path h="436412" w="1605531">
                    <a:moveTo>
                      <a:pt x="0" y="0"/>
                    </a:moveTo>
                    <a:lnTo>
                      <a:pt x="1605531" y="0"/>
                    </a:lnTo>
                    <a:lnTo>
                      <a:pt x="1605531" y="436412"/>
                    </a:lnTo>
                    <a:lnTo>
                      <a:pt x="0" y="436412"/>
                    </a:lnTo>
                    <a:close/>
                  </a:path>
                </a:pathLst>
              </a:custGeom>
              <a:solidFill>
                <a:srgbClr val="707070"/>
              </a:solidFill>
            </p:spPr>
          </p:sp>
          <p:sp>
            <p:nvSpPr>
              <p:cNvPr name="TextBox 34" id="34"/>
              <p:cNvSpPr txBox="true"/>
              <p:nvPr/>
            </p:nvSpPr>
            <p:spPr>
              <a:xfrm>
                <a:off x="0" y="0"/>
                <a:ext cx="1605531" cy="436412"/>
              </a:xfrm>
              <a:prstGeom prst="rect">
                <a:avLst/>
              </a:prstGeom>
            </p:spPr>
            <p:txBody>
              <a:bodyPr anchor="ctr" rtlCol="false" tIns="50800" lIns="50800" bIns="50800" rIns="50800"/>
              <a:lstStyle/>
              <a:p>
                <a:pPr algn="ctr">
                  <a:lnSpc>
                    <a:spcPts val="2999"/>
                  </a:lnSpc>
                </a:pPr>
              </a:p>
            </p:txBody>
          </p:sp>
        </p:grpSp>
        <p:grpSp>
          <p:nvGrpSpPr>
            <p:cNvPr name="Group 35" id="35"/>
            <p:cNvGrpSpPr/>
            <p:nvPr/>
          </p:nvGrpSpPr>
          <p:grpSpPr>
            <a:xfrm rot="0">
              <a:off x="0" y="0"/>
              <a:ext cx="8128000" cy="2275872"/>
              <a:chOff x="0" y="0"/>
              <a:chExt cx="1605531" cy="449555"/>
            </a:xfrm>
          </p:grpSpPr>
          <p:sp>
            <p:nvSpPr>
              <p:cNvPr name="Freeform 36" id="36"/>
              <p:cNvSpPr/>
              <p:nvPr/>
            </p:nvSpPr>
            <p:spPr>
              <a:xfrm flipH="false" flipV="false" rot="0">
                <a:off x="0" y="0"/>
                <a:ext cx="1605531" cy="449555"/>
              </a:xfrm>
              <a:custGeom>
                <a:avLst/>
                <a:gdLst/>
                <a:ahLst/>
                <a:cxnLst/>
                <a:rect r="r" b="b" t="t" l="l"/>
                <a:pathLst>
                  <a:path h="449555" w="1605531">
                    <a:moveTo>
                      <a:pt x="0" y="0"/>
                    </a:moveTo>
                    <a:lnTo>
                      <a:pt x="1605531" y="0"/>
                    </a:lnTo>
                    <a:lnTo>
                      <a:pt x="1605531" y="449555"/>
                    </a:lnTo>
                    <a:lnTo>
                      <a:pt x="0" y="449555"/>
                    </a:lnTo>
                    <a:close/>
                  </a:path>
                </a:pathLst>
              </a:custGeom>
              <a:solidFill>
                <a:srgbClr val="EBEBEB"/>
              </a:solidFill>
              <a:ln w="66675" cap="sq">
                <a:solidFill>
                  <a:srgbClr val="000001"/>
                </a:solidFill>
                <a:prstDash val="solid"/>
                <a:miter/>
              </a:ln>
            </p:spPr>
          </p:sp>
          <p:sp>
            <p:nvSpPr>
              <p:cNvPr name="TextBox 37" id="37"/>
              <p:cNvSpPr txBox="true"/>
              <p:nvPr/>
            </p:nvSpPr>
            <p:spPr>
              <a:xfrm>
                <a:off x="0" y="-9525"/>
                <a:ext cx="1605531" cy="459080"/>
              </a:xfrm>
              <a:prstGeom prst="rect">
                <a:avLst/>
              </a:prstGeom>
            </p:spPr>
            <p:txBody>
              <a:bodyPr anchor="ctr" rtlCol="false" tIns="254000" lIns="254000" bIns="254000" rIns="254000"/>
              <a:lstStyle/>
              <a:p>
                <a:pPr algn="l" marL="0" indent="0" lvl="0">
                  <a:lnSpc>
                    <a:spcPts val="2880"/>
                  </a:lnSpc>
                  <a:spcBef>
                    <a:spcPct val="0"/>
                  </a:spcBef>
                </a:pPr>
                <a:r>
                  <a:rPr lang="en-US" b="true" sz="2400" spc="-12">
                    <a:solidFill>
                      <a:srgbClr val="000001"/>
                    </a:solidFill>
                    <a:latin typeface="Barlow SemiCondensed Bold"/>
                    <a:ea typeface="Barlow SemiCondensed Bold"/>
                    <a:cs typeface="Barlow SemiCondensed Bold"/>
                    <a:sym typeface="Barlow SemiCondensed Bold"/>
                  </a:rPr>
                  <a:t>Two people from different Indian states can be genetically more different from each other than many Europeans are from East Asians!</a:t>
                </a:r>
              </a:p>
            </p:txBody>
          </p:sp>
        </p:grpSp>
      </p:grpSp>
      <p:sp>
        <p:nvSpPr>
          <p:cNvPr name="Freeform 38" id="38"/>
          <p:cNvSpPr/>
          <p:nvPr/>
        </p:nvSpPr>
        <p:spPr>
          <a:xfrm flipH="false" flipV="false" rot="0">
            <a:off x="237807" y="596396"/>
            <a:ext cx="943293" cy="1150357"/>
          </a:xfrm>
          <a:custGeom>
            <a:avLst/>
            <a:gdLst/>
            <a:ahLst/>
            <a:cxnLst/>
            <a:rect r="r" b="b" t="t" l="l"/>
            <a:pathLst>
              <a:path h="1150357" w="943293">
                <a:moveTo>
                  <a:pt x="0" y="0"/>
                </a:moveTo>
                <a:lnTo>
                  <a:pt x="943293" y="0"/>
                </a:lnTo>
                <a:lnTo>
                  <a:pt x="943293" y="1150358"/>
                </a:lnTo>
                <a:lnTo>
                  <a:pt x="0" y="11503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9" id="39"/>
          <p:cNvGrpSpPr/>
          <p:nvPr/>
        </p:nvGrpSpPr>
        <p:grpSpPr>
          <a:xfrm rot="0">
            <a:off x="3008501" y="397169"/>
            <a:ext cx="7849999" cy="170652"/>
            <a:chOff x="0" y="0"/>
            <a:chExt cx="2307951" cy="50173"/>
          </a:xfrm>
        </p:grpSpPr>
        <p:sp>
          <p:nvSpPr>
            <p:cNvPr name="Freeform 40" id="40"/>
            <p:cNvSpPr/>
            <p:nvPr/>
          </p:nvSpPr>
          <p:spPr>
            <a:xfrm flipH="false" flipV="false" rot="0">
              <a:off x="0" y="0"/>
              <a:ext cx="2307951" cy="50173"/>
            </a:xfrm>
            <a:custGeom>
              <a:avLst/>
              <a:gdLst/>
              <a:ahLst/>
              <a:cxnLst/>
              <a:rect r="r" b="b" t="t" l="l"/>
              <a:pathLst>
                <a:path h="50173" w="2307951">
                  <a:moveTo>
                    <a:pt x="0" y="0"/>
                  </a:moveTo>
                  <a:lnTo>
                    <a:pt x="2307951" y="0"/>
                  </a:lnTo>
                  <a:lnTo>
                    <a:pt x="2307951" y="50173"/>
                  </a:lnTo>
                  <a:lnTo>
                    <a:pt x="0" y="50173"/>
                  </a:lnTo>
                  <a:close/>
                </a:path>
              </a:pathLst>
            </a:custGeom>
            <a:solidFill>
              <a:srgbClr val="000001"/>
            </a:solidFill>
          </p:spPr>
        </p:sp>
        <p:sp>
          <p:nvSpPr>
            <p:cNvPr name="TextBox 41" id="41"/>
            <p:cNvSpPr txBox="true"/>
            <p:nvPr/>
          </p:nvSpPr>
          <p:spPr>
            <a:xfrm>
              <a:off x="0" y="0"/>
              <a:ext cx="2307951" cy="50173"/>
            </a:xfrm>
            <a:prstGeom prst="rect">
              <a:avLst/>
            </a:prstGeom>
          </p:spPr>
          <p:txBody>
            <a:bodyPr anchor="ctr" rtlCol="false" tIns="45507" lIns="45507" bIns="45507" rIns="45507"/>
            <a:lstStyle/>
            <a:p>
              <a:pPr algn="ctr">
                <a:lnSpc>
                  <a:spcPts val="2999"/>
                </a:lnSpc>
              </a:pPr>
            </a:p>
          </p:txBody>
        </p:sp>
      </p:grpSp>
      <p:sp>
        <p:nvSpPr>
          <p:cNvPr name="Freeform 42" id="42"/>
          <p:cNvSpPr/>
          <p:nvPr/>
        </p:nvSpPr>
        <p:spPr>
          <a:xfrm flipH="false" flipV="true" rot="-5400000">
            <a:off x="17292380" y="359407"/>
            <a:ext cx="1356539" cy="508298"/>
          </a:xfrm>
          <a:custGeom>
            <a:avLst/>
            <a:gdLst/>
            <a:ahLst/>
            <a:cxnLst/>
            <a:rect r="r" b="b" t="t" l="l"/>
            <a:pathLst>
              <a:path h="508298" w="1356539">
                <a:moveTo>
                  <a:pt x="0" y="508298"/>
                </a:moveTo>
                <a:lnTo>
                  <a:pt x="1356538" y="508298"/>
                </a:lnTo>
                <a:lnTo>
                  <a:pt x="1356538" y="0"/>
                </a:lnTo>
                <a:lnTo>
                  <a:pt x="0" y="0"/>
                </a:lnTo>
                <a:lnTo>
                  <a:pt x="0" y="508298"/>
                </a:lnTo>
                <a:close/>
              </a:path>
            </a:pathLst>
          </a:custGeom>
          <a:blipFill>
            <a:blip r:embed="rId6">
              <a:extLst>
                <a:ext uri="{96DAC541-7B7A-43D3-8B79-37D633B846F1}">
                  <asvg:svgBlip xmlns:asvg="http://schemas.microsoft.com/office/drawing/2016/SVG/main" r:embed="rId7"/>
                </a:ext>
              </a:extLst>
            </a:blip>
            <a:stretch>
              <a:fillRect l="0" t="0" r="-261554" b="0"/>
            </a:stretch>
          </a:blipFill>
          <a:ln cap="sq">
            <a:noFill/>
            <a:prstDash val="solid"/>
            <a:miter/>
          </a:ln>
        </p:spPr>
      </p:sp>
      <p:sp>
        <p:nvSpPr>
          <p:cNvPr name="Freeform 43" id="43"/>
          <p:cNvSpPr/>
          <p:nvPr/>
        </p:nvSpPr>
        <p:spPr>
          <a:xfrm flipH="false" flipV="false" rot="0">
            <a:off x="-817245" y="2271712"/>
            <a:ext cx="6532245" cy="8229600"/>
          </a:xfrm>
          <a:custGeom>
            <a:avLst/>
            <a:gdLst/>
            <a:ahLst/>
            <a:cxnLst/>
            <a:rect r="r" b="b" t="t" l="l"/>
            <a:pathLst>
              <a:path h="8229600" w="6532245">
                <a:moveTo>
                  <a:pt x="0" y="0"/>
                </a:moveTo>
                <a:lnTo>
                  <a:pt x="6532245" y="0"/>
                </a:lnTo>
                <a:lnTo>
                  <a:pt x="6532245" y="8229600"/>
                </a:lnTo>
                <a:lnTo>
                  <a:pt x="0" y="82296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4" id="44"/>
          <p:cNvSpPr/>
          <p:nvPr/>
        </p:nvSpPr>
        <p:spPr>
          <a:xfrm flipH="false" flipV="false" rot="0">
            <a:off x="3093827" y="5143500"/>
            <a:ext cx="7679347" cy="4967897"/>
          </a:xfrm>
          <a:custGeom>
            <a:avLst/>
            <a:gdLst/>
            <a:ahLst/>
            <a:cxnLst/>
            <a:rect r="r" b="b" t="t" l="l"/>
            <a:pathLst>
              <a:path h="4967897" w="7679347">
                <a:moveTo>
                  <a:pt x="0" y="0"/>
                </a:moveTo>
                <a:lnTo>
                  <a:pt x="7679347" y="0"/>
                </a:lnTo>
                <a:lnTo>
                  <a:pt x="7679347" y="4967897"/>
                </a:lnTo>
                <a:lnTo>
                  <a:pt x="0" y="4967897"/>
                </a:lnTo>
                <a:lnTo>
                  <a:pt x="0" y="0"/>
                </a:lnTo>
                <a:close/>
              </a:path>
            </a:pathLst>
          </a:custGeom>
          <a:blipFill>
            <a:blip r:embed="rId10">
              <a:extLst>
                <a:ext uri="{96DAC541-7B7A-43D3-8B79-37D633B846F1}">
                  <asvg:svgBlip xmlns:asvg="http://schemas.microsoft.com/office/drawing/2016/SVG/main" r:embed="rId11"/>
                </a:ext>
              </a:extLst>
            </a:blip>
            <a:stretch>
              <a:fillRect l="-3187" t="-344" r="0" b="0"/>
            </a:stretch>
          </a:blipFill>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a:ln cap="sq">
            <a:noFill/>
            <a:prstDash val="solid"/>
            <a:miter/>
          </a:ln>
        </p:spPr>
      </p:sp>
      <p:grpSp>
        <p:nvGrpSpPr>
          <p:cNvPr name="Group 3" id="3"/>
          <p:cNvGrpSpPr/>
          <p:nvPr/>
        </p:nvGrpSpPr>
        <p:grpSpPr>
          <a:xfrm rot="0">
            <a:off x="1524000" y="3462040"/>
            <a:ext cx="7620000" cy="6096000"/>
            <a:chOff x="0" y="0"/>
            <a:chExt cx="2006914" cy="1605531"/>
          </a:xfrm>
        </p:grpSpPr>
        <p:sp>
          <p:nvSpPr>
            <p:cNvPr name="Freeform 4" id="4"/>
            <p:cNvSpPr/>
            <p:nvPr/>
          </p:nvSpPr>
          <p:spPr>
            <a:xfrm flipH="false" flipV="false" rot="0">
              <a:off x="0" y="0"/>
              <a:ext cx="2006914" cy="1605531"/>
            </a:xfrm>
            <a:custGeom>
              <a:avLst/>
              <a:gdLst/>
              <a:ahLst/>
              <a:cxnLst/>
              <a:rect r="r" b="b" t="t" l="l"/>
              <a:pathLst>
                <a:path h="1605531" w="2006914">
                  <a:moveTo>
                    <a:pt x="0" y="0"/>
                  </a:moveTo>
                  <a:lnTo>
                    <a:pt x="2006914" y="0"/>
                  </a:lnTo>
                  <a:lnTo>
                    <a:pt x="2006914" y="1605531"/>
                  </a:lnTo>
                  <a:lnTo>
                    <a:pt x="0" y="1605531"/>
                  </a:lnTo>
                  <a:close/>
                </a:path>
              </a:pathLst>
            </a:custGeom>
            <a:solidFill>
              <a:srgbClr val="000001"/>
            </a:solidFill>
            <a:ln cap="sq">
              <a:noFill/>
              <a:prstDash val="solid"/>
              <a:miter/>
            </a:ln>
          </p:spPr>
        </p:sp>
        <p:sp>
          <p:nvSpPr>
            <p:cNvPr name="TextBox 5" id="5"/>
            <p:cNvSpPr txBox="true"/>
            <p:nvPr/>
          </p:nvSpPr>
          <p:spPr>
            <a:xfrm>
              <a:off x="0" y="38100"/>
              <a:ext cx="2006914" cy="1567431"/>
            </a:xfrm>
            <a:prstGeom prst="rect">
              <a:avLst/>
            </a:prstGeom>
          </p:spPr>
          <p:txBody>
            <a:bodyPr anchor="ctr" rtlCol="false" tIns="50800" lIns="50800" bIns="50800" rIns="50800"/>
            <a:lstStyle/>
            <a:p>
              <a:pPr algn="ctr" marL="0" indent="0" lvl="0">
                <a:lnSpc>
                  <a:spcPts val="6600"/>
                </a:lnSpc>
                <a:spcBef>
                  <a:spcPct val="0"/>
                </a:spcBef>
              </a:pPr>
            </a:p>
          </p:txBody>
        </p:sp>
      </p:grpSp>
      <p:sp>
        <p:nvSpPr>
          <p:cNvPr name="Freeform 6" id="6"/>
          <p:cNvSpPr/>
          <p:nvPr/>
        </p:nvSpPr>
        <p:spPr>
          <a:xfrm flipH="false" flipV="false" rot="0">
            <a:off x="10622105" y="8342673"/>
            <a:ext cx="996601" cy="1215367"/>
          </a:xfrm>
          <a:custGeom>
            <a:avLst/>
            <a:gdLst/>
            <a:ahLst/>
            <a:cxnLst/>
            <a:rect r="r" b="b" t="t" l="l"/>
            <a:pathLst>
              <a:path h="1215367" w="996601">
                <a:moveTo>
                  <a:pt x="0" y="0"/>
                </a:moveTo>
                <a:lnTo>
                  <a:pt x="996600" y="0"/>
                </a:lnTo>
                <a:lnTo>
                  <a:pt x="996600" y="1215367"/>
                </a:lnTo>
                <a:lnTo>
                  <a:pt x="0" y="1215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1524000" y="1143000"/>
            <a:ext cx="15621000" cy="1695450"/>
            <a:chOff x="0" y="0"/>
            <a:chExt cx="4114173" cy="446538"/>
          </a:xfrm>
        </p:grpSpPr>
        <p:sp>
          <p:nvSpPr>
            <p:cNvPr name="Freeform 8" id="8"/>
            <p:cNvSpPr/>
            <p:nvPr/>
          </p:nvSpPr>
          <p:spPr>
            <a:xfrm flipH="false" flipV="false" rot="0">
              <a:off x="0" y="0"/>
              <a:ext cx="4114173" cy="446538"/>
            </a:xfrm>
            <a:custGeom>
              <a:avLst/>
              <a:gdLst/>
              <a:ahLst/>
              <a:cxnLst/>
              <a:rect r="r" b="b" t="t" l="l"/>
              <a:pathLst>
                <a:path h="446538" w="4114173">
                  <a:moveTo>
                    <a:pt x="0" y="0"/>
                  </a:moveTo>
                  <a:lnTo>
                    <a:pt x="4114173" y="0"/>
                  </a:lnTo>
                  <a:lnTo>
                    <a:pt x="4114173" y="446538"/>
                  </a:lnTo>
                  <a:lnTo>
                    <a:pt x="0" y="446538"/>
                  </a:lnTo>
                  <a:close/>
                </a:path>
              </a:pathLst>
            </a:custGeom>
            <a:solidFill>
              <a:srgbClr val="000001"/>
            </a:solidFill>
            <a:ln cap="sq">
              <a:noFill/>
              <a:prstDash val="solid"/>
              <a:miter/>
            </a:ln>
          </p:spPr>
        </p:sp>
        <p:sp>
          <p:nvSpPr>
            <p:cNvPr name="TextBox 9" id="9"/>
            <p:cNvSpPr txBox="true"/>
            <p:nvPr/>
          </p:nvSpPr>
          <p:spPr>
            <a:xfrm>
              <a:off x="0" y="38100"/>
              <a:ext cx="4114173" cy="408438"/>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10" id="10"/>
          <p:cNvGrpSpPr/>
          <p:nvPr/>
        </p:nvGrpSpPr>
        <p:grpSpPr>
          <a:xfrm rot="0">
            <a:off x="1333500" y="952500"/>
            <a:ext cx="15621000" cy="1695458"/>
            <a:chOff x="0" y="0"/>
            <a:chExt cx="4114173" cy="446540"/>
          </a:xfrm>
        </p:grpSpPr>
        <p:sp>
          <p:nvSpPr>
            <p:cNvPr name="Freeform 11" id="11"/>
            <p:cNvSpPr/>
            <p:nvPr/>
          </p:nvSpPr>
          <p:spPr>
            <a:xfrm flipH="false" flipV="false" rot="0">
              <a:off x="0" y="0"/>
              <a:ext cx="4114173" cy="446540"/>
            </a:xfrm>
            <a:custGeom>
              <a:avLst/>
              <a:gdLst/>
              <a:ahLst/>
              <a:cxnLst/>
              <a:rect r="r" b="b" t="t" l="l"/>
              <a:pathLst>
                <a:path h="446540" w="4114173">
                  <a:moveTo>
                    <a:pt x="0" y="0"/>
                  </a:moveTo>
                  <a:lnTo>
                    <a:pt x="4114173" y="0"/>
                  </a:lnTo>
                  <a:lnTo>
                    <a:pt x="4114173" y="446540"/>
                  </a:lnTo>
                  <a:lnTo>
                    <a:pt x="0" y="446540"/>
                  </a:lnTo>
                  <a:close/>
                </a:path>
              </a:pathLst>
            </a:custGeom>
            <a:solidFill>
              <a:srgbClr val="CDE8E8"/>
            </a:solidFill>
            <a:ln w="66675" cap="sq">
              <a:solidFill>
                <a:srgbClr val="000001"/>
              </a:solidFill>
              <a:prstDash val="solid"/>
              <a:miter/>
            </a:ln>
          </p:spPr>
        </p:sp>
        <p:sp>
          <p:nvSpPr>
            <p:cNvPr name="TextBox 12" id="12"/>
            <p:cNvSpPr txBox="true"/>
            <p:nvPr/>
          </p:nvSpPr>
          <p:spPr>
            <a:xfrm>
              <a:off x="0" y="38100"/>
              <a:ext cx="4114173" cy="408440"/>
            </a:xfrm>
            <a:prstGeom prst="rect">
              <a:avLst/>
            </a:prstGeom>
          </p:spPr>
          <p:txBody>
            <a:bodyPr anchor="t" rtlCol="false" tIns="254000" lIns="254000" bIns="254000" rIns="254000"/>
            <a:lstStyle/>
            <a:p>
              <a:pPr algn="ctr" marL="0" indent="0" lvl="0">
                <a:lnSpc>
                  <a:spcPts val="6600"/>
                </a:lnSpc>
                <a:spcBef>
                  <a:spcPct val="0"/>
                </a:spcBef>
              </a:pPr>
              <a:r>
                <a:rPr lang="en-US" b="true" sz="6000">
                  <a:solidFill>
                    <a:srgbClr val="000001"/>
                  </a:solidFill>
                  <a:latin typeface="Barlow SemiCondensed Bold"/>
                  <a:ea typeface="Barlow SemiCondensed Bold"/>
                  <a:cs typeface="Barlow SemiCondensed Bold"/>
                  <a:sym typeface="Barlow SemiCondensed Bold"/>
                </a:rPr>
                <a:t>CONSEQUENCES OF OUR STUDIES</a:t>
              </a:r>
            </a:p>
          </p:txBody>
        </p:sp>
      </p:grpSp>
      <p:grpSp>
        <p:nvGrpSpPr>
          <p:cNvPr name="Group 13" id="13"/>
          <p:cNvGrpSpPr/>
          <p:nvPr/>
        </p:nvGrpSpPr>
        <p:grpSpPr>
          <a:xfrm rot="0">
            <a:off x="10158132" y="3238500"/>
            <a:ext cx="6287139" cy="6096000"/>
            <a:chOff x="0" y="0"/>
            <a:chExt cx="8382852" cy="8128000"/>
          </a:xfrm>
        </p:grpSpPr>
        <p:sp>
          <p:nvSpPr>
            <p:cNvPr name="Freeform 14" id="14"/>
            <p:cNvSpPr/>
            <p:nvPr/>
          </p:nvSpPr>
          <p:spPr>
            <a:xfrm flipH="false" flipV="false" rot="-10800000">
              <a:off x="0" y="4064000"/>
              <a:ext cx="3061404" cy="1040096"/>
            </a:xfrm>
            <a:custGeom>
              <a:avLst/>
              <a:gdLst/>
              <a:ahLst/>
              <a:cxnLst/>
              <a:rect r="r" b="b" t="t" l="l"/>
              <a:pathLst>
                <a:path h="1040096" w="3061404">
                  <a:moveTo>
                    <a:pt x="0" y="0"/>
                  </a:moveTo>
                  <a:lnTo>
                    <a:pt x="3061404" y="0"/>
                  </a:lnTo>
                  <a:lnTo>
                    <a:pt x="3061404" y="1040096"/>
                  </a:lnTo>
                  <a:lnTo>
                    <a:pt x="0" y="1040096"/>
                  </a:lnTo>
                  <a:lnTo>
                    <a:pt x="0" y="0"/>
                  </a:lnTo>
                  <a:close/>
                </a:path>
              </a:pathLst>
            </a:custGeom>
            <a:blipFill>
              <a:blip r:embed="rId6">
                <a:extLst>
                  <a:ext uri="{96DAC541-7B7A-43D3-8B79-37D633B846F1}">
                    <asvg:svgBlip xmlns:asvg="http://schemas.microsoft.com/office/drawing/2016/SVG/main" r:embed="rId7"/>
                  </a:ext>
                </a:extLst>
              </a:blip>
              <a:stretch>
                <a:fillRect l="0" t="0" r="-227824" b="0"/>
              </a:stretch>
            </a:blipFill>
            <a:ln cap="sq">
              <a:noFill/>
              <a:prstDash val="solid"/>
              <a:miter/>
            </a:ln>
          </p:spPr>
        </p:sp>
        <p:sp>
          <p:nvSpPr>
            <p:cNvPr name="Freeform 15" id="15"/>
            <p:cNvSpPr/>
            <p:nvPr/>
          </p:nvSpPr>
          <p:spPr>
            <a:xfrm flipH="false" flipV="false" rot="5400000">
              <a:off x="6923513" y="3644757"/>
              <a:ext cx="1878582" cy="1040096"/>
            </a:xfrm>
            <a:custGeom>
              <a:avLst/>
              <a:gdLst/>
              <a:ahLst/>
              <a:cxnLst/>
              <a:rect r="r" b="b" t="t" l="l"/>
              <a:pathLst>
                <a:path h="1040096" w="1878582">
                  <a:moveTo>
                    <a:pt x="0" y="0"/>
                  </a:moveTo>
                  <a:lnTo>
                    <a:pt x="1878582" y="0"/>
                  </a:lnTo>
                  <a:lnTo>
                    <a:pt x="1878582" y="1040097"/>
                  </a:lnTo>
                  <a:lnTo>
                    <a:pt x="0" y="1040097"/>
                  </a:lnTo>
                  <a:lnTo>
                    <a:pt x="0" y="0"/>
                  </a:lnTo>
                  <a:close/>
                </a:path>
              </a:pathLst>
            </a:custGeom>
            <a:blipFill>
              <a:blip r:embed="rId6">
                <a:extLst>
                  <a:ext uri="{96DAC541-7B7A-43D3-8B79-37D633B846F1}">
                    <asvg:svgBlip xmlns:asvg="http://schemas.microsoft.com/office/drawing/2016/SVG/main" r:embed="rId7"/>
                  </a:ext>
                </a:extLst>
              </a:blip>
              <a:stretch>
                <a:fillRect l="-434233" t="0" r="0" b="0"/>
              </a:stretch>
            </a:blipFill>
            <a:ln cap="sq">
              <a:noFill/>
              <a:prstDash val="solid"/>
              <a:miter/>
            </a:ln>
          </p:spPr>
        </p:sp>
        <p:sp>
          <p:nvSpPr>
            <p:cNvPr name="Freeform 16" id="16"/>
            <p:cNvSpPr/>
            <p:nvPr/>
          </p:nvSpPr>
          <p:spPr>
            <a:xfrm flipH="false" flipV="false" rot="0">
              <a:off x="0" y="0"/>
              <a:ext cx="8217647" cy="8128000"/>
            </a:xfrm>
            <a:custGeom>
              <a:avLst/>
              <a:gdLst/>
              <a:ahLst/>
              <a:cxnLst/>
              <a:rect r="r" b="b" t="t" l="l"/>
              <a:pathLst>
                <a:path h="8128000" w="8217647">
                  <a:moveTo>
                    <a:pt x="0" y="0"/>
                  </a:moveTo>
                  <a:lnTo>
                    <a:pt x="8217647" y="0"/>
                  </a:lnTo>
                  <a:lnTo>
                    <a:pt x="8217647" y="8128000"/>
                  </a:lnTo>
                  <a:lnTo>
                    <a:pt x="0" y="8128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17" id="17"/>
          <p:cNvGrpSpPr/>
          <p:nvPr/>
        </p:nvGrpSpPr>
        <p:grpSpPr>
          <a:xfrm rot="0">
            <a:off x="1189434" y="800100"/>
            <a:ext cx="361950" cy="361950"/>
            <a:chOff x="0" y="0"/>
            <a:chExt cx="731520" cy="731520"/>
          </a:xfrm>
        </p:grpSpPr>
        <p:sp>
          <p:nvSpPr>
            <p:cNvPr name="Freeform 18" id="1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19" id="1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0" id="20"/>
          <p:cNvGrpSpPr/>
          <p:nvPr/>
        </p:nvGrpSpPr>
        <p:grpSpPr>
          <a:xfrm rot="0">
            <a:off x="1189434" y="2428875"/>
            <a:ext cx="361950" cy="361950"/>
            <a:chOff x="0" y="0"/>
            <a:chExt cx="731520" cy="731520"/>
          </a:xfrm>
        </p:grpSpPr>
        <p:sp>
          <p:nvSpPr>
            <p:cNvPr name="Freeform 21" id="2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2" id="2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3" id="23"/>
          <p:cNvGrpSpPr/>
          <p:nvPr/>
        </p:nvGrpSpPr>
        <p:grpSpPr>
          <a:xfrm rot="0">
            <a:off x="16736616" y="800100"/>
            <a:ext cx="361950" cy="361950"/>
            <a:chOff x="0" y="0"/>
            <a:chExt cx="731520" cy="731520"/>
          </a:xfrm>
        </p:grpSpPr>
        <p:sp>
          <p:nvSpPr>
            <p:cNvPr name="Freeform 24" id="24"/>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5" id="25"/>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6" id="26"/>
          <p:cNvGrpSpPr/>
          <p:nvPr/>
        </p:nvGrpSpPr>
        <p:grpSpPr>
          <a:xfrm rot="0">
            <a:off x="16736616" y="2428875"/>
            <a:ext cx="361950" cy="361950"/>
            <a:chOff x="0" y="0"/>
            <a:chExt cx="731520" cy="731520"/>
          </a:xfrm>
        </p:grpSpPr>
        <p:sp>
          <p:nvSpPr>
            <p:cNvPr name="Freeform 27" id="27"/>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5A6F4"/>
            </a:solidFill>
            <a:ln w="66675" cap="sq">
              <a:solidFill>
                <a:srgbClr val="000001"/>
              </a:solidFill>
              <a:prstDash val="solid"/>
              <a:miter/>
            </a:ln>
          </p:spPr>
        </p:sp>
        <p:sp>
          <p:nvSpPr>
            <p:cNvPr name="TextBox 28" id="28"/>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9" id="29"/>
          <p:cNvGrpSpPr/>
          <p:nvPr/>
        </p:nvGrpSpPr>
        <p:grpSpPr>
          <a:xfrm rot="0">
            <a:off x="1333500" y="3238500"/>
            <a:ext cx="7474125" cy="6019800"/>
            <a:chOff x="0" y="0"/>
            <a:chExt cx="1968494" cy="1585462"/>
          </a:xfrm>
        </p:grpSpPr>
        <p:sp>
          <p:nvSpPr>
            <p:cNvPr name="Freeform 30" id="30"/>
            <p:cNvSpPr/>
            <p:nvPr/>
          </p:nvSpPr>
          <p:spPr>
            <a:xfrm flipH="false" flipV="false" rot="0">
              <a:off x="0" y="0"/>
              <a:ext cx="1968494" cy="1585462"/>
            </a:xfrm>
            <a:custGeom>
              <a:avLst/>
              <a:gdLst/>
              <a:ahLst/>
              <a:cxnLst/>
              <a:rect r="r" b="b" t="t" l="l"/>
              <a:pathLst>
                <a:path h="1585462" w="1968494">
                  <a:moveTo>
                    <a:pt x="0" y="0"/>
                  </a:moveTo>
                  <a:lnTo>
                    <a:pt x="1968494" y="0"/>
                  </a:lnTo>
                  <a:lnTo>
                    <a:pt x="1968494" y="1585462"/>
                  </a:lnTo>
                  <a:lnTo>
                    <a:pt x="0" y="1585462"/>
                  </a:lnTo>
                  <a:close/>
                </a:path>
              </a:pathLst>
            </a:custGeom>
            <a:solidFill>
              <a:srgbClr val="FFFFFF"/>
            </a:solidFill>
            <a:ln w="66675" cap="sq">
              <a:solidFill>
                <a:srgbClr val="000001"/>
              </a:solidFill>
              <a:prstDash val="dash"/>
              <a:miter/>
            </a:ln>
          </p:spPr>
        </p:sp>
        <p:sp>
          <p:nvSpPr>
            <p:cNvPr name="TextBox 31" id="31"/>
            <p:cNvSpPr txBox="true"/>
            <p:nvPr/>
          </p:nvSpPr>
          <p:spPr>
            <a:xfrm>
              <a:off x="0" y="-19050"/>
              <a:ext cx="1968494" cy="1604512"/>
            </a:xfrm>
            <a:prstGeom prst="rect">
              <a:avLst/>
            </a:prstGeom>
          </p:spPr>
          <p:txBody>
            <a:bodyPr anchor="t" rtlCol="false" tIns="254000" lIns="254000" bIns="254000" rIns="254000"/>
            <a:lstStyle/>
            <a:p>
              <a:pPr algn="l" marL="0" indent="0" lvl="0">
                <a:lnSpc>
                  <a:spcPts val="3600"/>
                </a:lnSpc>
                <a:spcBef>
                  <a:spcPct val="0"/>
                </a:spcBef>
              </a:pPr>
            </a:p>
          </p:txBody>
        </p:sp>
      </p:grpSp>
      <p:sp>
        <p:nvSpPr>
          <p:cNvPr name="TextBox 32" id="32"/>
          <p:cNvSpPr txBox="true"/>
          <p:nvPr/>
        </p:nvSpPr>
        <p:spPr>
          <a:xfrm rot="0">
            <a:off x="1524000" y="3695540"/>
            <a:ext cx="7086656" cy="5191446"/>
          </a:xfrm>
          <a:prstGeom prst="rect">
            <a:avLst/>
          </a:prstGeom>
        </p:spPr>
        <p:txBody>
          <a:bodyPr anchor="t" rtlCol="false" tIns="0" lIns="0" bIns="0" rIns="0">
            <a:spAutoFit/>
          </a:bodyPr>
          <a:lstStyle/>
          <a:p>
            <a:pPr algn="l">
              <a:lnSpc>
                <a:spcPts val="2961"/>
              </a:lnSpc>
              <a:spcBef>
                <a:spcPct val="0"/>
              </a:spcBef>
            </a:pPr>
            <a:r>
              <a:rPr lang="en-US" sz="2468">
                <a:solidFill>
                  <a:srgbClr val="000000"/>
                </a:solidFill>
                <a:latin typeface="Canva Sans"/>
                <a:ea typeface="Canva Sans"/>
                <a:cs typeface="Canva Sans"/>
                <a:sym typeface="Canva Sans"/>
              </a:rPr>
              <a:t>India has one of the richest and most diverse genetic structures in the world, shaped by thousands of years of migrations, endogamy, and regional separation. This diversity carries many population-specific mutations that influence how diseases appear, how people respond to medicines, and how certain hereditary disorders are passed on. Studying the Indian gene pool helps improve precision medicine, early diagnosis, genetic counseling, and public-health planning, ensuring that treatments and medical research reflect the unique genetic makeup of Indian communities rather than relying on Western genetic data.</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sp>
        <p:nvSpPr>
          <p:cNvPr name="Freeform 3" id="3"/>
          <p:cNvSpPr/>
          <p:nvPr/>
        </p:nvSpPr>
        <p:spPr>
          <a:xfrm flipH="false" flipV="false" rot="0">
            <a:off x="7249399" y="7827831"/>
            <a:ext cx="2036602" cy="1697169"/>
          </a:xfrm>
          <a:custGeom>
            <a:avLst/>
            <a:gdLst/>
            <a:ahLst/>
            <a:cxnLst/>
            <a:rect r="r" b="b" t="t" l="l"/>
            <a:pathLst>
              <a:path h="1697169" w="2036602">
                <a:moveTo>
                  <a:pt x="0" y="0"/>
                </a:moveTo>
                <a:lnTo>
                  <a:pt x="2036602" y="0"/>
                </a:lnTo>
                <a:lnTo>
                  <a:pt x="2036602" y="1697169"/>
                </a:lnTo>
                <a:lnTo>
                  <a:pt x="0" y="1697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1657350" y="800100"/>
            <a:ext cx="15735300" cy="2812979"/>
            <a:chOff x="0" y="0"/>
            <a:chExt cx="4144277" cy="740867"/>
          </a:xfrm>
        </p:grpSpPr>
        <p:sp>
          <p:nvSpPr>
            <p:cNvPr name="Freeform 5" id="5"/>
            <p:cNvSpPr/>
            <p:nvPr/>
          </p:nvSpPr>
          <p:spPr>
            <a:xfrm flipH="false" flipV="false" rot="0">
              <a:off x="0" y="0"/>
              <a:ext cx="4144276" cy="740867"/>
            </a:xfrm>
            <a:custGeom>
              <a:avLst/>
              <a:gdLst/>
              <a:ahLst/>
              <a:cxnLst/>
              <a:rect r="r" b="b" t="t" l="l"/>
              <a:pathLst>
                <a:path h="740867" w="4144276">
                  <a:moveTo>
                    <a:pt x="0" y="0"/>
                  </a:moveTo>
                  <a:lnTo>
                    <a:pt x="4144276" y="0"/>
                  </a:lnTo>
                  <a:lnTo>
                    <a:pt x="4144276" y="740867"/>
                  </a:lnTo>
                  <a:lnTo>
                    <a:pt x="0" y="740867"/>
                  </a:lnTo>
                  <a:close/>
                </a:path>
              </a:pathLst>
            </a:custGeom>
            <a:solidFill>
              <a:srgbClr val="000001"/>
            </a:solidFill>
            <a:ln cap="sq">
              <a:noFill/>
              <a:prstDash val="solid"/>
              <a:miter/>
            </a:ln>
          </p:spPr>
        </p:sp>
        <p:sp>
          <p:nvSpPr>
            <p:cNvPr name="TextBox 6" id="6"/>
            <p:cNvSpPr txBox="true"/>
            <p:nvPr/>
          </p:nvSpPr>
          <p:spPr>
            <a:xfrm>
              <a:off x="0" y="38100"/>
              <a:ext cx="4144277" cy="702767"/>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7" id="7"/>
          <p:cNvGrpSpPr/>
          <p:nvPr/>
        </p:nvGrpSpPr>
        <p:grpSpPr>
          <a:xfrm rot="0">
            <a:off x="1551384" y="353008"/>
            <a:ext cx="15621000" cy="2971813"/>
            <a:chOff x="0" y="0"/>
            <a:chExt cx="20828000" cy="3962417"/>
          </a:xfrm>
        </p:grpSpPr>
        <p:grpSp>
          <p:nvGrpSpPr>
            <p:cNvPr name="Group 8" id="8"/>
            <p:cNvGrpSpPr/>
            <p:nvPr/>
          </p:nvGrpSpPr>
          <p:grpSpPr>
            <a:xfrm rot="0">
              <a:off x="0" y="0"/>
              <a:ext cx="20828000" cy="1752610"/>
              <a:chOff x="0" y="0"/>
              <a:chExt cx="4114173" cy="346195"/>
            </a:xfrm>
          </p:grpSpPr>
          <p:sp>
            <p:nvSpPr>
              <p:cNvPr name="Freeform 9" id="9"/>
              <p:cNvSpPr/>
              <p:nvPr/>
            </p:nvSpPr>
            <p:spPr>
              <a:xfrm flipH="false" flipV="false" rot="0">
                <a:off x="0" y="0"/>
                <a:ext cx="4114173" cy="346195"/>
              </a:xfrm>
              <a:custGeom>
                <a:avLst/>
                <a:gdLst/>
                <a:ahLst/>
                <a:cxnLst/>
                <a:rect r="r" b="b" t="t" l="l"/>
                <a:pathLst>
                  <a:path h="346195" w="4114173">
                    <a:moveTo>
                      <a:pt x="0" y="0"/>
                    </a:moveTo>
                    <a:lnTo>
                      <a:pt x="4114173" y="0"/>
                    </a:lnTo>
                    <a:lnTo>
                      <a:pt x="4114173" y="346195"/>
                    </a:lnTo>
                    <a:lnTo>
                      <a:pt x="0" y="346195"/>
                    </a:lnTo>
                    <a:close/>
                  </a:path>
                </a:pathLst>
              </a:custGeom>
              <a:solidFill>
                <a:srgbClr val="ECEB76"/>
              </a:solidFill>
              <a:ln w="66675" cap="sq">
                <a:solidFill>
                  <a:srgbClr val="000001"/>
                </a:solidFill>
                <a:prstDash val="solid"/>
                <a:miter/>
              </a:ln>
            </p:spPr>
          </p:sp>
          <p:sp>
            <p:nvSpPr>
              <p:cNvPr name="TextBox 10" id="10"/>
              <p:cNvSpPr txBox="true"/>
              <p:nvPr/>
            </p:nvSpPr>
            <p:spPr>
              <a:xfrm>
                <a:off x="0" y="38100"/>
                <a:ext cx="4114173" cy="308095"/>
              </a:xfrm>
              <a:prstGeom prst="rect">
                <a:avLst/>
              </a:prstGeom>
            </p:spPr>
            <p:txBody>
              <a:bodyPr anchor="ctr" rtlCol="false" tIns="0" lIns="0" bIns="0" rIns="0"/>
              <a:lstStyle/>
              <a:p>
                <a:pPr algn="ctr" marL="0" indent="0" lvl="0">
                  <a:lnSpc>
                    <a:spcPts val="6600"/>
                  </a:lnSpc>
                </a:pPr>
                <a:r>
                  <a:rPr lang="en-US" b="true" sz="6000" strike="noStrike" u="none">
                    <a:solidFill>
                      <a:srgbClr val="000001"/>
                    </a:solidFill>
                    <a:latin typeface="Barlow SemiCondensed Bold"/>
                    <a:ea typeface="Barlow SemiCondensed Bold"/>
                    <a:cs typeface="Barlow SemiCondensed Bold"/>
                    <a:sym typeface="Barlow SemiCondensed Bold"/>
                  </a:rPr>
                  <a:t>CONSTRUCTIVE COMPARISON WITHIN COUNTRIES</a:t>
                </a:r>
              </a:p>
            </p:txBody>
          </p:sp>
        </p:grpSp>
        <p:grpSp>
          <p:nvGrpSpPr>
            <p:cNvPr name="Group 11" id="11"/>
            <p:cNvGrpSpPr/>
            <p:nvPr/>
          </p:nvGrpSpPr>
          <p:grpSpPr>
            <a:xfrm rot="0">
              <a:off x="0" y="1676396"/>
              <a:ext cx="20828000" cy="2286021"/>
              <a:chOff x="0" y="0"/>
              <a:chExt cx="4114173" cy="451560"/>
            </a:xfrm>
          </p:grpSpPr>
          <p:sp>
            <p:nvSpPr>
              <p:cNvPr name="Freeform 12" id="12"/>
              <p:cNvSpPr/>
              <p:nvPr/>
            </p:nvSpPr>
            <p:spPr>
              <a:xfrm flipH="false" flipV="false" rot="0">
                <a:off x="0" y="0"/>
                <a:ext cx="4114173" cy="451560"/>
              </a:xfrm>
              <a:custGeom>
                <a:avLst/>
                <a:gdLst/>
                <a:ahLst/>
                <a:cxnLst/>
                <a:rect r="r" b="b" t="t" l="l"/>
                <a:pathLst>
                  <a:path h="451560" w="4114173">
                    <a:moveTo>
                      <a:pt x="0" y="0"/>
                    </a:moveTo>
                    <a:lnTo>
                      <a:pt x="4114173" y="0"/>
                    </a:lnTo>
                    <a:lnTo>
                      <a:pt x="4114173" y="451560"/>
                    </a:lnTo>
                    <a:lnTo>
                      <a:pt x="0" y="451560"/>
                    </a:lnTo>
                    <a:close/>
                  </a:path>
                </a:pathLst>
              </a:custGeom>
              <a:solidFill>
                <a:srgbClr val="FFFFFF"/>
              </a:solidFill>
              <a:ln w="66675" cap="sq">
                <a:solidFill>
                  <a:srgbClr val="000001"/>
                </a:solidFill>
                <a:prstDash val="solid"/>
                <a:miter/>
              </a:ln>
            </p:spPr>
          </p:sp>
          <p:sp>
            <p:nvSpPr>
              <p:cNvPr name="TextBox 13" id="13"/>
              <p:cNvSpPr txBox="true"/>
              <p:nvPr/>
            </p:nvSpPr>
            <p:spPr>
              <a:xfrm>
                <a:off x="0" y="9525"/>
                <a:ext cx="4114173" cy="442035"/>
              </a:xfrm>
              <a:prstGeom prst="rect">
                <a:avLst/>
              </a:prstGeom>
            </p:spPr>
            <p:txBody>
              <a:bodyPr anchor="ctr" rtlCol="false" tIns="101600" lIns="101600" bIns="101600" rIns="101600"/>
              <a:lstStyle/>
              <a:p>
                <a:pPr algn="ctr" marL="0" indent="0" lvl="0">
                  <a:lnSpc>
                    <a:spcPts val="3300"/>
                  </a:lnSpc>
                </a:pPr>
                <a:r>
                  <a:rPr lang="en-US" sz="3000">
                    <a:solidFill>
                      <a:srgbClr val="000001"/>
                    </a:solidFill>
                    <a:latin typeface="Barlow SemiCondensed"/>
                    <a:ea typeface="Barlow SemiCondensed"/>
                    <a:cs typeface="Barlow SemiCondensed"/>
                    <a:sym typeface="Barlow SemiCondensed"/>
                  </a:rPr>
                  <a:t>Dividing the four into two separate groups of similar countries we shall now make a constructive comparison between them further elaborating why Indians and Pakistani look so much alike while Koreans and Indonesians have an undeniable closeness</a:t>
                </a:r>
              </a:p>
            </p:txBody>
          </p:sp>
        </p:grpSp>
      </p:grpSp>
      <p:grpSp>
        <p:nvGrpSpPr>
          <p:cNvPr name="Group 14" id="14"/>
          <p:cNvGrpSpPr/>
          <p:nvPr/>
        </p:nvGrpSpPr>
        <p:grpSpPr>
          <a:xfrm rot="0">
            <a:off x="1476375" y="172033"/>
            <a:ext cx="361950" cy="361950"/>
            <a:chOff x="0" y="0"/>
            <a:chExt cx="731520" cy="731520"/>
          </a:xfrm>
        </p:grpSpPr>
        <p:sp>
          <p:nvSpPr>
            <p:cNvPr name="Freeform 15" id="1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16" id="1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7" id="17"/>
          <p:cNvGrpSpPr/>
          <p:nvPr/>
        </p:nvGrpSpPr>
        <p:grpSpPr>
          <a:xfrm rot="0">
            <a:off x="16917591" y="172033"/>
            <a:ext cx="361950" cy="361950"/>
            <a:chOff x="0" y="0"/>
            <a:chExt cx="731520" cy="731520"/>
          </a:xfrm>
        </p:grpSpPr>
        <p:sp>
          <p:nvSpPr>
            <p:cNvPr name="Freeform 18" id="1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19" id="1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0" id="20"/>
          <p:cNvGrpSpPr/>
          <p:nvPr/>
        </p:nvGrpSpPr>
        <p:grpSpPr>
          <a:xfrm rot="0">
            <a:off x="1524000" y="4286250"/>
            <a:ext cx="7429500" cy="5238750"/>
            <a:chOff x="0" y="0"/>
            <a:chExt cx="1956741" cy="1379753"/>
          </a:xfrm>
        </p:grpSpPr>
        <p:sp>
          <p:nvSpPr>
            <p:cNvPr name="Freeform 21" id="21"/>
            <p:cNvSpPr/>
            <p:nvPr/>
          </p:nvSpPr>
          <p:spPr>
            <a:xfrm flipH="false" flipV="false" rot="0">
              <a:off x="0" y="0"/>
              <a:ext cx="1956741" cy="1379753"/>
            </a:xfrm>
            <a:custGeom>
              <a:avLst/>
              <a:gdLst/>
              <a:ahLst/>
              <a:cxnLst/>
              <a:rect r="r" b="b" t="t" l="l"/>
              <a:pathLst>
                <a:path h="1379753" w="1956741">
                  <a:moveTo>
                    <a:pt x="0" y="0"/>
                  </a:moveTo>
                  <a:lnTo>
                    <a:pt x="1956741" y="0"/>
                  </a:lnTo>
                  <a:lnTo>
                    <a:pt x="1956741" y="1379753"/>
                  </a:lnTo>
                  <a:lnTo>
                    <a:pt x="0" y="1379753"/>
                  </a:lnTo>
                  <a:close/>
                </a:path>
              </a:pathLst>
            </a:custGeom>
            <a:solidFill>
              <a:srgbClr val="707070"/>
            </a:solidFill>
            <a:ln cap="sq">
              <a:noFill/>
              <a:prstDash val="solid"/>
              <a:miter/>
            </a:ln>
          </p:spPr>
        </p:sp>
        <p:sp>
          <p:nvSpPr>
            <p:cNvPr name="TextBox 22" id="22"/>
            <p:cNvSpPr txBox="true"/>
            <p:nvPr/>
          </p:nvSpPr>
          <p:spPr>
            <a:xfrm>
              <a:off x="0" y="38100"/>
              <a:ext cx="1956741" cy="1341653"/>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23" id="23"/>
          <p:cNvGrpSpPr/>
          <p:nvPr/>
        </p:nvGrpSpPr>
        <p:grpSpPr>
          <a:xfrm rot="0">
            <a:off x="9715500" y="4286250"/>
            <a:ext cx="7429500" cy="5238750"/>
            <a:chOff x="0" y="0"/>
            <a:chExt cx="1956741" cy="1379753"/>
          </a:xfrm>
        </p:grpSpPr>
        <p:sp>
          <p:nvSpPr>
            <p:cNvPr name="Freeform 24" id="24"/>
            <p:cNvSpPr/>
            <p:nvPr/>
          </p:nvSpPr>
          <p:spPr>
            <a:xfrm flipH="false" flipV="false" rot="0">
              <a:off x="0" y="0"/>
              <a:ext cx="1956741" cy="1379753"/>
            </a:xfrm>
            <a:custGeom>
              <a:avLst/>
              <a:gdLst/>
              <a:ahLst/>
              <a:cxnLst/>
              <a:rect r="r" b="b" t="t" l="l"/>
              <a:pathLst>
                <a:path h="1379753" w="1956741">
                  <a:moveTo>
                    <a:pt x="0" y="0"/>
                  </a:moveTo>
                  <a:lnTo>
                    <a:pt x="1956741" y="0"/>
                  </a:lnTo>
                  <a:lnTo>
                    <a:pt x="1956741" y="1379753"/>
                  </a:lnTo>
                  <a:lnTo>
                    <a:pt x="0" y="1379753"/>
                  </a:lnTo>
                  <a:close/>
                </a:path>
              </a:pathLst>
            </a:custGeom>
            <a:solidFill>
              <a:srgbClr val="707070"/>
            </a:solidFill>
            <a:ln cap="sq">
              <a:noFill/>
              <a:prstDash val="solid"/>
              <a:miter/>
            </a:ln>
          </p:spPr>
        </p:sp>
        <p:sp>
          <p:nvSpPr>
            <p:cNvPr name="TextBox 25" id="25"/>
            <p:cNvSpPr txBox="true"/>
            <p:nvPr/>
          </p:nvSpPr>
          <p:spPr>
            <a:xfrm>
              <a:off x="0" y="38100"/>
              <a:ext cx="1956741" cy="1341653"/>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26" id="26"/>
          <p:cNvGrpSpPr/>
          <p:nvPr/>
        </p:nvGrpSpPr>
        <p:grpSpPr>
          <a:xfrm rot="0">
            <a:off x="1333500" y="4095750"/>
            <a:ext cx="7429500" cy="5238750"/>
            <a:chOff x="0" y="0"/>
            <a:chExt cx="9906000" cy="6985000"/>
          </a:xfrm>
        </p:grpSpPr>
        <p:grpSp>
          <p:nvGrpSpPr>
            <p:cNvPr name="Group 27" id="27"/>
            <p:cNvGrpSpPr/>
            <p:nvPr/>
          </p:nvGrpSpPr>
          <p:grpSpPr>
            <a:xfrm rot="0">
              <a:off x="0" y="1244600"/>
              <a:ext cx="9906000" cy="5740400"/>
              <a:chOff x="0" y="0"/>
              <a:chExt cx="1956741" cy="1133906"/>
            </a:xfrm>
          </p:grpSpPr>
          <p:sp>
            <p:nvSpPr>
              <p:cNvPr name="Freeform 28" id="28"/>
              <p:cNvSpPr/>
              <p:nvPr/>
            </p:nvSpPr>
            <p:spPr>
              <a:xfrm flipH="false" flipV="false" rot="0">
                <a:off x="0" y="0"/>
                <a:ext cx="1956741" cy="1133906"/>
              </a:xfrm>
              <a:custGeom>
                <a:avLst/>
                <a:gdLst/>
                <a:ahLst/>
                <a:cxnLst/>
                <a:rect r="r" b="b" t="t" l="l"/>
                <a:pathLst>
                  <a:path h="1133906" w="1956741">
                    <a:moveTo>
                      <a:pt x="0" y="0"/>
                    </a:moveTo>
                    <a:lnTo>
                      <a:pt x="1956741" y="0"/>
                    </a:lnTo>
                    <a:lnTo>
                      <a:pt x="1956741" y="1133906"/>
                    </a:lnTo>
                    <a:lnTo>
                      <a:pt x="0" y="1133906"/>
                    </a:lnTo>
                    <a:close/>
                  </a:path>
                </a:pathLst>
              </a:custGeom>
              <a:solidFill>
                <a:srgbClr val="CDE8E8"/>
              </a:solidFill>
              <a:ln w="66675" cap="sq">
                <a:solidFill>
                  <a:srgbClr val="000001"/>
                </a:solidFill>
                <a:prstDash val="solid"/>
                <a:miter/>
              </a:ln>
            </p:spPr>
          </p:sp>
          <p:sp>
            <p:nvSpPr>
              <p:cNvPr name="TextBox 29" id="29"/>
              <p:cNvSpPr txBox="true"/>
              <p:nvPr/>
            </p:nvSpPr>
            <p:spPr>
              <a:xfrm>
                <a:off x="0" y="-19050"/>
                <a:ext cx="1956741" cy="1152956"/>
              </a:xfrm>
              <a:prstGeom prst="rect">
                <a:avLst/>
              </a:prstGeom>
            </p:spPr>
            <p:txBody>
              <a:bodyPr anchor="ctr" rtlCol="false" tIns="254000" lIns="254000" bIns="254000" rIns="254000"/>
              <a:lstStyle/>
              <a:p>
                <a:pPr algn="l" marL="647700" indent="-323850" lvl="1">
                  <a:lnSpc>
                    <a:spcPts val="3600"/>
                  </a:lnSpc>
                  <a:buFont typeface="Arial"/>
                  <a:buChar char="•"/>
                </a:pPr>
                <a:r>
                  <a:rPr lang="en-US" sz="3000">
                    <a:solidFill>
                      <a:srgbClr val="000001"/>
                    </a:solidFill>
                    <a:latin typeface="Barlow SemiCondensed"/>
                    <a:ea typeface="Barlow SemiCondensed"/>
                    <a:cs typeface="Barlow SemiCondensed"/>
                    <a:sym typeface="Barlow SemiCondensed"/>
                  </a:rPr>
                  <a:t>Both of these countries share east Asian ancestry because of it’s geographical position. </a:t>
                </a:r>
              </a:p>
              <a:p>
                <a:pPr algn="l" marL="647700" indent="-323850" lvl="1">
                  <a:lnSpc>
                    <a:spcPts val="3600"/>
                  </a:lnSpc>
                  <a:spcBef>
                    <a:spcPct val="0"/>
                  </a:spcBef>
                  <a:buFont typeface="Arial"/>
                  <a:buChar char="•"/>
                </a:pPr>
                <a:r>
                  <a:rPr lang="en-US" sz="3000">
                    <a:solidFill>
                      <a:srgbClr val="000001"/>
                    </a:solidFill>
                    <a:latin typeface="Barlow SemiCondensed"/>
                    <a:ea typeface="Barlow SemiCondensed"/>
                    <a:cs typeface="Barlow SemiCondensed"/>
                    <a:sym typeface="Barlow SemiCondensed"/>
                  </a:rPr>
                  <a:t>This </a:t>
                </a:r>
                <a:r>
                  <a:rPr lang="en-US" sz="3000">
                    <a:solidFill>
                      <a:srgbClr val="000001"/>
                    </a:solidFill>
                    <a:latin typeface="Barlow SemiCondensed"/>
                    <a:ea typeface="Barlow SemiCondensed"/>
                    <a:cs typeface="Barlow SemiCondensed"/>
                    <a:sym typeface="Barlow SemiCondensed"/>
                  </a:rPr>
                  <a:t>group  as a whole spans a wide genetic range but still clusters more with East/Southeast Asians overall.</a:t>
                </a:r>
              </a:p>
            </p:txBody>
          </p:sp>
        </p:grpSp>
        <p:grpSp>
          <p:nvGrpSpPr>
            <p:cNvPr name="Group 30" id="30"/>
            <p:cNvGrpSpPr/>
            <p:nvPr/>
          </p:nvGrpSpPr>
          <p:grpSpPr>
            <a:xfrm rot="0">
              <a:off x="0" y="0"/>
              <a:ext cx="9906000" cy="1270000"/>
              <a:chOff x="0" y="0"/>
              <a:chExt cx="1956741" cy="250864"/>
            </a:xfrm>
          </p:grpSpPr>
          <p:sp>
            <p:nvSpPr>
              <p:cNvPr name="Freeform 31" id="31"/>
              <p:cNvSpPr/>
              <p:nvPr/>
            </p:nvSpPr>
            <p:spPr>
              <a:xfrm flipH="false" flipV="false" rot="0">
                <a:off x="0" y="0"/>
                <a:ext cx="1956741" cy="250864"/>
              </a:xfrm>
              <a:custGeom>
                <a:avLst/>
                <a:gdLst/>
                <a:ahLst/>
                <a:cxnLst/>
                <a:rect r="r" b="b" t="t" l="l"/>
                <a:pathLst>
                  <a:path h="250864" w="1956741">
                    <a:moveTo>
                      <a:pt x="0" y="0"/>
                    </a:moveTo>
                    <a:lnTo>
                      <a:pt x="1956741" y="0"/>
                    </a:lnTo>
                    <a:lnTo>
                      <a:pt x="1956741" y="250864"/>
                    </a:lnTo>
                    <a:lnTo>
                      <a:pt x="0" y="250864"/>
                    </a:lnTo>
                    <a:close/>
                  </a:path>
                </a:pathLst>
              </a:custGeom>
              <a:solidFill>
                <a:srgbClr val="000001"/>
              </a:solidFill>
              <a:ln cap="sq">
                <a:noFill/>
                <a:prstDash val="solid"/>
                <a:miter/>
              </a:ln>
            </p:spPr>
          </p:sp>
          <p:sp>
            <p:nvSpPr>
              <p:cNvPr name="TextBox 32" id="32"/>
              <p:cNvSpPr txBox="true"/>
              <p:nvPr/>
            </p:nvSpPr>
            <p:spPr>
              <a:xfrm>
                <a:off x="0" y="19050"/>
                <a:ext cx="1956741" cy="231814"/>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KOREA-INDONESIA</a:t>
                </a:r>
              </a:p>
            </p:txBody>
          </p:sp>
        </p:grpSp>
      </p:grpSp>
      <p:grpSp>
        <p:nvGrpSpPr>
          <p:cNvPr name="Group 33" id="33"/>
          <p:cNvGrpSpPr/>
          <p:nvPr/>
        </p:nvGrpSpPr>
        <p:grpSpPr>
          <a:xfrm rot="0">
            <a:off x="9525000" y="4095750"/>
            <a:ext cx="7429500" cy="5238750"/>
            <a:chOff x="0" y="0"/>
            <a:chExt cx="9906000" cy="6985000"/>
          </a:xfrm>
        </p:grpSpPr>
        <p:grpSp>
          <p:nvGrpSpPr>
            <p:cNvPr name="Group 34" id="34"/>
            <p:cNvGrpSpPr/>
            <p:nvPr/>
          </p:nvGrpSpPr>
          <p:grpSpPr>
            <a:xfrm rot="0">
              <a:off x="0" y="1244600"/>
              <a:ext cx="9906000" cy="5740400"/>
              <a:chOff x="0" y="0"/>
              <a:chExt cx="1956741" cy="1133906"/>
            </a:xfrm>
          </p:grpSpPr>
          <p:sp>
            <p:nvSpPr>
              <p:cNvPr name="Freeform 35" id="35"/>
              <p:cNvSpPr/>
              <p:nvPr/>
            </p:nvSpPr>
            <p:spPr>
              <a:xfrm flipH="false" flipV="false" rot="0">
                <a:off x="0" y="0"/>
                <a:ext cx="1956741" cy="1133906"/>
              </a:xfrm>
              <a:custGeom>
                <a:avLst/>
                <a:gdLst/>
                <a:ahLst/>
                <a:cxnLst/>
                <a:rect r="r" b="b" t="t" l="l"/>
                <a:pathLst>
                  <a:path h="1133906" w="1956741">
                    <a:moveTo>
                      <a:pt x="0" y="0"/>
                    </a:moveTo>
                    <a:lnTo>
                      <a:pt x="1956741" y="0"/>
                    </a:lnTo>
                    <a:lnTo>
                      <a:pt x="1956741" y="1133906"/>
                    </a:lnTo>
                    <a:lnTo>
                      <a:pt x="0" y="1133906"/>
                    </a:lnTo>
                    <a:close/>
                  </a:path>
                </a:pathLst>
              </a:custGeom>
              <a:solidFill>
                <a:srgbClr val="FFFFFF"/>
              </a:solidFill>
              <a:ln w="66675" cap="sq">
                <a:solidFill>
                  <a:srgbClr val="000001"/>
                </a:solidFill>
                <a:prstDash val="solid"/>
                <a:miter/>
              </a:ln>
            </p:spPr>
          </p:sp>
          <p:sp>
            <p:nvSpPr>
              <p:cNvPr name="TextBox 36" id="36"/>
              <p:cNvSpPr txBox="true"/>
              <p:nvPr/>
            </p:nvSpPr>
            <p:spPr>
              <a:xfrm>
                <a:off x="0" y="-19050"/>
                <a:ext cx="1956741" cy="1152956"/>
              </a:xfrm>
              <a:prstGeom prst="rect">
                <a:avLst/>
              </a:prstGeom>
            </p:spPr>
            <p:txBody>
              <a:bodyPr anchor="ctr" rtlCol="false" tIns="254000" lIns="254000" bIns="254000" rIns="254000"/>
              <a:lstStyle/>
              <a:p>
                <a:pPr algn="l" marL="647700" indent="-323850" lvl="1">
                  <a:lnSpc>
                    <a:spcPts val="3600"/>
                  </a:lnSpc>
                  <a:buFont typeface="Arial"/>
                  <a:buChar char="•"/>
                </a:pPr>
                <a:r>
                  <a:rPr lang="en-US" sz="3000">
                    <a:solidFill>
                      <a:srgbClr val="000001"/>
                    </a:solidFill>
                    <a:latin typeface="Barlow SemiCondensed"/>
                    <a:ea typeface="Barlow SemiCondensed"/>
                    <a:cs typeface="Barlow SemiCondensed"/>
                    <a:sym typeface="Barlow SemiCondensed"/>
                  </a:rPr>
                  <a:t>Both of the countries share south Asian ancestry because of both geographical positioning and common history</a:t>
                </a:r>
              </a:p>
              <a:p>
                <a:pPr algn="l" marL="647700" indent="-323850" lvl="1">
                  <a:lnSpc>
                    <a:spcPts val="3600"/>
                  </a:lnSpc>
                  <a:spcBef>
                    <a:spcPct val="0"/>
                  </a:spcBef>
                  <a:buFont typeface="Arial"/>
                  <a:buChar char="•"/>
                </a:pPr>
                <a:r>
                  <a:rPr lang="en-US" sz="3000">
                    <a:solidFill>
                      <a:srgbClr val="000001"/>
                    </a:solidFill>
                    <a:latin typeface="Barlow SemiCondensed"/>
                    <a:ea typeface="Barlow SemiCondensed"/>
                    <a:cs typeface="Barlow SemiCondensed"/>
                    <a:sym typeface="Barlow SemiCondensed"/>
                  </a:rPr>
                  <a:t>High genetic diversity within and between subpopulations, due to long demographic history, caste/tribe structure, endogamy and migrations,</a:t>
                </a:r>
              </a:p>
            </p:txBody>
          </p:sp>
        </p:grpSp>
        <p:grpSp>
          <p:nvGrpSpPr>
            <p:cNvPr name="Group 37" id="37"/>
            <p:cNvGrpSpPr/>
            <p:nvPr/>
          </p:nvGrpSpPr>
          <p:grpSpPr>
            <a:xfrm rot="0">
              <a:off x="0" y="0"/>
              <a:ext cx="9906000" cy="1270000"/>
              <a:chOff x="0" y="0"/>
              <a:chExt cx="1956741" cy="250864"/>
            </a:xfrm>
          </p:grpSpPr>
          <p:sp>
            <p:nvSpPr>
              <p:cNvPr name="Freeform 38" id="38"/>
              <p:cNvSpPr/>
              <p:nvPr/>
            </p:nvSpPr>
            <p:spPr>
              <a:xfrm flipH="false" flipV="false" rot="0">
                <a:off x="0" y="0"/>
                <a:ext cx="1956741" cy="250864"/>
              </a:xfrm>
              <a:custGeom>
                <a:avLst/>
                <a:gdLst/>
                <a:ahLst/>
                <a:cxnLst/>
                <a:rect r="r" b="b" t="t" l="l"/>
                <a:pathLst>
                  <a:path h="250864" w="1956741">
                    <a:moveTo>
                      <a:pt x="0" y="0"/>
                    </a:moveTo>
                    <a:lnTo>
                      <a:pt x="1956741" y="0"/>
                    </a:lnTo>
                    <a:lnTo>
                      <a:pt x="1956741" y="250864"/>
                    </a:lnTo>
                    <a:lnTo>
                      <a:pt x="0" y="250864"/>
                    </a:lnTo>
                    <a:close/>
                  </a:path>
                </a:pathLst>
              </a:custGeom>
              <a:solidFill>
                <a:srgbClr val="000001"/>
              </a:solidFill>
              <a:ln cap="sq">
                <a:noFill/>
                <a:prstDash val="solid"/>
                <a:miter/>
              </a:ln>
            </p:spPr>
          </p:sp>
          <p:sp>
            <p:nvSpPr>
              <p:cNvPr name="TextBox 39" id="39"/>
              <p:cNvSpPr txBox="true"/>
              <p:nvPr/>
            </p:nvSpPr>
            <p:spPr>
              <a:xfrm>
                <a:off x="0" y="19050"/>
                <a:ext cx="1956741" cy="231814"/>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INDIA-PAKISTAN</a:t>
                </a:r>
              </a:p>
            </p:txBody>
          </p:sp>
        </p:grpSp>
      </p:grpSp>
      <p:grpSp>
        <p:nvGrpSpPr>
          <p:cNvPr name="Group 40" id="40"/>
          <p:cNvGrpSpPr/>
          <p:nvPr/>
        </p:nvGrpSpPr>
        <p:grpSpPr>
          <a:xfrm rot="0">
            <a:off x="1343025" y="1476964"/>
            <a:ext cx="361950" cy="361950"/>
            <a:chOff x="0" y="0"/>
            <a:chExt cx="731520" cy="731520"/>
          </a:xfrm>
        </p:grpSpPr>
        <p:sp>
          <p:nvSpPr>
            <p:cNvPr name="Freeform 41" id="4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42" id="4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43" id="43"/>
          <p:cNvGrpSpPr/>
          <p:nvPr/>
        </p:nvGrpSpPr>
        <p:grpSpPr>
          <a:xfrm rot="0">
            <a:off x="16964025" y="1476964"/>
            <a:ext cx="361950" cy="361950"/>
            <a:chOff x="0" y="0"/>
            <a:chExt cx="731520" cy="731520"/>
          </a:xfrm>
        </p:grpSpPr>
        <p:sp>
          <p:nvSpPr>
            <p:cNvPr name="Freeform 44" id="44"/>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A6A6A6"/>
            </a:solidFill>
            <a:ln w="66675" cap="sq">
              <a:solidFill>
                <a:srgbClr val="000001"/>
              </a:solidFill>
              <a:prstDash val="solid"/>
              <a:miter/>
            </a:ln>
          </p:spPr>
        </p:sp>
        <p:sp>
          <p:nvSpPr>
            <p:cNvPr name="TextBox 45" id="45"/>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9715500" y="3607893"/>
            <a:ext cx="8088576" cy="6030449"/>
            <a:chOff x="0" y="0"/>
            <a:chExt cx="2130324" cy="1588266"/>
          </a:xfrm>
        </p:grpSpPr>
        <p:sp>
          <p:nvSpPr>
            <p:cNvPr name="Freeform 4" id="4"/>
            <p:cNvSpPr/>
            <p:nvPr/>
          </p:nvSpPr>
          <p:spPr>
            <a:xfrm flipH="false" flipV="false" rot="0">
              <a:off x="0" y="0"/>
              <a:ext cx="2130324" cy="1588266"/>
            </a:xfrm>
            <a:custGeom>
              <a:avLst/>
              <a:gdLst/>
              <a:ahLst/>
              <a:cxnLst/>
              <a:rect r="r" b="b" t="t" l="l"/>
              <a:pathLst>
                <a:path h="1588266" w="2130324">
                  <a:moveTo>
                    <a:pt x="0" y="0"/>
                  </a:moveTo>
                  <a:lnTo>
                    <a:pt x="2130324" y="0"/>
                  </a:lnTo>
                  <a:lnTo>
                    <a:pt x="2130324" y="1588266"/>
                  </a:lnTo>
                  <a:lnTo>
                    <a:pt x="0" y="1588266"/>
                  </a:lnTo>
                  <a:close/>
                </a:path>
              </a:pathLst>
            </a:custGeom>
            <a:solidFill>
              <a:srgbClr val="707070"/>
            </a:solidFill>
            <a:ln cap="sq">
              <a:noFill/>
              <a:prstDash val="solid"/>
              <a:miter/>
            </a:ln>
          </p:spPr>
        </p:sp>
        <p:sp>
          <p:nvSpPr>
            <p:cNvPr name="TextBox 5" id="5"/>
            <p:cNvSpPr txBox="true"/>
            <p:nvPr/>
          </p:nvSpPr>
          <p:spPr>
            <a:xfrm>
              <a:off x="0" y="38100"/>
              <a:ext cx="2130324" cy="1550166"/>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6" id="6"/>
          <p:cNvGrpSpPr/>
          <p:nvPr/>
        </p:nvGrpSpPr>
        <p:grpSpPr>
          <a:xfrm rot="0">
            <a:off x="1551384" y="548285"/>
            <a:ext cx="15621000" cy="2590800"/>
            <a:chOff x="0" y="0"/>
            <a:chExt cx="4114173" cy="682351"/>
          </a:xfrm>
        </p:grpSpPr>
        <p:sp>
          <p:nvSpPr>
            <p:cNvPr name="Freeform 7" id="7"/>
            <p:cNvSpPr/>
            <p:nvPr/>
          </p:nvSpPr>
          <p:spPr>
            <a:xfrm flipH="false" flipV="false" rot="0">
              <a:off x="0" y="0"/>
              <a:ext cx="4114173" cy="682351"/>
            </a:xfrm>
            <a:custGeom>
              <a:avLst/>
              <a:gdLst/>
              <a:ahLst/>
              <a:cxnLst/>
              <a:rect r="r" b="b" t="t" l="l"/>
              <a:pathLst>
                <a:path h="682351" w="4114173">
                  <a:moveTo>
                    <a:pt x="0" y="0"/>
                  </a:moveTo>
                  <a:lnTo>
                    <a:pt x="4114173" y="0"/>
                  </a:lnTo>
                  <a:lnTo>
                    <a:pt x="4114173" y="682351"/>
                  </a:lnTo>
                  <a:lnTo>
                    <a:pt x="0" y="682351"/>
                  </a:lnTo>
                  <a:close/>
                </a:path>
              </a:pathLst>
            </a:custGeom>
            <a:solidFill>
              <a:srgbClr val="000001"/>
            </a:solidFill>
            <a:ln cap="sq">
              <a:noFill/>
              <a:prstDash val="solid"/>
              <a:miter/>
            </a:ln>
          </p:spPr>
        </p:sp>
        <p:sp>
          <p:nvSpPr>
            <p:cNvPr name="TextBox 8" id="8"/>
            <p:cNvSpPr txBox="true"/>
            <p:nvPr/>
          </p:nvSpPr>
          <p:spPr>
            <a:xfrm>
              <a:off x="0" y="38100"/>
              <a:ext cx="4114173" cy="644251"/>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9" id="9"/>
          <p:cNvGrpSpPr/>
          <p:nvPr/>
        </p:nvGrpSpPr>
        <p:grpSpPr>
          <a:xfrm rot="0">
            <a:off x="1333500" y="200018"/>
            <a:ext cx="15621000" cy="1314458"/>
            <a:chOff x="0" y="0"/>
            <a:chExt cx="4114173" cy="346195"/>
          </a:xfrm>
        </p:grpSpPr>
        <p:sp>
          <p:nvSpPr>
            <p:cNvPr name="Freeform 10" id="10"/>
            <p:cNvSpPr/>
            <p:nvPr/>
          </p:nvSpPr>
          <p:spPr>
            <a:xfrm flipH="false" flipV="false" rot="0">
              <a:off x="0" y="0"/>
              <a:ext cx="4114173" cy="346195"/>
            </a:xfrm>
            <a:custGeom>
              <a:avLst/>
              <a:gdLst/>
              <a:ahLst/>
              <a:cxnLst/>
              <a:rect r="r" b="b" t="t" l="l"/>
              <a:pathLst>
                <a:path h="346195" w="4114173">
                  <a:moveTo>
                    <a:pt x="0" y="0"/>
                  </a:moveTo>
                  <a:lnTo>
                    <a:pt x="4114173" y="0"/>
                  </a:lnTo>
                  <a:lnTo>
                    <a:pt x="4114173" y="346195"/>
                  </a:lnTo>
                  <a:lnTo>
                    <a:pt x="0" y="346195"/>
                  </a:lnTo>
                  <a:close/>
                </a:path>
              </a:pathLst>
            </a:custGeom>
            <a:solidFill>
              <a:srgbClr val="E5A6F4"/>
            </a:solidFill>
            <a:ln w="66675" cap="sq">
              <a:solidFill>
                <a:srgbClr val="000001"/>
              </a:solidFill>
              <a:prstDash val="solid"/>
              <a:miter/>
            </a:ln>
          </p:spPr>
        </p:sp>
        <p:sp>
          <p:nvSpPr>
            <p:cNvPr name="TextBox 11" id="11"/>
            <p:cNvSpPr txBox="true"/>
            <p:nvPr/>
          </p:nvSpPr>
          <p:spPr>
            <a:xfrm>
              <a:off x="0" y="38100"/>
              <a:ext cx="4114173" cy="308095"/>
            </a:xfrm>
            <a:prstGeom prst="rect">
              <a:avLst/>
            </a:prstGeom>
          </p:spPr>
          <p:txBody>
            <a:bodyPr anchor="ctr" rtlCol="false" tIns="0" lIns="0" bIns="0" rIns="0"/>
            <a:lstStyle/>
            <a:p>
              <a:pPr algn="ctr" marL="0" indent="0" lvl="0">
                <a:lnSpc>
                  <a:spcPts val="6600"/>
                </a:lnSpc>
              </a:pPr>
              <a:r>
                <a:rPr lang="en-US" b="true" sz="6000">
                  <a:solidFill>
                    <a:srgbClr val="000001"/>
                  </a:solidFill>
                  <a:latin typeface="Barlow SemiCondensed Bold"/>
                  <a:ea typeface="Barlow SemiCondensed Bold"/>
                  <a:cs typeface="Barlow SemiCondensed Bold"/>
                  <a:sym typeface="Barlow SemiCondensed Bold"/>
                </a:rPr>
                <a:t>SCIENTIFIC SIGNIFICANCE </a:t>
              </a:r>
            </a:p>
          </p:txBody>
        </p:sp>
      </p:grpSp>
      <p:grpSp>
        <p:nvGrpSpPr>
          <p:cNvPr name="Group 12" id="12"/>
          <p:cNvGrpSpPr/>
          <p:nvPr/>
        </p:nvGrpSpPr>
        <p:grpSpPr>
          <a:xfrm rot="0">
            <a:off x="1333500" y="1514476"/>
            <a:ext cx="15621000" cy="1400177"/>
            <a:chOff x="0" y="0"/>
            <a:chExt cx="4114173" cy="368771"/>
          </a:xfrm>
        </p:grpSpPr>
        <p:sp>
          <p:nvSpPr>
            <p:cNvPr name="Freeform 13" id="13"/>
            <p:cNvSpPr/>
            <p:nvPr/>
          </p:nvSpPr>
          <p:spPr>
            <a:xfrm flipH="false" flipV="false" rot="0">
              <a:off x="0" y="0"/>
              <a:ext cx="4114173" cy="368771"/>
            </a:xfrm>
            <a:custGeom>
              <a:avLst/>
              <a:gdLst/>
              <a:ahLst/>
              <a:cxnLst/>
              <a:rect r="r" b="b" t="t" l="l"/>
              <a:pathLst>
                <a:path h="368771" w="4114173">
                  <a:moveTo>
                    <a:pt x="0" y="0"/>
                  </a:moveTo>
                  <a:lnTo>
                    <a:pt x="4114173" y="0"/>
                  </a:lnTo>
                  <a:lnTo>
                    <a:pt x="4114173" y="368771"/>
                  </a:lnTo>
                  <a:lnTo>
                    <a:pt x="0" y="368771"/>
                  </a:lnTo>
                  <a:close/>
                </a:path>
              </a:pathLst>
            </a:custGeom>
            <a:solidFill>
              <a:srgbClr val="FFFFFF"/>
            </a:solidFill>
            <a:ln w="66675" cap="sq">
              <a:solidFill>
                <a:srgbClr val="000001"/>
              </a:solidFill>
              <a:prstDash val="solid"/>
              <a:miter/>
            </a:ln>
          </p:spPr>
        </p:sp>
        <p:sp>
          <p:nvSpPr>
            <p:cNvPr name="TextBox 14" id="14"/>
            <p:cNvSpPr txBox="true"/>
            <p:nvPr/>
          </p:nvSpPr>
          <p:spPr>
            <a:xfrm>
              <a:off x="0" y="9525"/>
              <a:ext cx="4114173" cy="359246"/>
            </a:xfrm>
            <a:prstGeom prst="rect">
              <a:avLst/>
            </a:prstGeom>
          </p:spPr>
          <p:txBody>
            <a:bodyPr anchor="ctr" rtlCol="false" tIns="101600" lIns="101600" bIns="101600" rIns="101600"/>
            <a:lstStyle/>
            <a:p>
              <a:pPr algn="ctr" marL="0" indent="0" lvl="0">
                <a:lnSpc>
                  <a:spcPts val="3300"/>
                </a:lnSpc>
              </a:pPr>
              <a:r>
                <a:rPr lang="en-US" sz="3000">
                  <a:solidFill>
                    <a:srgbClr val="000001"/>
                  </a:solidFill>
                  <a:latin typeface="Barlow SemiCondensed"/>
                  <a:ea typeface="Barlow SemiCondensed"/>
                  <a:cs typeface="Barlow SemiCondensed"/>
                  <a:sym typeface="Barlow SemiCondensed"/>
                </a:rPr>
                <a:t>After extensive briefing on gene pool of four countries, the question might still linger; “Why should we study about genetics of these specific countries?” Well the answer to it is below</a:t>
              </a:r>
            </a:p>
          </p:txBody>
        </p:sp>
      </p:grpSp>
      <p:grpSp>
        <p:nvGrpSpPr>
          <p:cNvPr name="Group 15" id="15"/>
          <p:cNvGrpSpPr/>
          <p:nvPr/>
        </p:nvGrpSpPr>
        <p:grpSpPr>
          <a:xfrm rot="0">
            <a:off x="1189434" y="19043"/>
            <a:ext cx="361950" cy="36195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BEBEB"/>
            </a:solidFill>
            <a:ln w="66675" cap="sq">
              <a:solidFill>
                <a:srgbClr val="000001"/>
              </a:solidFill>
              <a:prstDash val="solid"/>
              <a:miter/>
            </a:ln>
          </p:spPr>
        </p:sp>
        <p:sp>
          <p:nvSpPr>
            <p:cNvPr name="TextBox 17" id="1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8" id="18"/>
          <p:cNvGrpSpPr/>
          <p:nvPr/>
        </p:nvGrpSpPr>
        <p:grpSpPr>
          <a:xfrm rot="0">
            <a:off x="1189434" y="3791908"/>
            <a:ext cx="7659291" cy="5846433"/>
            <a:chOff x="0" y="0"/>
            <a:chExt cx="2017262" cy="1539801"/>
          </a:xfrm>
        </p:grpSpPr>
        <p:sp>
          <p:nvSpPr>
            <p:cNvPr name="Freeform 19" id="19"/>
            <p:cNvSpPr/>
            <p:nvPr/>
          </p:nvSpPr>
          <p:spPr>
            <a:xfrm flipH="false" flipV="false" rot="0">
              <a:off x="0" y="0"/>
              <a:ext cx="2017262" cy="1539801"/>
            </a:xfrm>
            <a:custGeom>
              <a:avLst/>
              <a:gdLst/>
              <a:ahLst/>
              <a:cxnLst/>
              <a:rect r="r" b="b" t="t" l="l"/>
              <a:pathLst>
                <a:path h="1539801" w="2017262">
                  <a:moveTo>
                    <a:pt x="0" y="0"/>
                  </a:moveTo>
                  <a:lnTo>
                    <a:pt x="2017262" y="0"/>
                  </a:lnTo>
                  <a:lnTo>
                    <a:pt x="2017262" y="1539801"/>
                  </a:lnTo>
                  <a:lnTo>
                    <a:pt x="0" y="1539801"/>
                  </a:lnTo>
                  <a:close/>
                </a:path>
              </a:pathLst>
            </a:custGeom>
            <a:solidFill>
              <a:srgbClr val="707070"/>
            </a:solidFill>
            <a:ln cap="sq">
              <a:noFill/>
              <a:prstDash val="solid"/>
              <a:miter/>
            </a:ln>
          </p:spPr>
        </p:sp>
        <p:sp>
          <p:nvSpPr>
            <p:cNvPr name="TextBox 20" id="20"/>
            <p:cNvSpPr txBox="true"/>
            <p:nvPr/>
          </p:nvSpPr>
          <p:spPr>
            <a:xfrm>
              <a:off x="0" y="38100"/>
              <a:ext cx="2017262" cy="1501701"/>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21" id="21"/>
          <p:cNvGrpSpPr/>
          <p:nvPr/>
        </p:nvGrpSpPr>
        <p:grpSpPr>
          <a:xfrm rot="0">
            <a:off x="873987" y="3396993"/>
            <a:ext cx="7744948" cy="5937507"/>
            <a:chOff x="0" y="0"/>
            <a:chExt cx="10326597" cy="7916676"/>
          </a:xfrm>
        </p:grpSpPr>
        <p:grpSp>
          <p:nvGrpSpPr>
            <p:cNvPr name="Group 22" id="22"/>
            <p:cNvGrpSpPr/>
            <p:nvPr/>
          </p:nvGrpSpPr>
          <p:grpSpPr>
            <a:xfrm rot="0">
              <a:off x="0" y="1297444"/>
              <a:ext cx="10326597" cy="6619232"/>
              <a:chOff x="0" y="0"/>
              <a:chExt cx="1956741" cy="1254249"/>
            </a:xfrm>
          </p:grpSpPr>
          <p:sp>
            <p:nvSpPr>
              <p:cNvPr name="Freeform 23" id="23"/>
              <p:cNvSpPr/>
              <p:nvPr/>
            </p:nvSpPr>
            <p:spPr>
              <a:xfrm flipH="false" flipV="false" rot="0">
                <a:off x="0" y="0"/>
                <a:ext cx="1956741" cy="1254249"/>
              </a:xfrm>
              <a:custGeom>
                <a:avLst/>
                <a:gdLst/>
                <a:ahLst/>
                <a:cxnLst/>
                <a:rect r="r" b="b" t="t" l="l"/>
                <a:pathLst>
                  <a:path h="1254249" w="1956741">
                    <a:moveTo>
                      <a:pt x="0" y="0"/>
                    </a:moveTo>
                    <a:lnTo>
                      <a:pt x="1956741" y="0"/>
                    </a:lnTo>
                    <a:lnTo>
                      <a:pt x="1956741" y="1254249"/>
                    </a:lnTo>
                    <a:lnTo>
                      <a:pt x="0" y="1254249"/>
                    </a:lnTo>
                    <a:close/>
                  </a:path>
                </a:pathLst>
              </a:custGeom>
              <a:solidFill>
                <a:srgbClr val="ECEB76"/>
              </a:solidFill>
              <a:ln w="66675" cap="sq">
                <a:solidFill>
                  <a:srgbClr val="000001"/>
                </a:solidFill>
                <a:prstDash val="solid"/>
                <a:miter/>
              </a:ln>
            </p:spPr>
          </p:sp>
          <p:sp>
            <p:nvSpPr>
              <p:cNvPr name="TextBox 24" id="24"/>
              <p:cNvSpPr txBox="true"/>
              <p:nvPr/>
            </p:nvSpPr>
            <p:spPr>
              <a:xfrm>
                <a:off x="0" y="0"/>
                <a:ext cx="1956741" cy="1254249"/>
              </a:xfrm>
              <a:prstGeom prst="rect">
                <a:avLst/>
              </a:prstGeom>
            </p:spPr>
            <p:txBody>
              <a:bodyPr anchor="ctr" rtlCol="false" tIns="254000" lIns="254000" bIns="254000" rIns="254000"/>
              <a:lstStyle/>
              <a:p>
                <a:pPr algn="l" marL="561345" indent="-280672" lvl="1">
                  <a:lnSpc>
                    <a:spcPts val="3120"/>
                  </a:lnSpc>
                  <a:buFont typeface="Arial"/>
                  <a:buChar char="•"/>
                </a:pPr>
                <a:r>
                  <a:rPr lang="en-US" sz="2600">
                    <a:solidFill>
                      <a:srgbClr val="000001"/>
                    </a:solidFill>
                    <a:latin typeface="Barlow SemiCondensed"/>
                    <a:ea typeface="Barlow SemiCondensed"/>
                    <a:cs typeface="Barlow SemiCondensed"/>
                    <a:sym typeface="Barlow SemiCondensed"/>
                  </a:rPr>
                  <a:t>They represent four major human migration corridors across Asia.</a:t>
                </a:r>
              </a:p>
              <a:p>
                <a:pPr algn="l" marL="561345" indent="-280672" lvl="1">
                  <a:lnSpc>
                    <a:spcPts val="3120"/>
                  </a:lnSpc>
                  <a:buFont typeface="Arial"/>
                  <a:buChar char="•"/>
                </a:pPr>
                <a:r>
                  <a:rPr lang="en-US" sz="2600">
                    <a:solidFill>
                      <a:srgbClr val="000001"/>
                    </a:solidFill>
                    <a:latin typeface="Barlow SemiCondensed"/>
                    <a:ea typeface="Barlow SemiCondensed"/>
                    <a:cs typeface="Barlow SemiCondensed"/>
                    <a:sym typeface="Barlow SemiCondensed"/>
                  </a:rPr>
                  <a:t>They allow detection of selection pressures unique to different climates.</a:t>
                </a:r>
              </a:p>
              <a:p>
                <a:pPr algn="l" marL="561345" indent="-280672" lvl="1">
                  <a:lnSpc>
                    <a:spcPts val="3120"/>
                  </a:lnSpc>
                  <a:buFont typeface="Arial"/>
                  <a:buChar char="•"/>
                </a:pPr>
                <a:r>
                  <a:rPr lang="en-US" sz="2600">
                    <a:solidFill>
                      <a:srgbClr val="000001"/>
                    </a:solidFill>
                    <a:latin typeface="Barlow SemiCondensed"/>
                    <a:ea typeface="Barlow SemiCondensed"/>
                    <a:cs typeface="Barlow SemiCondensed"/>
                    <a:sym typeface="Barlow SemiCondensed"/>
                  </a:rPr>
                  <a:t>They improve reference panels for AI-driven genomic models.</a:t>
                </a:r>
              </a:p>
              <a:p>
                <a:pPr algn="l" marL="561345" indent="-280672" lvl="1">
                  <a:lnSpc>
                    <a:spcPts val="3120"/>
                  </a:lnSpc>
                  <a:buFont typeface="Arial"/>
                  <a:buChar char="•"/>
                </a:pPr>
                <a:r>
                  <a:rPr lang="en-US" sz="2600">
                    <a:solidFill>
                      <a:srgbClr val="000001"/>
                    </a:solidFill>
                    <a:latin typeface="Barlow SemiCondensed"/>
                    <a:ea typeface="Barlow SemiCondensed"/>
                    <a:cs typeface="Barlow SemiCondensed"/>
                    <a:sym typeface="Barlow SemiCondensed"/>
                  </a:rPr>
                  <a:t>They help identify deep-time population splits and hidden ancestry.</a:t>
                </a:r>
              </a:p>
              <a:p>
                <a:pPr algn="l" marL="561345" indent="-280672" lvl="1">
                  <a:lnSpc>
                    <a:spcPts val="3120"/>
                  </a:lnSpc>
                  <a:spcBef>
                    <a:spcPct val="0"/>
                  </a:spcBef>
                  <a:buFont typeface="Arial"/>
                  <a:buChar char="•"/>
                </a:pPr>
                <a:r>
                  <a:rPr lang="en-US" sz="2600">
                    <a:solidFill>
                      <a:srgbClr val="000001"/>
                    </a:solidFill>
                    <a:latin typeface="Barlow SemiCondensed"/>
                    <a:ea typeface="Barlow SemiCondensed"/>
                    <a:cs typeface="Barlow SemiCondensed"/>
                    <a:sym typeface="Barlow SemiCondensed"/>
                  </a:rPr>
                  <a:t>Promote sustainable agricultural practices that incorporate GMOs responsibly, preserving biodiversity and ecosystem health.</a:t>
                </a:r>
              </a:p>
            </p:txBody>
          </p:sp>
        </p:grpSp>
        <p:grpSp>
          <p:nvGrpSpPr>
            <p:cNvPr name="Group 25" id="25"/>
            <p:cNvGrpSpPr/>
            <p:nvPr/>
          </p:nvGrpSpPr>
          <p:grpSpPr>
            <a:xfrm rot="0">
              <a:off x="0" y="0"/>
              <a:ext cx="10326597" cy="1323923"/>
              <a:chOff x="0" y="0"/>
              <a:chExt cx="1956741" cy="250864"/>
            </a:xfrm>
          </p:grpSpPr>
          <p:sp>
            <p:nvSpPr>
              <p:cNvPr name="Freeform 26" id="26"/>
              <p:cNvSpPr/>
              <p:nvPr/>
            </p:nvSpPr>
            <p:spPr>
              <a:xfrm flipH="false" flipV="false" rot="0">
                <a:off x="0" y="0"/>
                <a:ext cx="1956741" cy="250864"/>
              </a:xfrm>
              <a:custGeom>
                <a:avLst/>
                <a:gdLst/>
                <a:ahLst/>
                <a:cxnLst/>
                <a:rect r="r" b="b" t="t" l="l"/>
                <a:pathLst>
                  <a:path h="250864" w="1956741">
                    <a:moveTo>
                      <a:pt x="0" y="0"/>
                    </a:moveTo>
                    <a:lnTo>
                      <a:pt x="1956741" y="0"/>
                    </a:lnTo>
                    <a:lnTo>
                      <a:pt x="1956741" y="250864"/>
                    </a:lnTo>
                    <a:lnTo>
                      <a:pt x="0" y="250864"/>
                    </a:lnTo>
                    <a:close/>
                  </a:path>
                </a:pathLst>
              </a:custGeom>
              <a:solidFill>
                <a:srgbClr val="000001"/>
              </a:solidFill>
              <a:ln cap="sq">
                <a:noFill/>
                <a:prstDash val="solid"/>
                <a:miter/>
              </a:ln>
            </p:spPr>
          </p:sp>
          <p:sp>
            <p:nvSpPr>
              <p:cNvPr name="TextBox 27" id="27"/>
              <p:cNvSpPr txBox="true"/>
              <p:nvPr/>
            </p:nvSpPr>
            <p:spPr>
              <a:xfrm>
                <a:off x="0" y="19050"/>
                <a:ext cx="1956741" cy="231814"/>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WHY THESE SPECIFIC COUNTRIES</a:t>
                </a:r>
              </a:p>
            </p:txBody>
          </p:sp>
        </p:grpSp>
      </p:grpSp>
      <p:grpSp>
        <p:nvGrpSpPr>
          <p:cNvPr name="Group 28" id="28"/>
          <p:cNvGrpSpPr/>
          <p:nvPr/>
        </p:nvGrpSpPr>
        <p:grpSpPr>
          <a:xfrm rot="0">
            <a:off x="9144000" y="3396993"/>
            <a:ext cx="8420464" cy="5975862"/>
            <a:chOff x="0" y="0"/>
            <a:chExt cx="11227286" cy="7967816"/>
          </a:xfrm>
        </p:grpSpPr>
        <p:grpSp>
          <p:nvGrpSpPr>
            <p:cNvPr name="Group 29" id="29"/>
            <p:cNvGrpSpPr/>
            <p:nvPr/>
          </p:nvGrpSpPr>
          <p:grpSpPr>
            <a:xfrm rot="0">
              <a:off x="0" y="1410608"/>
              <a:ext cx="11227286" cy="6557209"/>
              <a:chOff x="0" y="0"/>
              <a:chExt cx="1956741" cy="1142819"/>
            </a:xfrm>
          </p:grpSpPr>
          <p:sp>
            <p:nvSpPr>
              <p:cNvPr name="Freeform 30" id="30"/>
              <p:cNvSpPr/>
              <p:nvPr/>
            </p:nvSpPr>
            <p:spPr>
              <a:xfrm flipH="false" flipV="false" rot="0">
                <a:off x="0" y="0"/>
                <a:ext cx="1956741" cy="1142819"/>
              </a:xfrm>
              <a:custGeom>
                <a:avLst/>
                <a:gdLst/>
                <a:ahLst/>
                <a:cxnLst/>
                <a:rect r="r" b="b" t="t" l="l"/>
                <a:pathLst>
                  <a:path h="1142819" w="1956741">
                    <a:moveTo>
                      <a:pt x="0" y="0"/>
                    </a:moveTo>
                    <a:lnTo>
                      <a:pt x="1956741" y="0"/>
                    </a:lnTo>
                    <a:lnTo>
                      <a:pt x="1956741" y="1142819"/>
                    </a:lnTo>
                    <a:lnTo>
                      <a:pt x="0" y="1142819"/>
                    </a:lnTo>
                    <a:close/>
                  </a:path>
                </a:pathLst>
              </a:custGeom>
              <a:solidFill>
                <a:srgbClr val="FFFFFF"/>
              </a:solidFill>
              <a:ln w="66675" cap="sq">
                <a:solidFill>
                  <a:srgbClr val="000001"/>
                </a:solidFill>
                <a:prstDash val="solid"/>
                <a:miter/>
              </a:ln>
            </p:spPr>
          </p:sp>
          <p:sp>
            <p:nvSpPr>
              <p:cNvPr name="TextBox 31" id="31"/>
              <p:cNvSpPr txBox="true"/>
              <p:nvPr/>
            </p:nvSpPr>
            <p:spPr>
              <a:xfrm>
                <a:off x="0" y="-9525"/>
                <a:ext cx="1956741" cy="1152344"/>
              </a:xfrm>
              <a:prstGeom prst="rect">
                <a:avLst/>
              </a:prstGeom>
            </p:spPr>
            <p:txBody>
              <a:bodyPr anchor="ctr" rtlCol="false" tIns="254000" lIns="254000" bIns="254000" rIns="254000"/>
              <a:lstStyle/>
              <a:p>
                <a:pPr algn="l" marL="604517" indent="-302259" lvl="1">
                  <a:lnSpc>
                    <a:spcPts val="3359"/>
                  </a:lnSpc>
                  <a:buFont typeface="Arial"/>
                  <a:buChar char="•"/>
                </a:pPr>
                <a:r>
                  <a:rPr lang="en-US" sz="2799">
                    <a:solidFill>
                      <a:srgbClr val="000001"/>
                    </a:solidFill>
                    <a:latin typeface="Barlow SemiCondensed"/>
                    <a:ea typeface="Barlow SemiCondensed"/>
                    <a:cs typeface="Barlow SemiCondensed"/>
                    <a:sym typeface="Barlow SemiCondensed"/>
                  </a:rPr>
                  <a:t>It can accelerate the discovery of new disease-causing variants and protective alleles.</a:t>
                </a:r>
              </a:p>
              <a:p>
                <a:pPr algn="l" marL="604517" indent="-302259" lvl="1">
                  <a:lnSpc>
                    <a:spcPts val="3359"/>
                  </a:lnSpc>
                  <a:buFont typeface="Arial"/>
                  <a:buChar char="•"/>
                </a:pPr>
                <a:r>
                  <a:rPr lang="en-US" sz="2799">
                    <a:solidFill>
                      <a:srgbClr val="000001"/>
                    </a:solidFill>
                    <a:latin typeface="Barlow SemiCondensed"/>
                    <a:ea typeface="Barlow SemiCondensed"/>
                    <a:cs typeface="Barlow SemiCondensed"/>
                    <a:sym typeface="Barlow SemiCondensed"/>
                  </a:rPr>
                  <a:t>It can reveal how modern lifestyle and climate change are reshaping human genes.</a:t>
                </a:r>
              </a:p>
              <a:p>
                <a:pPr algn="l" marL="604517" indent="-302259" lvl="1">
                  <a:lnSpc>
                    <a:spcPts val="3359"/>
                  </a:lnSpc>
                  <a:buFont typeface="Arial"/>
                  <a:buChar char="•"/>
                </a:pPr>
                <a:r>
                  <a:rPr lang="en-US" sz="2799">
                    <a:solidFill>
                      <a:srgbClr val="000001"/>
                    </a:solidFill>
                    <a:latin typeface="Barlow SemiCondensed"/>
                    <a:ea typeface="Barlow SemiCondensed"/>
                    <a:cs typeface="Barlow SemiCondensed"/>
                    <a:sym typeface="Barlow SemiCondensed"/>
                  </a:rPr>
                  <a:t>It can help build the world’s most comprehensive Asian genomic reference map.</a:t>
                </a:r>
              </a:p>
              <a:p>
                <a:pPr algn="l" marL="604517" indent="-302259" lvl="1">
                  <a:lnSpc>
                    <a:spcPts val="3359"/>
                  </a:lnSpc>
                  <a:buFont typeface="Arial"/>
                  <a:buChar char="•"/>
                </a:pPr>
                <a:r>
                  <a:rPr lang="en-US" sz="2799">
                    <a:solidFill>
                      <a:srgbClr val="000001"/>
                    </a:solidFill>
                    <a:latin typeface="Barlow SemiCondensed"/>
                    <a:ea typeface="Barlow SemiCondensed"/>
                    <a:cs typeface="Barlow SemiCondensed"/>
                    <a:sym typeface="Barlow SemiCondensed"/>
                  </a:rPr>
                  <a:t>It can uncover hidden histories of human migration.</a:t>
                </a:r>
              </a:p>
              <a:p>
                <a:pPr algn="l" marL="604517" indent="-302259" lvl="1">
                  <a:lnSpc>
                    <a:spcPts val="3359"/>
                  </a:lnSpc>
                  <a:spcBef>
                    <a:spcPct val="0"/>
                  </a:spcBef>
                  <a:buFont typeface="Arial"/>
                  <a:buChar char="•"/>
                </a:pPr>
                <a:r>
                  <a:rPr lang="en-US" sz="2799">
                    <a:solidFill>
                      <a:srgbClr val="000001"/>
                    </a:solidFill>
                    <a:latin typeface="Barlow SemiCondensed"/>
                    <a:ea typeface="Barlow SemiCondensed"/>
                    <a:cs typeface="Barlow SemiCondensed"/>
                    <a:sym typeface="Barlow SemiCondensed"/>
                  </a:rPr>
                  <a:t>Implement policies to ensure that the benefits of GMOs, such as increased crop yields and nutritional content, reach vulnerable populations.</a:t>
                </a:r>
              </a:p>
            </p:txBody>
          </p:sp>
        </p:grpSp>
        <p:grpSp>
          <p:nvGrpSpPr>
            <p:cNvPr name="Group 32" id="32"/>
            <p:cNvGrpSpPr/>
            <p:nvPr/>
          </p:nvGrpSpPr>
          <p:grpSpPr>
            <a:xfrm rot="0">
              <a:off x="0" y="0"/>
              <a:ext cx="11227286" cy="1439396"/>
              <a:chOff x="0" y="0"/>
              <a:chExt cx="1956741" cy="250864"/>
            </a:xfrm>
          </p:grpSpPr>
          <p:sp>
            <p:nvSpPr>
              <p:cNvPr name="Freeform 33" id="33"/>
              <p:cNvSpPr/>
              <p:nvPr/>
            </p:nvSpPr>
            <p:spPr>
              <a:xfrm flipH="false" flipV="false" rot="0">
                <a:off x="0" y="0"/>
                <a:ext cx="1956741" cy="250864"/>
              </a:xfrm>
              <a:custGeom>
                <a:avLst/>
                <a:gdLst/>
                <a:ahLst/>
                <a:cxnLst/>
                <a:rect r="r" b="b" t="t" l="l"/>
                <a:pathLst>
                  <a:path h="250864" w="1956741">
                    <a:moveTo>
                      <a:pt x="0" y="0"/>
                    </a:moveTo>
                    <a:lnTo>
                      <a:pt x="1956741" y="0"/>
                    </a:lnTo>
                    <a:lnTo>
                      <a:pt x="1956741" y="250864"/>
                    </a:lnTo>
                    <a:lnTo>
                      <a:pt x="0" y="250864"/>
                    </a:lnTo>
                    <a:close/>
                  </a:path>
                </a:pathLst>
              </a:custGeom>
              <a:solidFill>
                <a:srgbClr val="000001"/>
              </a:solidFill>
              <a:ln cap="sq">
                <a:noFill/>
                <a:prstDash val="solid"/>
                <a:miter/>
              </a:ln>
            </p:spPr>
          </p:sp>
          <p:sp>
            <p:nvSpPr>
              <p:cNvPr name="TextBox 34" id="34"/>
              <p:cNvSpPr txBox="true"/>
              <p:nvPr/>
            </p:nvSpPr>
            <p:spPr>
              <a:xfrm>
                <a:off x="0" y="19050"/>
                <a:ext cx="1956741" cy="231814"/>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HOW IT MIGHT BE REVOLUTIONARY </a:t>
                </a:r>
              </a:p>
            </p:txBody>
          </p:sp>
        </p:grpSp>
      </p:grpSp>
      <p:grpSp>
        <p:nvGrpSpPr>
          <p:cNvPr name="Group 35" id="35"/>
          <p:cNvGrpSpPr/>
          <p:nvPr/>
        </p:nvGrpSpPr>
        <p:grpSpPr>
          <a:xfrm rot="0">
            <a:off x="1189434" y="1333501"/>
            <a:ext cx="361950" cy="361950"/>
            <a:chOff x="0" y="0"/>
            <a:chExt cx="731520" cy="731520"/>
          </a:xfrm>
        </p:grpSpPr>
        <p:sp>
          <p:nvSpPr>
            <p:cNvPr name="Freeform 36" id="3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BEBEB"/>
            </a:solidFill>
            <a:ln w="66675" cap="sq">
              <a:solidFill>
                <a:srgbClr val="000001"/>
              </a:solidFill>
              <a:prstDash val="solid"/>
              <a:miter/>
            </a:ln>
          </p:spPr>
        </p:sp>
        <p:sp>
          <p:nvSpPr>
            <p:cNvPr name="TextBox 37" id="3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8" id="38"/>
          <p:cNvGrpSpPr/>
          <p:nvPr/>
        </p:nvGrpSpPr>
        <p:grpSpPr>
          <a:xfrm rot="0">
            <a:off x="16736616" y="19043"/>
            <a:ext cx="361950" cy="361950"/>
            <a:chOff x="0" y="0"/>
            <a:chExt cx="731520" cy="731520"/>
          </a:xfrm>
        </p:grpSpPr>
        <p:sp>
          <p:nvSpPr>
            <p:cNvPr name="Freeform 39" id="3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BEBEB"/>
            </a:solidFill>
            <a:ln w="66675" cap="sq">
              <a:solidFill>
                <a:srgbClr val="000001"/>
              </a:solidFill>
              <a:prstDash val="solid"/>
              <a:miter/>
            </a:ln>
          </p:spPr>
        </p:sp>
        <p:sp>
          <p:nvSpPr>
            <p:cNvPr name="TextBox 40" id="4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41" id="41"/>
          <p:cNvGrpSpPr/>
          <p:nvPr/>
        </p:nvGrpSpPr>
        <p:grpSpPr>
          <a:xfrm rot="0">
            <a:off x="16773525" y="1333501"/>
            <a:ext cx="361950" cy="361950"/>
            <a:chOff x="0" y="0"/>
            <a:chExt cx="731520" cy="731520"/>
          </a:xfrm>
        </p:grpSpPr>
        <p:sp>
          <p:nvSpPr>
            <p:cNvPr name="Freeform 42" id="4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BEBEB"/>
            </a:solidFill>
            <a:ln w="66675" cap="sq">
              <a:solidFill>
                <a:srgbClr val="000001"/>
              </a:solidFill>
              <a:prstDash val="solid"/>
              <a:miter/>
            </a:ln>
          </p:spPr>
        </p:sp>
        <p:sp>
          <p:nvSpPr>
            <p:cNvPr name="TextBox 43" id="4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A6A6A6"/>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sp>
        <p:nvSpPr>
          <p:cNvPr name="Freeform 3" id="3"/>
          <p:cNvSpPr/>
          <p:nvPr/>
        </p:nvSpPr>
        <p:spPr>
          <a:xfrm flipH="false" flipV="false" rot="0">
            <a:off x="2366389" y="424853"/>
            <a:ext cx="1363925" cy="1207694"/>
          </a:xfrm>
          <a:custGeom>
            <a:avLst/>
            <a:gdLst/>
            <a:ahLst/>
            <a:cxnLst/>
            <a:rect r="r" b="b" t="t" l="l"/>
            <a:pathLst>
              <a:path h="1207694" w="1363925">
                <a:moveTo>
                  <a:pt x="0" y="0"/>
                </a:moveTo>
                <a:lnTo>
                  <a:pt x="1363926" y="0"/>
                </a:lnTo>
                <a:lnTo>
                  <a:pt x="1363926" y="1207694"/>
                </a:lnTo>
                <a:lnTo>
                  <a:pt x="0" y="1207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381000" y="1790700"/>
            <a:ext cx="19050000" cy="8705850"/>
            <a:chOff x="0" y="0"/>
            <a:chExt cx="5017284" cy="2292899"/>
          </a:xfrm>
        </p:grpSpPr>
        <p:sp>
          <p:nvSpPr>
            <p:cNvPr name="Freeform 5" id="5"/>
            <p:cNvSpPr/>
            <p:nvPr/>
          </p:nvSpPr>
          <p:spPr>
            <a:xfrm flipH="false" flipV="false" rot="0">
              <a:off x="0" y="0"/>
              <a:ext cx="5017284" cy="2292899"/>
            </a:xfrm>
            <a:custGeom>
              <a:avLst/>
              <a:gdLst/>
              <a:ahLst/>
              <a:cxnLst/>
              <a:rect r="r" b="b" t="t" l="l"/>
              <a:pathLst>
                <a:path h="2292899" w="5017284">
                  <a:moveTo>
                    <a:pt x="0" y="0"/>
                  </a:moveTo>
                  <a:lnTo>
                    <a:pt x="5017284" y="0"/>
                  </a:lnTo>
                  <a:lnTo>
                    <a:pt x="5017284" y="2292899"/>
                  </a:lnTo>
                  <a:lnTo>
                    <a:pt x="0" y="2292899"/>
                  </a:lnTo>
                  <a:close/>
                </a:path>
              </a:pathLst>
            </a:custGeom>
            <a:solidFill>
              <a:srgbClr val="EBEBEB"/>
            </a:solidFill>
            <a:ln w="66675" cap="sq">
              <a:solidFill>
                <a:srgbClr val="000001"/>
              </a:solidFill>
              <a:prstDash val="solid"/>
              <a:miter/>
            </a:ln>
          </p:spPr>
        </p:sp>
        <p:sp>
          <p:nvSpPr>
            <p:cNvPr name="TextBox 6" id="6"/>
            <p:cNvSpPr txBox="true"/>
            <p:nvPr/>
          </p:nvSpPr>
          <p:spPr>
            <a:xfrm>
              <a:off x="0" y="-19050"/>
              <a:ext cx="5017284" cy="2311949"/>
            </a:xfrm>
            <a:prstGeom prst="rect">
              <a:avLst/>
            </a:prstGeom>
          </p:spPr>
          <p:txBody>
            <a:bodyPr anchor="ctr" rtlCol="false" tIns="50800" lIns="50800" bIns="50800" rIns="50800"/>
            <a:lstStyle/>
            <a:p>
              <a:pPr algn="l" marL="0" indent="0" lvl="0">
                <a:lnSpc>
                  <a:spcPts val="3600"/>
                </a:lnSpc>
                <a:spcBef>
                  <a:spcPct val="0"/>
                </a:spcBef>
              </a:pPr>
            </a:p>
          </p:txBody>
        </p:sp>
      </p:grpSp>
      <p:sp>
        <p:nvSpPr>
          <p:cNvPr name="Freeform 7" id="7"/>
          <p:cNvSpPr/>
          <p:nvPr/>
        </p:nvSpPr>
        <p:spPr>
          <a:xfrm flipH="false" flipV="false" rot="0">
            <a:off x="14953667" y="489128"/>
            <a:ext cx="954000" cy="1218731"/>
          </a:xfrm>
          <a:custGeom>
            <a:avLst/>
            <a:gdLst/>
            <a:ahLst/>
            <a:cxnLst/>
            <a:rect r="r" b="b" t="t" l="l"/>
            <a:pathLst>
              <a:path h="1218731" w="954000">
                <a:moveTo>
                  <a:pt x="0" y="0"/>
                </a:moveTo>
                <a:lnTo>
                  <a:pt x="954000" y="0"/>
                </a:lnTo>
                <a:lnTo>
                  <a:pt x="954000" y="1218731"/>
                </a:lnTo>
                <a:lnTo>
                  <a:pt x="0" y="1218731"/>
                </a:lnTo>
                <a:lnTo>
                  <a:pt x="0" y="0"/>
                </a:lnTo>
                <a:close/>
              </a:path>
            </a:pathLst>
          </a:custGeom>
          <a:blipFill>
            <a:blip r:embed="rId6">
              <a:extLst>
                <a:ext uri="{96DAC541-7B7A-43D3-8B79-37D633B846F1}">
                  <asvg:svgBlip xmlns:asvg="http://schemas.microsoft.com/office/drawing/2016/SVG/main" r:embed="rId7"/>
                </a:ext>
              </a:extLst>
            </a:blip>
            <a:stretch>
              <a:fillRect l="0" t="-64545" r="-110205" b="0"/>
            </a:stretch>
          </a:blipFill>
          <a:ln cap="sq">
            <a:noFill/>
            <a:prstDash val="solid"/>
            <a:miter/>
          </a:ln>
        </p:spPr>
      </p:sp>
      <p:grpSp>
        <p:nvGrpSpPr>
          <p:cNvPr name="Group 8" id="8"/>
          <p:cNvGrpSpPr/>
          <p:nvPr/>
        </p:nvGrpSpPr>
        <p:grpSpPr>
          <a:xfrm rot="0">
            <a:off x="1524000" y="3417380"/>
            <a:ext cx="7429500" cy="6145720"/>
            <a:chOff x="0" y="0"/>
            <a:chExt cx="1956741" cy="1618626"/>
          </a:xfrm>
        </p:grpSpPr>
        <p:sp>
          <p:nvSpPr>
            <p:cNvPr name="Freeform 9" id="9"/>
            <p:cNvSpPr/>
            <p:nvPr/>
          </p:nvSpPr>
          <p:spPr>
            <a:xfrm flipH="false" flipV="false" rot="0">
              <a:off x="0" y="0"/>
              <a:ext cx="1956741" cy="1618626"/>
            </a:xfrm>
            <a:custGeom>
              <a:avLst/>
              <a:gdLst/>
              <a:ahLst/>
              <a:cxnLst/>
              <a:rect r="r" b="b" t="t" l="l"/>
              <a:pathLst>
                <a:path h="1618626" w="1956741">
                  <a:moveTo>
                    <a:pt x="0" y="0"/>
                  </a:moveTo>
                  <a:lnTo>
                    <a:pt x="1956741" y="0"/>
                  </a:lnTo>
                  <a:lnTo>
                    <a:pt x="1956741" y="1618626"/>
                  </a:lnTo>
                  <a:lnTo>
                    <a:pt x="0" y="1618626"/>
                  </a:lnTo>
                  <a:close/>
                </a:path>
              </a:pathLst>
            </a:custGeom>
            <a:solidFill>
              <a:srgbClr val="707070"/>
            </a:solidFill>
            <a:ln cap="sq">
              <a:noFill/>
              <a:prstDash val="solid"/>
              <a:miter/>
            </a:ln>
          </p:spPr>
        </p:sp>
        <p:sp>
          <p:nvSpPr>
            <p:cNvPr name="TextBox 10" id="10"/>
            <p:cNvSpPr txBox="true"/>
            <p:nvPr/>
          </p:nvSpPr>
          <p:spPr>
            <a:xfrm>
              <a:off x="0" y="38100"/>
              <a:ext cx="1956741" cy="1580526"/>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1" id="11"/>
          <p:cNvGrpSpPr/>
          <p:nvPr/>
        </p:nvGrpSpPr>
        <p:grpSpPr>
          <a:xfrm rot="0">
            <a:off x="9525000" y="3516889"/>
            <a:ext cx="8224146" cy="6296964"/>
            <a:chOff x="0" y="0"/>
            <a:chExt cx="2166030" cy="1658460"/>
          </a:xfrm>
        </p:grpSpPr>
        <p:sp>
          <p:nvSpPr>
            <p:cNvPr name="Freeform 12" id="12"/>
            <p:cNvSpPr/>
            <p:nvPr/>
          </p:nvSpPr>
          <p:spPr>
            <a:xfrm flipH="false" flipV="false" rot="0">
              <a:off x="0" y="0"/>
              <a:ext cx="2166030" cy="1658460"/>
            </a:xfrm>
            <a:custGeom>
              <a:avLst/>
              <a:gdLst/>
              <a:ahLst/>
              <a:cxnLst/>
              <a:rect r="r" b="b" t="t" l="l"/>
              <a:pathLst>
                <a:path h="1658460" w="2166030">
                  <a:moveTo>
                    <a:pt x="0" y="0"/>
                  </a:moveTo>
                  <a:lnTo>
                    <a:pt x="2166030" y="0"/>
                  </a:lnTo>
                  <a:lnTo>
                    <a:pt x="2166030" y="1658460"/>
                  </a:lnTo>
                  <a:lnTo>
                    <a:pt x="0" y="1658460"/>
                  </a:lnTo>
                  <a:close/>
                </a:path>
              </a:pathLst>
            </a:custGeom>
            <a:solidFill>
              <a:srgbClr val="707070"/>
            </a:solidFill>
            <a:ln cap="sq">
              <a:noFill/>
              <a:prstDash val="solid"/>
              <a:miter/>
            </a:ln>
          </p:spPr>
        </p:sp>
        <p:sp>
          <p:nvSpPr>
            <p:cNvPr name="TextBox 13" id="13"/>
            <p:cNvSpPr txBox="true"/>
            <p:nvPr/>
          </p:nvSpPr>
          <p:spPr>
            <a:xfrm>
              <a:off x="0" y="38100"/>
              <a:ext cx="2166030" cy="1620360"/>
            </a:xfrm>
            <a:prstGeom prst="rect">
              <a:avLst/>
            </a:prstGeom>
          </p:spPr>
          <p:txBody>
            <a:bodyPr anchor="ctr" rtlCol="false" tIns="254000" lIns="254000" bIns="254000" rIns="254000"/>
            <a:lstStyle/>
            <a:p>
              <a:pPr algn="ctr" marL="0" indent="0" lvl="0">
                <a:lnSpc>
                  <a:spcPts val="6600"/>
                </a:lnSpc>
                <a:spcBef>
                  <a:spcPct val="0"/>
                </a:spcBef>
              </a:pPr>
            </a:p>
          </p:txBody>
        </p:sp>
      </p:grpSp>
      <p:sp>
        <p:nvSpPr>
          <p:cNvPr name="Freeform 14" id="14"/>
          <p:cNvSpPr/>
          <p:nvPr/>
        </p:nvSpPr>
        <p:spPr>
          <a:xfrm flipH="false" flipV="false" rot="0">
            <a:off x="1524000" y="8744928"/>
            <a:ext cx="7429500" cy="780072"/>
          </a:xfrm>
          <a:custGeom>
            <a:avLst/>
            <a:gdLst/>
            <a:ahLst/>
            <a:cxnLst/>
            <a:rect r="r" b="b" t="t" l="l"/>
            <a:pathLst>
              <a:path h="780072" w="7429500">
                <a:moveTo>
                  <a:pt x="0" y="0"/>
                </a:moveTo>
                <a:lnTo>
                  <a:pt x="7429500" y="0"/>
                </a:lnTo>
                <a:lnTo>
                  <a:pt x="7429500" y="780072"/>
                </a:lnTo>
                <a:lnTo>
                  <a:pt x="0" y="780072"/>
                </a:lnTo>
                <a:lnTo>
                  <a:pt x="0" y="0"/>
                </a:lnTo>
                <a:close/>
              </a:path>
            </a:pathLst>
          </a:custGeom>
          <a:blipFill>
            <a:blip r:embed="rId8">
              <a:extLst>
                <a:ext uri="{96DAC541-7B7A-43D3-8B79-37D633B846F1}">
                  <asvg:svgBlip xmlns:asvg="http://schemas.microsoft.com/office/drawing/2016/SVG/main" r:embed="rId9"/>
                </a:ext>
              </a:extLst>
            </a:blip>
            <a:stretch>
              <a:fillRect l="0" t="0" r="-1312" b="0"/>
            </a:stretch>
          </a:blipFill>
          <a:ln cap="sq">
            <a:noFill/>
            <a:prstDash val="solid"/>
            <a:miter/>
          </a:ln>
        </p:spPr>
      </p:sp>
      <p:grpSp>
        <p:nvGrpSpPr>
          <p:cNvPr name="Group 15" id="15"/>
          <p:cNvGrpSpPr/>
          <p:nvPr/>
        </p:nvGrpSpPr>
        <p:grpSpPr>
          <a:xfrm rot="0">
            <a:off x="5619750" y="1143000"/>
            <a:ext cx="7429500" cy="1695450"/>
            <a:chOff x="0" y="0"/>
            <a:chExt cx="1956741" cy="446538"/>
          </a:xfrm>
        </p:grpSpPr>
        <p:sp>
          <p:nvSpPr>
            <p:cNvPr name="Freeform 16" id="16"/>
            <p:cNvSpPr/>
            <p:nvPr/>
          </p:nvSpPr>
          <p:spPr>
            <a:xfrm flipH="false" flipV="false" rot="0">
              <a:off x="0" y="0"/>
              <a:ext cx="1956741" cy="446538"/>
            </a:xfrm>
            <a:custGeom>
              <a:avLst/>
              <a:gdLst/>
              <a:ahLst/>
              <a:cxnLst/>
              <a:rect r="r" b="b" t="t" l="l"/>
              <a:pathLst>
                <a:path h="446538" w="1956741">
                  <a:moveTo>
                    <a:pt x="0" y="0"/>
                  </a:moveTo>
                  <a:lnTo>
                    <a:pt x="1956741" y="0"/>
                  </a:lnTo>
                  <a:lnTo>
                    <a:pt x="1956741" y="446538"/>
                  </a:lnTo>
                  <a:lnTo>
                    <a:pt x="0" y="446538"/>
                  </a:lnTo>
                  <a:close/>
                </a:path>
              </a:pathLst>
            </a:custGeom>
            <a:solidFill>
              <a:srgbClr val="000001"/>
            </a:solidFill>
            <a:ln cap="sq">
              <a:noFill/>
              <a:prstDash val="solid"/>
              <a:miter/>
            </a:ln>
          </p:spPr>
        </p:sp>
        <p:sp>
          <p:nvSpPr>
            <p:cNvPr name="TextBox 17" id="17"/>
            <p:cNvSpPr txBox="true"/>
            <p:nvPr/>
          </p:nvSpPr>
          <p:spPr>
            <a:xfrm>
              <a:off x="0" y="38100"/>
              <a:ext cx="1956741" cy="408438"/>
            </a:xfrm>
            <a:prstGeom prst="rect">
              <a:avLst/>
            </a:prstGeom>
          </p:spPr>
          <p:txBody>
            <a:bodyPr anchor="ctr" rtlCol="false" tIns="254000" lIns="254000" bIns="254000" rIns="254000"/>
            <a:lstStyle/>
            <a:p>
              <a:pPr algn="ctr" marL="0" indent="0" lvl="0">
                <a:lnSpc>
                  <a:spcPts val="6600"/>
                </a:lnSpc>
              </a:pPr>
            </a:p>
          </p:txBody>
        </p:sp>
      </p:grpSp>
      <p:grpSp>
        <p:nvGrpSpPr>
          <p:cNvPr name="Group 18" id="18"/>
          <p:cNvGrpSpPr/>
          <p:nvPr/>
        </p:nvGrpSpPr>
        <p:grpSpPr>
          <a:xfrm rot="0">
            <a:off x="5429250" y="1028700"/>
            <a:ext cx="7429500" cy="1638300"/>
            <a:chOff x="0" y="0"/>
            <a:chExt cx="1956741" cy="431486"/>
          </a:xfrm>
        </p:grpSpPr>
        <p:sp>
          <p:nvSpPr>
            <p:cNvPr name="Freeform 19" id="19"/>
            <p:cNvSpPr/>
            <p:nvPr/>
          </p:nvSpPr>
          <p:spPr>
            <a:xfrm flipH="false" flipV="false" rot="0">
              <a:off x="0" y="0"/>
              <a:ext cx="1956741" cy="431486"/>
            </a:xfrm>
            <a:custGeom>
              <a:avLst/>
              <a:gdLst/>
              <a:ahLst/>
              <a:cxnLst/>
              <a:rect r="r" b="b" t="t" l="l"/>
              <a:pathLst>
                <a:path h="431486" w="1956741">
                  <a:moveTo>
                    <a:pt x="0" y="0"/>
                  </a:moveTo>
                  <a:lnTo>
                    <a:pt x="1956741" y="0"/>
                  </a:lnTo>
                  <a:lnTo>
                    <a:pt x="1956741" y="431486"/>
                  </a:lnTo>
                  <a:lnTo>
                    <a:pt x="0" y="431486"/>
                  </a:lnTo>
                  <a:close/>
                </a:path>
              </a:pathLst>
            </a:custGeom>
            <a:solidFill>
              <a:srgbClr val="E5A6F4"/>
            </a:solidFill>
            <a:ln w="66675" cap="sq">
              <a:solidFill>
                <a:srgbClr val="000001"/>
              </a:solidFill>
              <a:prstDash val="solid"/>
              <a:miter/>
            </a:ln>
          </p:spPr>
        </p:sp>
        <p:sp>
          <p:nvSpPr>
            <p:cNvPr name="TextBox 20" id="20"/>
            <p:cNvSpPr txBox="true"/>
            <p:nvPr/>
          </p:nvSpPr>
          <p:spPr>
            <a:xfrm>
              <a:off x="0" y="38100"/>
              <a:ext cx="1956741" cy="393386"/>
            </a:xfrm>
            <a:prstGeom prst="rect">
              <a:avLst/>
            </a:prstGeom>
          </p:spPr>
          <p:txBody>
            <a:bodyPr anchor="t" rtlCol="false" tIns="254000" lIns="254000" bIns="254000" rIns="254000"/>
            <a:lstStyle/>
            <a:p>
              <a:pPr algn="ctr" marL="0" indent="0" lvl="0">
                <a:lnSpc>
                  <a:spcPts val="5170"/>
                </a:lnSpc>
                <a:spcBef>
                  <a:spcPct val="0"/>
                </a:spcBef>
              </a:pPr>
              <a:r>
                <a:rPr lang="en-US" b="true" sz="4700">
                  <a:solidFill>
                    <a:srgbClr val="000001"/>
                  </a:solidFill>
                  <a:latin typeface="Barlow SemiCondensed Bold"/>
                  <a:ea typeface="Barlow SemiCondensed Bold"/>
                  <a:cs typeface="Barlow SemiCondensed Bold"/>
                  <a:sym typeface="Barlow SemiCondensed Bold"/>
                </a:rPr>
                <a:t>SUMMARY AND DISCUSSIONS</a:t>
              </a:r>
            </a:p>
          </p:txBody>
        </p:sp>
      </p:grpSp>
      <p:grpSp>
        <p:nvGrpSpPr>
          <p:cNvPr name="Group 21" id="21"/>
          <p:cNvGrpSpPr/>
          <p:nvPr/>
        </p:nvGrpSpPr>
        <p:grpSpPr>
          <a:xfrm rot="0">
            <a:off x="5294709" y="809625"/>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12631341" y="809625"/>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7" id="27"/>
          <p:cNvGrpSpPr/>
          <p:nvPr/>
        </p:nvGrpSpPr>
        <p:grpSpPr>
          <a:xfrm rot="0">
            <a:off x="5294709" y="2428875"/>
            <a:ext cx="361950" cy="36195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29" id="29"/>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30" id="30"/>
          <p:cNvGrpSpPr/>
          <p:nvPr/>
        </p:nvGrpSpPr>
        <p:grpSpPr>
          <a:xfrm rot="0">
            <a:off x="12631341" y="2428875"/>
            <a:ext cx="361950" cy="36195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ECEB76"/>
            </a:solidFill>
            <a:ln w="66675" cap="sq">
              <a:solidFill>
                <a:srgbClr val="000001"/>
              </a:solidFill>
              <a:prstDash val="solid"/>
              <a:miter/>
            </a:ln>
          </p:spPr>
        </p:sp>
        <p:sp>
          <p:nvSpPr>
            <p:cNvPr name="TextBox 32" id="32"/>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Freeform 33" id="33"/>
          <p:cNvSpPr/>
          <p:nvPr/>
        </p:nvSpPr>
        <p:spPr>
          <a:xfrm flipH="false" flipV="false" rot="2100000">
            <a:off x="240913" y="1708426"/>
            <a:ext cx="1086650" cy="2511165"/>
          </a:xfrm>
          <a:custGeom>
            <a:avLst/>
            <a:gdLst/>
            <a:ahLst/>
            <a:cxnLst/>
            <a:rect r="r" b="b" t="t" l="l"/>
            <a:pathLst>
              <a:path h="2511165" w="1086650">
                <a:moveTo>
                  <a:pt x="0" y="0"/>
                </a:moveTo>
                <a:lnTo>
                  <a:pt x="1086650" y="0"/>
                </a:lnTo>
                <a:lnTo>
                  <a:pt x="1086650" y="2511165"/>
                </a:lnTo>
                <a:lnTo>
                  <a:pt x="0" y="25111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4" id="34"/>
          <p:cNvGrpSpPr/>
          <p:nvPr/>
        </p:nvGrpSpPr>
        <p:grpSpPr>
          <a:xfrm rot="0">
            <a:off x="1267421" y="3076879"/>
            <a:ext cx="7464757" cy="6257621"/>
            <a:chOff x="0" y="0"/>
            <a:chExt cx="9953009" cy="8343495"/>
          </a:xfrm>
        </p:grpSpPr>
        <p:grpSp>
          <p:nvGrpSpPr>
            <p:cNvPr name="Group 35" id="35"/>
            <p:cNvGrpSpPr/>
            <p:nvPr/>
          </p:nvGrpSpPr>
          <p:grpSpPr>
            <a:xfrm rot="0">
              <a:off x="0" y="2031780"/>
              <a:ext cx="9953009" cy="6311715"/>
              <a:chOff x="0" y="0"/>
              <a:chExt cx="1956741" cy="1240870"/>
            </a:xfrm>
          </p:grpSpPr>
          <p:sp>
            <p:nvSpPr>
              <p:cNvPr name="Freeform 36" id="36"/>
              <p:cNvSpPr/>
              <p:nvPr/>
            </p:nvSpPr>
            <p:spPr>
              <a:xfrm flipH="false" flipV="false" rot="0">
                <a:off x="0" y="0"/>
                <a:ext cx="1956741" cy="1240870"/>
              </a:xfrm>
              <a:custGeom>
                <a:avLst/>
                <a:gdLst/>
                <a:ahLst/>
                <a:cxnLst/>
                <a:rect r="r" b="b" t="t" l="l"/>
                <a:pathLst>
                  <a:path h="1240870" w="1956741">
                    <a:moveTo>
                      <a:pt x="0" y="0"/>
                    </a:moveTo>
                    <a:lnTo>
                      <a:pt x="1956741" y="0"/>
                    </a:lnTo>
                    <a:lnTo>
                      <a:pt x="1956741" y="1240870"/>
                    </a:lnTo>
                    <a:lnTo>
                      <a:pt x="0" y="1240870"/>
                    </a:lnTo>
                    <a:close/>
                  </a:path>
                </a:pathLst>
              </a:custGeom>
              <a:solidFill>
                <a:srgbClr val="ECEB76"/>
              </a:solidFill>
              <a:ln w="66675" cap="sq">
                <a:solidFill>
                  <a:srgbClr val="000001"/>
                </a:solidFill>
                <a:prstDash val="solid"/>
                <a:miter/>
              </a:ln>
            </p:spPr>
          </p:sp>
          <p:sp>
            <p:nvSpPr>
              <p:cNvPr name="TextBox 37" id="37"/>
              <p:cNvSpPr txBox="true"/>
              <p:nvPr/>
            </p:nvSpPr>
            <p:spPr>
              <a:xfrm>
                <a:off x="0" y="0"/>
                <a:ext cx="1956741" cy="1240870"/>
              </a:xfrm>
              <a:prstGeom prst="rect">
                <a:avLst/>
              </a:prstGeom>
            </p:spPr>
            <p:txBody>
              <a:bodyPr anchor="ctr" rtlCol="false" tIns="254000" lIns="254000" bIns="254000" rIns="254000"/>
              <a:lstStyle/>
              <a:p>
                <a:pPr algn="l">
                  <a:lnSpc>
                    <a:spcPts val="3000"/>
                  </a:lnSpc>
                  <a:spcBef>
                    <a:spcPct val="0"/>
                  </a:spcBef>
                </a:pPr>
                <a:r>
                  <a:rPr lang="en-US" sz="2500">
                    <a:solidFill>
                      <a:srgbClr val="000001"/>
                    </a:solidFill>
                    <a:latin typeface="Barlow SemiCondensed"/>
                    <a:ea typeface="Barlow SemiCondensed"/>
                    <a:cs typeface="Barlow SemiCondensed"/>
                    <a:sym typeface="Barlow SemiCondensed"/>
                  </a:rPr>
                  <a:t>The genetic landscapes of India, Pakistan, Korea, and Indonesia reveal some of the deepest, most diverse, and evolutionarily significant lineages in Asia. Studying them together uncovers how ancient migrations, isolation, and environmental pressures shaped human biology and why modern medicine must be grounded in global, not Western only, genetic data. Continued research on these regions has the potential to revolutionize precision healthcare, evolutionary science, and pandemic preparedness, making them indispensable to the future of genomic research.</a:t>
                </a:r>
              </a:p>
            </p:txBody>
          </p:sp>
        </p:grpSp>
        <p:grpSp>
          <p:nvGrpSpPr>
            <p:cNvPr name="Group 38" id="38"/>
            <p:cNvGrpSpPr/>
            <p:nvPr/>
          </p:nvGrpSpPr>
          <p:grpSpPr>
            <a:xfrm rot="0">
              <a:off x="0" y="0"/>
              <a:ext cx="9953009" cy="2031780"/>
              <a:chOff x="0" y="0"/>
              <a:chExt cx="1956741" cy="399444"/>
            </a:xfrm>
          </p:grpSpPr>
          <p:sp>
            <p:nvSpPr>
              <p:cNvPr name="Freeform 39" id="39"/>
              <p:cNvSpPr/>
              <p:nvPr/>
            </p:nvSpPr>
            <p:spPr>
              <a:xfrm flipH="false" flipV="false" rot="0">
                <a:off x="0" y="0"/>
                <a:ext cx="1956741" cy="399444"/>
              </a:xfrm>
              <a:custGeom>
                <a:avLst/>
                <a:gdLst/>
                <a:ahLst/>
                <a:cxnLst/>
                <a:rect r="r" b="b" t="t" l="l"/>
                <a:pathLst>
                  <a:path h="399444" w="1956741">
                    <a:moveTo>
                      <a:pt x="0" y="0"/>
                    </a:moveTo>
                    <a:lnTo>
                      <a:pt x="1956741" y="0"/>
                    </a:lnTo>
                    <a:lnTo>
                      <a:pt x="1956741" y="399444"/>
                    </a:lnTo>
                    <a:lnTo>
                      <a:pt x="0" y="399444"/>
                    </a:lnTo>
                    <a:close/>
                  </a:path>
                </a:pathLst>
              </a:custGeom>
              <a:solidFill>
                <a:srgbClr val="000001"/>
              </a:solidFill>
              <a:ln cap="sq">
                <a:noFill/>
                <a:prstDash val="solid"/>
                <a:miter/>
              </a:ln>
            </p:spPr>
          </p:sp>
          <p:sp>
            <p:nvSpPr>
              <p:cNvPr name="TextBox 40" id="40"/>
              <p:cNvSpPr txBox="true"/>
              <p:nvPr/>
            </p:nvSpPr>
            <p:spPr>
              <a:xfrm>
                <a:off x="0" y="19050"/>
                <a:ext cx="1956741" cy="380394"/>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CONCLUSION AND FINAL WORDS</a:t>
                </a:r>
              </a:p>
            </p:txBody>
          </p:sp>
        </p:grpSp>
      </p:grpSp>
      <p:sp>
        <p:nvSpPr>
          <p:cNvPr name="Freeform 41" id="41"/>
          <p:cNvSpPr/>
          <p:nvPr/>
        </p:nvSpPr>
        <p:spPr>
          <a:xfrm flipH="false" flipV="false" rot="-2145074">
            <a:off x="8180416" y="8460046"/>
            <a:ext cx="884040" cy="1209508"/>
          </a:xfrm>
          <a:custGeom>
            <a:avLst/>
            <a:gdLst/>
            <a:ahLst/>
            <a:cxnLst/>
            <a:rect r="r" b="b" t="t" l="l"/>
            <a:pathLst>
              <a:path h="1209508" w="884040">
                <a:moveTo>
                  <a:pt x="0" y="0"/>
                </a:moveTo>
                <a:lnTo>
                  <a:pt x="884040" y="0"/>
                </a:lnTo>
                <a:lnTo>
                  <a:pt x="884040" y="1209508"/>
                </a:lnTo>
                <a:lnTo>
                  <a:pt x="0" y="12095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grpSp>
        <p:nvGrpSpPr>
          <p:cNvPr name="Group 42" id="42"/>
          <p:cNvGrpSpPr/>
          <p:nvPr/>
        </p:nvGrpSpPr>
        <p:grpSpPr>
          <a:xfrm rot="0">
            <a:off x="9334500" y="3238500"/>
            <a:ext cx="8143134" cy="6324600"/>
            <a:chOff x="0" y="0"/>
            <a:chExt cx="10857513" cy="8432800"/>
          </a:xfrm>
        </p:grpSpPr>
        <p:grpSp>
          <p:nvGrpSpPr>
            <p:cNvPr name="Group 43" id="43"/>
            <p:cNvGrpSpPr/>
            <p:nvPr/>
          </p:nvGrpSpPr>
          <p:grpSpPr>
            <a:xfrm rot="0">
              <a:off x="0" y="2146531"/>
              <a:ext cx="10857513" cy="6286269"/>
              <a:chOff x="0" y="0"/>
              <a:chExt cx="1928413" cy="1116510"/>
            </a:xfrm>
          </p:grpSpPr>
          <p:sp>
            <p:nvSpPr>
              <p:cNvPr name="Freeform 44" id="44"/>
              <p:cNvSpPr/>
              <p:nvPr/>
            </p:nvSpPr>
            <p:spPr>
              <a:xfrm flipH="false" flipV="false" rot="0">
                <a:off x="0" y="0"/>
                <a:ext cx="1928413" cy="1116510"/>
              </a:xfrm>
              <a:custGeom>
                <a:avLst/>
                <a:gdLst/>
                <a:ahLst/>
                <a:cxnLst/>
                <a:rect r="r" b="b" t="t" l="l"/>
                <a:pathLst>
                  <a:path h="1116510" w="1928413">
                    <a:moveTo>
                      <a:pt x="0" y="0"/>
                    </a:moveTo>
                    <a:lnTo>
                      <a:pt x="1928413" y="0"/>
                    </a:lnTo>
                    <a:lnTo>
                      <a:pt x="1928413" y="1116510"/>
                    </a:lnTo>
                    <a:lnTo>
                      <a:pt x="0" y="1116510"/>
                    </a:lnTo>
                    <a:close/>
                  </a:path>
                </a:pathLst>
              </a:custGeom>
              <a:solidFill>
                <a:srgbClr val="CDE8E8"/>
              </a:solidFill>
              <a:ln w="66675" cap="sq">
                <a:solidFill>
                  <a:srgbClr val="000001"/>
                </a:solidFill>
                <a:prstDash val="solid"/>
                <a:miter/>
              </a:ln>
            </p:spPr>
          </p:sp>
          <p:sp>
            <p:nvSpPr>
              <p:cNvPr name="TextBox 45" id="45"/>
              <p:cNvSpPr txBox="true"/>
              <p:nvPr/>
            </p:nvSpPr>
            <p:spPr>
              <a:xfrm>
                <a:off x="0" y="-9525"/>
                <a:ext cx="1928413" cy="1126035"/>
              </a:xfrm>
              <a:prstGeom prst="rect">
                <a:avLst/>
              </a:prstGeom>
            </p:spPr>
            <p:txBody>
              <a:bodyPr anchor="ctr" rtlCol="false" tIns="254000" lIns="254000" bIns="254000" rIns="254000"/>
              <a:lstStyle/>
              <a:p>
                <a:pPr algn="l" marL="582932" indent="-291466" lvl="1">
                  <a:lnSpc>
                    <a:spcPts val="3240"/>
                  </a:lnSpc>
                  <a:buFont typeface="Arial"/>
                  <a:buChar char="•"/>
                </a:pPr>
                <a:r>
                  <a:rPr lang="en-US" sz="2700">
                    <a:solidFill>
                      <a:srgbClr val="000001"/>
                    </a:solidFill>
                    <a:latin typeface="Barlow SemiCondensed"/>
                    <a:ea typeface="Barlow SemiCondensed"/>
                    <a:cs typeface="Barlow SemiCondensed"/>
                    <a:sym typeface="Barlow SemiCondensed"/>
                  </a:rPr>
                  <a:t>How much of modern medical research is limited because Asian genomes are underrepresented in global datasets?</a:t>
                </a:r>
              </a:p>
              <a:p>
                <a:pPr algn="l" marL="582932" indent="-291466" lvl="1">
                  <a:lnSpc>
                    <a:spcPts val="3240"/>
                  </a:lnSpc>
                  <a:buFont typeface="Arial"/>
                  <a:buChar char="•"/>
                </a:pPr>
                <a:r>
                  <a:rPr lang="en-US" sz="2700">
                    <a:solidFill>
                      <a:srgbClr val="000001"/>
                    </a:solidFill>
                    <a:latin typeface="Barlow SemiCondensed"/>
                    <a:ea typeface="Barlow SemiCondensed"/>
                    <a:cs typeface="Barlow SemiCondensed"/>
                    <a:sym typeface="Barlow SemiCondensed"/>
                  </a:rPr>
                  <a:t>Could studying Asian gene pools in depth rewrite parts of human evolutionary history?</a:t>
                </a:r>
              </a:p>
              <a:p>
                <a:pPr algn="l" marL="582932" indent="-291466" lvl="1">
                  <a:lnSpc>
                    <a:spcPts val="3240"/>
                  </a:lnSpc>
                  <a:buFont typeface="Arial"/>
                  <a:buChar char="•"/>
                </a:pPr>
                <a:r>
                  <a:rPr lang="en-US" sz="2700">
                    <a:solidFill>
                      <a:srgbClr val="000001"/>
                    </a:solidFill>
                    <a:latin typeface="Barlow SemiCondensed"/>
                    <a:ea typeface="Barlow SemiCondensed"/>
                    <a:cs typeface="Barlow SemiCondensed"/>
                    <a:sym typeface="Barlow SemiCondensed"/>
                  </a:rPr>
                  <a:t>Could unique mutations found in Indonesia or South Asia lead to new treatments or drug discoveries?</a:t>
                </a:r>
              </a:p>
              <a:p>
                <a:pPr algn="l" marL="582932" indent="-291466" lvl="1">
                  <a:lnSpc>
                    <a:spcPts val="3240"/>
                  </a:lnSpc>
                  <a:buFont typeface="Arial"/>
                  <a:buChar char="•"/>
                </a:pPr>
                <a:r>
                  <a:rPr lang="en-US" sz="2700">
                    <a:solidFill>
                      <a:srgbClr val="000001"/>
                    </a:solidFill>
                    <a:latin typeface="Barlow SemiCondensed"/>
                    <a:ea typeface="Barlow SemiCondensed"/>
                    <a:cs typeface="Barlow SemiCondensed"/>
                    <a:sym typeface="Barlow SemiCondensed"/>
                  </a:rPr>
                  <a:t>How should governments handle genetic data while maintaining privacy and preventing misuse?</a:t>
                </a:r>
              </a:p>
            </p:txBody>
          </p:sp>
        </p:grpSp>
        <p:grpSp>
          <p:nvGrpSpPr>
            <p:cNvPr name="Group 46" id="46"/>
            <p:cNvGrpSpPr/>
            <p:nvPr/>
          </p:nvGrpSpPr>
          <p:grpSpPr>
            <a:xfrm rot="0">
              <a:off x="0" y="0"/>
              <a:ext cx="10857513" cy="2146531"/>
              <a:chOff x="0" y="0"/>
              <a:chExt cx="1928413" cy="381247"/>
            </a:xfrm>
          </p:grpSpPr>
          <p:sp>
            <p:nvSpPr>
              <p:cNvPr name="Freeform 47" id="47"/>
              <p:cNvSpPr/>
              <p:nvPr/>
            </p:nvSpPr>
            <p:spPr>
              <a:xfrm flipH="false" flipV="false" rot="0">
                <a:off x="0" y="0"/>
                <a:ext cx="1928413" cy="381247"/>
              </a:xfrm>
              <a:custGeom>
                <a:avLst/>
                <a:gdLst/>
                <a:ahLst/>
                <a:cxnLst/>
                <a:rect r="r" b="b" t="t" l="l"/>
                <a:pathLst>
                  <a:path h="381247" w="1928413">
                    <a:moveTo>
                      <a:pt x="0" y="0"/>
                    </a:moveTo>
                    <a:lnTo>
                      <a:pt x="1928413" y="0"/>
                    </a:lnTo>
                    <a:lnTo>
                      <a:pt x="1928413" y="381247"/>
                    </a:lnTo>
                    <a:lnTo>
                      <a:pt x="0" y="381247"/>
                    </a:lnTo>
                    <a:close/>
                  </a:path>
                </a:pathLst>
              </a:custGeom>
              <a:solidFill>
                <a:srgbClr val="000001"/>
              </a:solidFill>
              <a:ln cap="sq">
                <a:noFill/>
                <a:prstDash val="solid"/>
                <a:miter/>
              </a:ln>
            </p:spPr>
          </p:sp>
          <p:sp>
            <p:nvSpPr>
              <p:cNvPr name="TextBox 48" id="48"/>
              <p:cNvSpPr txBox="true"/>
              <p:nvPr/>
            </p:nvSpPr>
            <p:spPr>
              <a:xfrm>
                <a:off x="0" y="19050"/>
                <a:ext cx="1928413" cy="362197"/>
              </a:xfrm>
              <a:prstGeom prst="rect">
                <a:avLst/>
              </a:prstGeom>
            </p:spPr>
            <p:txBody>
              <a:bodyPr anchor="ctr" rtlCol="false" tIns="50800" lIns="50800" bIns="50800" rIns="50800"/>
              <a:lstStyle/>
              <a:p>
                <a:pPr algn="ctr" marL="0" indent="0" lvl="0">
                  <a:lnSpc>
                    <a:spcPts val="3739"/>
                  </a:lnSpc>
                </a:pPr>
                <a:r>
                  <a:rPr lang="en-US" b="true" sz="3399" spc="135">
                    <a:solidFill>
                      <a:srgbClr val="FFFFFF"/>
                    </a:solidFill>
                    <a:latin typeface="Barlow SemiCondensed Bold"/>
                    <a:ea typeface="Barlow SemiCondensed Bold"/>
                    <a:cs typeface="Barlow SemiCondensed Bold"/>
                    <a:sym typeface="Barlow SemiCondensed Bold"/>
                  </a:rPr>
                  <a:t>POINTS TO PONDER</a:t>
                </a:r>
              </a:p>
            </p:txBody>
          </p:sp>
        </p:grpSp>
      </p:grpSp>
      <p:sp>
        <p:nvSpPr>
          <p:cNvPr name="Freeform 49" id="49"/>
          <p:cNvSpPr/>
          <p:nvPr/>
        </p:nvSpPr>
        <p:spPr>
          <a:xfrm flipH="false" flipV="false" rot="-1801220">
            <a:off x="1049258" y="366217"/>
            <a:ext cx="706120" cy="1248765"/>
          </a:xfrm>
          <a:custGeom>
            <a:avLst/>
            <a:gdLst/>
            <a:ahLst/>
            <a:cxnLst/>
            <a:rect r="r" b="b" t="t" l="l"/>
            <a:pathLst>
              <a:path h="1248765" w="706120">
                <a:moveTo>
                  <a:pt x="0" y="0"/>
                </a:moveTo>
                <a:lnTo>
                  <a:pt x="706120" y="0"/>
                </a:lnTo>
                <a:lnTo>
                  <a:pt x="706120" y="1248766"/>
                </a:lnTo>
                <a:lnTo>
                  <a:pt x="0" y="12487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0" id="50"/>
          <p:cNvSpPr/>
          <p:nvPr/>
        </p:nvSpPr>
        <p:spPr>
          <a:xfrm flipH="false" flipV="false" rot="0">
            <a:off x="14953667" y="159377"/>
            <a:ext cx="3111275" cy="4538995"/>
          </a:xfrm>
          <a:custGeom>
            <a:avLst/>
            <a:gdLst/>
            <a:ahLst/>
            <a:cxnLst/>
            <a:rect r="r" b="b" t="t" l="l"/>
            <a:pathLst>
              <a:path h="4538995" w="3111275">
                <a:moveTo>
                  <a:pt x="0" y="0"/>
                </a:moveTo>
                <a:lnTo>
                  <a:pt x="3111274" y="0"/>
                </a:lnTo>
                <a:lnTo>
                  <a:pt x="3111274" y="4538996"/>
                </a:lnTo>
                <a:lnTo>
                  <a:pt x="0" y="45389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grpSp>
        <p:nvGrpSpPr>
          <p:cNvPr name="Group 3" id="3"/>
          <p:cNvGrpSpPr/>
          <p:nvPr/>
        </p:nvGrpSpPr>
        <p:grpSpPr>
          <a:xfrm rot="0">
            <a:off x="1638300" y="2057400"/>
            <a:ext cx="15621000" cy="7810500"/>
            <a:chOff x="0" y="0"/>
            <a:chExt cx="4114173" cy="2057086"/>
          </a:xfrm>
        </p:grpSpPr>
        <p:sp>
          <p:nvSpPr>
            <p:cNvPr name="Freeform 4" id="4"/>
            <p:cNvSpPr/>
            <p:nvPr/>
          </p:nvSpPr>
          <p:spPr>
            <a:xfrm flipH="false" flipV="false" rot="0">
              <a:off x="0" y="0"/>
              <a:ext cx="4114173" cy="2057086"/>
            </a:xfrm>
            <a:custGeom>
              <a:avLst/>
              <a:gdLst/>
              <a:ahLst/>
              <a:cxnLst/>
              <a:rect r="r" b="b" t="t" l="l"/>
              <a:pathLst>
                <a:path h="2057086" w="4114173">
                  <a:moveTo>
                    <a:pt x="0" y="0"/>
                  </a:moveTo>
                  <a:lnTo>
                    <a:pt x="4114173" y="0"/>
                  </a:lnTo>
                  <a:lnTo>
                    <a:pt x="4114173" y="2057086"/>
                  </a:lnTo>
                  <a:lnTo>
                    <a:pt x="0" y="2057086"/>
                  </a:lnTo>
                  <a:close/>
                </a:path>
              </a:pathLst>
            </a:custGeom>
            <a:solidFill>
              <a:srgbClr val="707070"/>
            </a:solidFill>
            <a:ln cap="sq">
              <a:noFill/>
              <a:prstDash val="solid"/>
              <a:miter/>
            </a:ln>
          </p:spPr>
        </p:sp>
        <p:sp>
          <p:nvSpPr>
            <p:cNvPr name="TextBox 5" id="5"/>
            <p:cNvSpPr txBox="true"/>
            <p:nvPr/>
          </p:nvSpPr>
          <p:spPr>
            <a:xfrm>
              <a:off x="0" y="38100"/>
              <a:ext cx="4114173" cy="2018986"/>
            </a:xfrm>
            <a:prstGeom prst="rect">
              <a:avLst/>
            </a:prstGeom>
          </p:spPr>
          <p:txBody>
            <a:bodyPr anchor="ctr" rtlCol="false" tIns="50800" lIns="50800" bIns="50800" rIns="50800"/>
            <a:lstStyle/>
            <a:p>
              <a:pPr algn="ctr" marL="0" indent="0" lvl="0">
                <a:lnSpc>
                  <a:spcPts val="6600"/>
                </a:lnSpc>
                <a:spcBef>
                  <a:spcPct val="0"/>
                </a:spcBef>
              </a:pPr>
            </a:p>
          </p:txBody>
        </p:sp>
      </p:grpSp>
      <p:grpSp>
        <p:nvGrpSpPr>
          <p:cNvPr name="Group 6" id="6"/>
          <p:cNvGrpSpPr/>
          <p:nvPr/>
        </p:nvGrpSpPr>
        <p:grpSpPr>
          <a:xfrm rot="0">
            <a:off x="1333500" y="1681460"/>
            <a:ext cx="15621000" cy="7810500"/>
            <a:chOff x="0" y="0"/>
            <a:chExt cx="4114173" cy="2057086"/>
          </a:xfrm>
        </p:grpSpPr>
        <p:sp>
          <p:nvSpPr>
            <p:cNvPr name="Freeform 7" id="7"/>
            <p:cNvSpPr/>
            <p:nvPr/>
          </p:nvSpPr>
          <p:spPr>
            <a:xfrm flipH="false" flipV="false" rot="0">
              <a:off x="0" y="0"/>
              <a:ext cx="4114173" cy="2057086"/>
            </a:xfrm>
            <a:custGeom>
              <a:avLst/>
              <a:gdLst/>
              <a:ahLst/>
              <a:cxnLst/>
              <a:rect r="r" b="b" t="t" l="l"/>
              <a:pathLst>
                <a:path h="2057086" w="4114173">
                  <a:moveTo>
                    <a:pt x="0" y="0"/>
                  </a:moveTo>
                  <a:lnTo>
                    <a:pt x="4114173" y="0"/>
                  </a:lnTo>
                  <a:lnTo>
                    <a:pt x="4114173" y="2057086"/>
                  </a:lnTo>
                  <a:lnTo>
                    <a:pt x="0" y="2057086"/>
                  </a:lnTo>
                  <a:close/>
                </a:path>
              </a:pathLst>
            </a:custGeom>
            <a:solidFill>
              <a:srgbClr val="FFFFFF"/>
            </a:solidFill>
            <a:ln w="66675" cap="sq">
              <a:solidFill>
                <a:srgbClr val="000001"/>
              </a:solidFill>
              <a:prstDash val="solid"/>
              <a:miter/>
            </a:ln>
          </p:spPr>
        </p:sp>
        <p:sp>
          <p:nvSpPr>
            <p:cNvPr name="TextBox 8" id="8"/>
            <p:cNvSpPr txBox="true"/>
            <p:nvPr/>
          </p:nvSpPr>
          <p:spPr>
            <a:xfrm>
              <a:off x="0" y="-19050"/>
              <a:ext cx="4114173" cy="2076136"/>
            </a:xfrm>
            <a:prstGeom prst="rect">
              <a:avLst/>
            </a:prstGeom>
          </p:spPr>
          <p:txBody>
            <a:bodyPr anchor="ctr" rtlCol="false" tIns="50800" lIns="50800" bIns="50800" rIns="50800"/>
            <a:lstStyle/>
            <a:p>
              <a:pPr algn="l" marL="0" indent="0" lvl="0">
                <a:lnSpc>
                  <a:spcPts val="3600"/>
                </a:lnSpc>
                <a:spcBef>
                  <a:spcPct val="0"/>
                </a:spcBef>
              </a:pPr>
            </a:p>
          </p:txBody>
        </p:sp>
      </p:grpSp>
      <p:grpSp>
        <p:nvGrpSpPr>
          <p:cNvPr name="Group 9" id="9"/>
          <p:cNvGrpSpPr/>
          <p:nvPr/>
        </p:nvGrpSpPr>
        <p:grpSpPr>
          <a:xfrm rot="0">
            <a:off x="1143000" y="762000"/>
            <a:ext cx="7429500" cy="1295400"/>
            <a:chOff x="0" y="0"/>
            <a:chExt cx="1956741" cy="341175"/>
          </a:xfrm>
        </p:grpSpPr>
        <p:sp>
          <p:nvSpPr>
            <p:cNvPr name="Freeform 10" id="10"/>
            <p:cNvSpPr/>
            <p:nvPr/>
          </p:nvSpPr>
          <p:spPr>
            <a:xfrm flipH="false" flipV="false" rot="0">
              <a:off x="0" y="0"/>
              <a:ext cx="1956741" cy="341175"/>
            </a:xfrm>
            <a:custGeom>
              <a:avLst/>
              <a:gdLst/>
              <a:ahLst/>
              <a:cxnLst/>
              <a:rect r="r" b="b" t="t" l="l"/>
              <a:pathLst>
                <a:path h="341175" w="1956741">
                  <a:moveTo>
                    <a:pt x="0" y="0"/>
                  </a:moveTo>
                  <a:lnTo>
                    <a:pt x="1956741" y="0"/>
                  </a:lnTo>
                  <a:lnTo>
                    <a:pt x="1956741" y="341175"/>
                  </a:lnTo>
                  <a:lnTo>
                    <a:pt x="0" y="341175"/>
                  </a:lnTo>
                  <a:close/>
                </a:path>
              </a:pathLst>
            </a:custGeom>
            <a:solidFill>
              <a:srgbClr val="707070"/>
            </a:solidFill>
            <a:ln cap="sq">
              <a:noFill/>
              <a:prstDash val="solid"/>
              <a:miter/>
            </a:ln>
          </p:spPr>
        </p:sp>
        <p:sp>
          <p:nvSpPr>
            <p:cNvPr name="TextBox 11" id="11"/>
            <p:cNvSpPr txBox="true"/>
            <p:nvPr/>
          </p:nvSpPr>
          <p:spPr>
            <a:xfrm>
              <a:off x="0" y="38100"/>
              <a:ext cx="1956741" cy="303075"/>
            </a:xfrm>
            <a:prstGeom prst="rect">
              <a:avLst/>
            </a:prstGeom>
          </p:spPr>
          <p:txBody>
            <a:bodyPr anchor="ctr" rtlCol="false" tIns="254000" lIns="254000" bIns="254000" rIns="254000"/>
            <a:lstStyle/>
            <a:p>
              <a:pPr algn="ctr" marL="0" indent="0" lvl="0">
                <a:lnSpc>
                  <a:spcPts val="6600"/>
                </a:lnSpc>
                <a:spcBef>
                  <a:spcPct val="0"/>
                </a:spcBef>
              </a:pPr>
            </a:p>
          </p:txBody>
        </p:sp>
      </p:grpSp>
      <p:grpSp>
        <p:nvGrpSpPr>
          <p:cNvPr name="Group 12" id="12"/>
          <p:cNvGrpSpPr/>
          <p:nvPr/>
        </p:nvGrpSpPr>
        <p:grpSpPr>
          <a:xfrm rot="0">
            <a:off x="952500" y="571500"/>
            <a:ext cx="7396329" cy="1323975"/>
            <a:chOff x="0" y="0"/>
            <a:chExt cx="1879051" cy="336358"/>
          </a:xfrm>
        </p:grpSpPr>
        <p:sp>
          <p:nvSpPr>
            <p:cNvPr name="Freeform 13" id="13"/>
            <p:cNvSpPr/>
            <p:nvPr/>
          </p:nvSpPr>
          <p:spPr>
            <a:xfrm flipH="false" flipV="false" rot="0">
              <a:off x="0" y="0"/>
              <a:ext cx="1879051" cy="336358"/>
            </a:xfrm>
            <a:custGeom>
              <a:avLst/>
              <a:gdLst/>
              <a:ahLst/>
              <a:cxnLst/>
              <a:rect r="r" b="b" t="t" l="l"/>
              <a:pathLst>
                <a:path h="336358" w="1879051">
                  <a:moveTo>
                    <a:pt x="0" y="0"/>
                  </a:moveTo>
                  <a:lnTo>
                    <a:pt x="1879051" y="0"/>
                  </a:lnTo>
                  <a:lnTo>
                    <a:pt x="1879051" y="336358"/>
                  </a:lnTo>
                  <a:lnTo>
                    <a:pt x="0" y="336358"/>
                  </a:lnTo>
                  <a:close/>
                </a:path>
              </a:pathLst>
            </a:custGeom>
            <a:solidFill>
              <a:srgbClr val="E5A6F4"/>
            </a:solidFill>
            <a:ln w="66675" cap="sq">
              <a:solidFill>
                <a:srgbClr val="000001"/>
              </a:solidFill>
              <a:prstDash val="solid"/>
              <a:miter/>
            </a:ln>
          </p:spPr>
        </p:sp>
        <p:sp>
          <p:nvSpPr>
            <p:cNvPr name="TextBox 14" id="14"/>
            <p:cNvSpPr txBox="true"/>
            <p:nvPr/>
          </p:nvSpPr>
          <p:spPr>
            <a:xfrm>
              <a:off x="0" y="19050"/>
              <a:ext cx="1879051" cy="317308"/>
            </a:xfrm>
            <a:prstGeom prst="rect">
              <a:avLst/>
            </a:prstGeom>
          </p:spPr>
          <p:txBody>
            <a:bodyPr anchor="t" rtlCol="false" tIns="228600" lIns="228600" bIns="228600" rIns="228600"/>
            <a:lstStyle/>
            <a:p>
              <a:pPr algn="ctr" marL="0" indent="0" lvl="0">
                <a:lnSpc>
                  <a:spcPts val="3740"/>
                </a:lnSpc>
                <a:spcBef>
                  <a:spcPct val="0"/>
                </a:spcBef>
              </a:pPr>
              <a:r>
                <a:rPr lang="en-US" b="true" sz="3400">
                  <a:solidFill>
                    <a:srgbClr val="000001"/>
                  </a:solidFill>
                  <a:latin typeface="Barlow SemiCondensed Bold"/>
                  <a:ea typeface="Barlow SemiCondensed Bold"/>
                  <a:cs typeface="Barlow SemiCondensed Bold"/>
                  <a:sym typeface="Barlow SemiCondensed Bold"/>
                </a:rPr>
                <a:t>RESOURCES AND ACKNOWLEDGEMENTS</a:t>
              </a:r>
            </a:p>
          </p:txBody>
        </p:sp>
      </p:grpSp>
      <p:grpSp>
        <p:nvGrpSpPr>
          <p:cNvPr name="Group 15" id="15"/>
          <p:cNvGrpSpPr/>
          <p:nvPr/>
        </p:nvGrpSpPr>
        <p:grpSpPr>
          <a:xfrm rot="0">
            <a:off x="819150" y="390525"/>
            <a:ext cx="361950" cy="36195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17" id="17"/>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18" id="18"/>
          <p:cNvGrpSpPr/>
          <p:nvPr/>
        </p:nvGrpSpPr>
        <p:grpSpPr>
          <a:xfrm rot="0">
            <a:off x="8167854" y="390525"/>
            <a:ext cx="361950" cy="361950"/>
            <a:chOff x="0" y="0"/>
            <a:chExt cx="731520" cy="731520"/>
          </a:xfrm>
        </p:grpSpPr>
        <p:sp>
          <p:nvSpPr>
            <p:cNvPr name="Freeform 19" id="19"/>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0" id="20"/>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1" id="21"/>
          <p:cNvGrpSpPr/>
          <p:nvPr/>
        </p:nvGrpSpPr>
        <p:grpSpPr>
          <a:xfrm rot="0">
            <a:off x="771525" y="1695450"/>
            <a:ext cx="361950" cy="36195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3" id="23"/>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grpSp>
        <p:nvGrpSpPr>
          <p:cNvPr name="Group 24" id="24"/>
          <p:cNvGrpSpPr/>
          <p:nvPr/>
        </p:nvGrpSpPr>
        <p:grpSpPr>
          <a:xfrm rot="0">
            <a:off x="8167854" y="1695450"/>
            <a:ext cx="361950" cy="36195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365760" y="0"/>
                  </a:moveTo>
                  <a:cubicBezTo>
                    <a:pt x="163756" y="0"/>
                    <a:pt x="0" y="163756"/>
                    <a:pt x="0" y="365760"/>
                  </a:cubicBezTo>
                  <a:cubicBezTo>
                    <a:pt x="0" y="567764"/>
                    <a:pt x="163756" y="731520"/>
                    <a:pt x="365760" y="731520"/>
                  </a:cubicBezTo>
                  <a:cubicBezTo>
                    <a:pt x="567764" y="731520"/>
                    <a:pt x="731520" y="567764"/>
                    <a:pt x="731520" y="365760"/>
                  </a:cubicBezTo>
                  <a:cubicBezTo>
                    <a:pt x="731520" y="163756"/>
                    <a:pt x="567764" y="0"/>
                    <a:pt x="365760" y="0"/>
                  </a:cubicBezTo>
                  <a:close/>
                </a:path>
              </a:pathLst>
            </a:custGeom>
            <a:solidFill>
              <a:srgbClr val="59C1C9"/>
            </a:solidFill>
            <a:ln w="66675" cap="sq">
              <a:solidFill>
                <a:srgbClr val="000001"/>
              </a:solidFill>
              <a:prstDash val="solid"/>
              <a:miter/>
            </a:ln>
          </p:spPr>
        </p:sp>
        <p:sp>
          <p:nvSpPr>
            <p:cNvPr name="TextBox 26" id="26"/>
            <p:cNvSpPr txBox="true"/>
            <p:nvPr/>
          </p:nvSpPr>
          <p:spPr>
            <a:xfrm>
              <a:off x="68580" y="68580"/>
              <a:ext cx="594360" cy="594360"/>
            </a:xfrm>
            <a:prstGeom prst="rect">
              <a:avLst/>
            </a:prstGeom>
          </p:spPr>
          <p:txBody>
            <a:bodyPr anchor="ctr" rtlCol="false" tIns="50800" lIns="50800" bIns="50800" rIns="50800"/>
            <a:lstStyle/>
            <a:p>
              <a:pPr algn="ctr" marL="0" indent="0" lvl="0">
                <a:lnSpc>
                  <a:spcPts val="2999"/>
                </a:lnSpc>
                <a:spcBef>
                  <a:spcPct val="0"/>
                </a:spcBef>
              </a:pPr>
            </a:p>
          </p:txBody>
        </p:sp>
      </p:grpSp>
      <p:sp>
        <p:nvSpPr>
          <p:cNvPr name="TextBox 27" id="27"/>
          <p:cNvSpPr txBox="true"/>
          <p:nvPr/>
        </p:nvSpPr>
        <p:spPr>
          <a:xfrm rot="0">
            <a:off x="1875966" y="2136961"/>
            <a:ext cx="14536069" cy="6813774"/>
          </a:xfrm>
          <a:prstGeom prst="rect">
            <a:avLst/>
          </a:prstGeom>
        </p:spPr>
        <p:txBody>
          <a:bodyPr anchor="t" rtlCol="false" tIns="0" lIns="0" bIns="0" rIns="0">
            <a:spAutoFit/>
          </a:bodyPr>
          <a:lstStyle/>
          <a:p>
            <a:pPr algn="ctr">
              <a:lnSpc>
                <a:spcPts val="6026"/>
              </a:lnSpc>
            </a:pPr>
            <a:r>
              <a:rPr lang="en-US" sz="4304">
                <a:solidFill>
                  <a:srgbClr val="000000"/>
                </a:solidFill>
                <a:latin typeface="Canva Sans"/>
                <a:ea typeface="Canva Sans"/>
                <a:cs typeface="Canva Sans"/>
                <a:sym typeface="Canva Sans"/>
              </a:rPr>
              <a:t>I would like to thank our professor, and supervisor for guiding us through this exciting yet informative journey. Further i would also like to express my gratitude towards my capable teammates. It was exciting working with them all, everyone was really hardworking and surprisingly together we discussed so much about each other’s countries. It felt like experiencing another culture through lenses of science!</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1000" y="-214312"/>
            <a:ext cx="19050000" cy="10715625"/>
          </a:xfrm>
          <a:custGeom>
            <a:avLst/>
            <a:gdLst/>
            <a:ahLst/>
            <a:cxnLst/>
            <a:rect r="r" b="b" t="t" l="l"/>
            <a:pathLst>
              <a:path h="10715625" w="19050000">
                <a:moveTo>
                  <a:pt x="0" y="0"/>
                </a:moveTo>
                <a:lnTo>
                  <a:pt x="19050000" y="0"/>
                </a:lnTo>
                <a:lnTo>
                  <a:pt x="19050000" y="10715624"/>
                </a:lnTo>
                <a:lnTo>
                  <a:pt x="0" y="10715624"/>
                </a:lnTo>
                <a:lnTo>
                  <a:pt x="0" y="0"/>
                </a:lnTo>
                <a:close/>
              </a:path>
            </a:pathLst>
          </a:custGeom>
          <a:blipFill>
            <a:blip r:embed="rId2">
              <a:extLst>
                <a:ext uri="{96DAC541-7B7A-43D3-8B79-37D633B846F1}">
                  <asvg:svgBlip xmlns:asvg="http://schemas.microsoft.com/office/drawing/2016/SVG/main" r:embed="rId3"/>
                </a:ext>
              </a:extLst>
            </a:blip>
            <a:stretch>
              <a:fillRect l="0" t="-38888" r="0" b="-38888"/>
            </a:stretch>
          </a:blipFill>
        </p:spPr>
      </p:sp>
      <p:sp>
        <p:nvSpPr>
          <p:cNvPr name="Freeform 3" id="3"/>
          <p:cNvSpPr/>
          <p:nvPr/>
        </p:nvSpPr>
        <p:spPr>
          <a:xfrm flipH="false" flipV="false" rot="0">
            <a:off x="2381745" y="600075"/>
            <a:ext cx="804256" cy="857250"/>
          </a:xfrm>
          <a:custGeom>
            <a:avLst/>
            <a:gdLst/>
            <a:ahLst/>
            <a:cxnLst/>
            <a:rect r="r" b="b" t="t" l="l"/>
            <a:pathLst>
              <a:path h="857250" w="804256">
                <a:moveTo>
                  <a:pt x="0" y="0"/>
                </a:moveTo>
                <a:lnTo>
                  <a:pt x="804256" y="0"/>
                </a:lnTo>
                <a:lnTo>
                  <a:pt x="804256" y="857250"/>
                </a:lnTo>
                <a:lnTo>
                  <a:pt x="0" y="857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43309" y="7375710"/>
            <a:ext cx="1548300" cy="3586017"/>
            <a:chOff x="0" y="0"/>
            <a:chExt cx="2064400" cy="4781356"/>
          </a:xfrm>
        </p:grpSpPr>
        <p:sp>
          <p:nvSpPr>
            <p:cNvPr name="Freeform 5" id="5"/>
            <p:cNvSpPr/>
            <p:nvPr/>
          </p:nvSpPr>
          <p:spPr>
            <a:xfrm flipH="false" flipV="false" rot="0">
              <a:off x="152400" y="86712"/>
              <a:ext cx="1912000" cy="4694643"/>
            </a:xfrm>
            <a:custGeom>
              <a:avLst/>
              <a:gdLst/>
              <a:ahLst/>
              <a:cxnLst/>
              <a:rect r="r" b="b" t="t" l="l"/>
              <a:pathLst>
                <a:path h="4694643" w="1912000">
                  <a:moveTo>
                    <a:pt x="0" y="0"/>
                  </a:moveTo>
                  <a:lnTo>
                    <a:pt x="1912000" y="0"/>
                  </a:lnTo>
                  <a:lnTo>
                    <a:pt x="1912000" y="4694644"/>
                  </a:lnTo>
                  <a:lnTo>
                    <a:pt x="0" y="46946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0" y="0"/>
              <a:ext cx="1912000" cy="4694643"/>
            </a:xfrm>
            <a:custGeom>
              <a:avLst/>
              <a:gdLst/>
              <a:ahLst/>
              <a:cxnLst/>
              <a:rect r="r" b="b" t="t" l="l"/>
              <a:pathLst>
                <a:path h="4694643" w="1912000">
                  <a:moveTo>
                    <a:pt x="0" y="0"/>
                  </a:moveTo>
                  <a:lnTo>
                    <a:pt x="1912000" y="0"/>
                  </a:lnTo>
                  <a:lnTo>
                    <a:pt x="1912000" y="4694643"/>
                  </a:lnTo>
                  <a:lnTo>
                    <a:pt x="0" y="46946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sp>
        <p:nvSpPr>
          <p:cNvPr name="Freeform 7" id="7"/>
          <p:cNvSpPr/>
          <p:nvPr/>
        </p:nvSpPr>
        <p:spPr>
          <a:xfrm flipH="false" flipV="false" rot="0">
            <a:off x="13843482" y="1638769"/>
            <a:ext cx="954000" cy="1218731"/>
          </a:xfrm>
          <a:custGeom>
            <a:avLst/>
            <a:gdLst/>
            <a:ahLst/>
            <a:cxnLst/>
            <a:rect r="r" b="b" t="t" l="l"/>
            <a:pathLst>
              <a:path h="1218731" w="954000">
                <a:moveTo>
                  <a:pt x="0" y="0"/>
                </a:moveTo>
                <a:lnTo>
                  <a:pt x="954000" y="0"/>
                </a:lnTo>
                <a:lnTo>
                  <a:pt x="954000" y="1218731"/>
                </a:lnTo>
                <a:lnTo>
                  <a:pt x="0" y="1218731"/>
                </a:lnTo>
                <a:lnTo>
                  <a:pt x="0" y="0"/>
                </a:lnTo>
                <a:close/>
              </a:path>
            </a:pathLst>
          </a:custGeom>
          <a:blipFill>
            <a:blip r:embed="rId10">
              <a:extLst>
                <a:ext uri="{96DAC541-7B7A-43D3-8B79-37D633B846F1}">
                  <asvg:svgBlip xmlns:asvg="http://schemas.microsoft.com/office/drawing/2016/SVG/main" r:embed="rId11"/>
                </a:ext>
              </a:extLst>
            </a:blip>
            <a:stretch>
              <a:fillRect l="0" t="-64545" r="-110205" b="0"/>
            </a:stretch>
          </a:blipFill>
          <a:ln cap="sq">
            <a:noFill/>
            <a:prstDash val="solid"/>
            <a:miter/>
          </a:ln>
        </p:spPr>
      </p:sp>
      <p:grpSp>
        <p:nvGrpSpPr>
          <p:cNvPr name="Group 8" id="8"/>
          <p:cNvGrpSpPr/>
          <p:nvPr/>
        </p:nvGrpSpPr>
        <p:grpSpPr>
          <a:xfrm rot="0">
            <a:off x="952500" y="5585110"/>
            <a:ext cx="1944089" cy="1196324"/>
            <a:chOff x="0" y="0"/>
            <a:chExt cx="2592119" cy="1595099"/>
          </a:xfrm>
        </p:grpSpPr>
        <p:sp>
          <p:nvSpPr>
            <p:cNvPr name="Freeform 9" id="9"/>
            <p:cNvSpPr/>
            <p:nvPr/>
          </p:nvSpPr>
          <p:spPr>
            <a:xfrm flipH="false" flipV="false" rot="0">
              <a:off x="203200" y="127000"/>
              <a:ext cx="2388919" cy="1468099"/>
            </a:xfrm>
            <a:custGeom>
              <a:avLst/>
              <a:gdLst/>
              <a:ahLst/>
              <a:cxnLst/>
              <a:rect r="r" b="b" t="t" l="l"/>
              <a:pathLst>
                <a:path h="1468099" w="2388919">
                  <a:moveTo>
                    <a:pt x="0" y="0"/>
                  </a:moveTo>
                  <a:lnTo>
                    <a:pt x="2388919" y="0"/>
                  </a:lnTo>
                  <a:lnTo>
                    <a:pt x="2388919" y="1468099"/>
                  </a:lnTo>
                  <a:lnTo>
                    <a:pt x="0" y="146809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0" id="10"/>
            <p:cNvSpPr/>
            <p:nvPr/>
          </p:nvSpPr>
          <p:spPr>
            <a:xfrm flipH="false" flipV="false" rot="0">
              <a:off x="0" y="0"/>
              <a:ext cx="2388919" cy="1468099"/>
            </a:xfrm>
            <a:custGeom>
              <a:avLst/>
              <a:gdLst/>
              <a:ahLst/>
              <a:cxnLst/>
              <a:rect r="r" b="b" t="t" l="l"/>
              <a:pathLst>
                <a:path h="1468099" w="2388919">
                  <a:moveTo>
                    <a:pt x="0" y="0"/>
                  </a:moveTo>
                  <a:lnTo>
                    <a:pt x="2388919" y="0"/>
                  </a:lnTo>
                  <a:lnTo>
                    <a:pt x="2388919" y="1468099"/>
                  </a:lnTo>
                  <a:lnTo>
                    <a:pt x="0" y="14680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11" id="11"/>
          <p:cNvSpPr/>
          <p:nvPr/>
        </p:nvSpPr>
        <p:spPr>
          <a:xfrm flipH="false" flipV="false" rot="-5400000">
            <a:off x="-187378" y="396247"/>
            <a:ext cx="2036263" cy="1047750"/>
          </a:xfrm>
          <a:custGeom>
            <a:avLst/>
            <a:gdLst/>
            <a:ahLst/>
            <a:cxnLst/>
            <a:rect r="r" b="b" t="t" l="l"/>
            <a:pathLst>
              <a:path h="1047750" w="2036263">
                <a:moveTo>
                  <a:pt x="0" y="0"/>
                </a:moveTo>
                <a:lnTo>
                  <a:pt x="2036263" y="0"/>
                </a:lnTo>
                <a:lnTo>
                  <a:pt x="2036263" y="1047750"/>
                </a:lnTo>
                <a:lnTo>
                  <a:pt x="0" y="10477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2" id="12"/>
          <p:cNvSpPr/>
          <p:nvPr/>
        </p:nvSpPr>
        <p:spPr>
          <a:xfrm flipH="false" flipV="false" rot="-4174034">
            <a:off x="10885624" y="1184178"/>
            <a:ext cx="2862566" cy="1250809"/>
          </a:xfrm>
          <a:custGeom>
            <a:avLst/>
            <a:gdLst/>
            <a:ahLst/>
            <a:cxnLst/>
            <a:rect r="r" b="b" t="t" l="l"/>
            <a:pathLst>
              <a:path h="1250809" w="2862566">
                <a:moveTo>
                  <a:pt x="0" y="0"/>
                </a:moveTo>
                <a:lnTo>
                  <a:pt x="2862566" y="0"/>
                </a:lnTo>
                <a:lnTo>
                  <a:pt x="2862566" y="1250809"/>
                </a:lnTo>
                <a:lnTo>
                  <a:pt x="0" y="125080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8961480" y="600075"/>
            <a:ext cx="884040" cy="1209508"/>
          </a:xfrm>
          <a:custGeom>
            <a:avLst/>
            <a:gdLst/>
            <a:ahLst/>
            <a:cxnLst/>
            <a:rect r="r" b="b" t="t" l="l"/>
            <a:pathLst>
              <a:path h="1209508" w="884040">
                <a:moveTo>
                  <a:pt x="0" y="0"/>
                </a:moveTo>
                <a:lnTo>
                  <a:pt x="884041" y="0"/>
                </a:lnTo>
                <a:lnTo>
                  <a:pt x="884041" y="1209508"/>
                </a:lnTo>
                <a:lnTo>
                  <a:pt x="0" y="120950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4" id="14"/>
          <p:cNvSpPr/>
          <p:nvPr/>
        </p:nvSpPr>
        <p:spPr>
          <a:xfrm flipH="false" flipV="false" rot="0">
            <a:off x="16172650" y="1601917"/>
            <a:ext cx="1086650" cy="2511165"/>
          </a:xfrm>
          <a:custGeom>
            <a:avLst/>
            <a:gdLst/>
            <a:ahLst/>
            <a:cxnLst/>
            <a:rect r="r" b="b" t="t" l="l"/>
            <a:pathLst>
              <a:path h="2511165" w="1086650">
                <a:moveTo>
                  <a:pt x="0" y="0"/>
                </a:moveTo>
                <a:lnTo>
                  <a:pt x="1086650" y="0"/>
                </a:lnTo>
                <a:lnTo>
                  <a:pt x="1086650" y="2511166"/>
                </a:lnTo>
                <a:lnTo>
                  <a:pt x="0" y="251116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5" id="15"/>
          <p:cNvSpPr/>
          <p:nvPr/>
        </p:nvSpPr>
        <p:spPr>
          <a:xfrm flipH="false" flipV="false" rot="0">
            <a:off x="13533111" y="6937225"/>
            <a:ext cx="4976365" cy="3727750"/>
          </a:xfrm>
          <a:custGeom>
            <a:avLst/>
            <a:gdLst/>
            <a:ahLst/>
            <a:cxnLst/>
            <a:rect r="r" b="b" t="t" l="l"/>
            <a:pathLst>
              <a:path h="3727750" w="4976365">
                <a:moveTo>
                  <a:pt x="0" y="0"/>
                </a:moveTo>
                <a:lnTo>
                  <a:pt x="4976366" y="0"/>
                </a:lnTo>
                <a:lnTo>
                  <a:pt x="4976366" y="3727750"/>
                </a:lnTo>
                <a:lnTo>
                  <a:pt x="0" y="372775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6" id="16"/>
          <p:cNvSpPr/>
          <p:nvPr/>
        </p:nvSpPr>
        <p:spPr>
          <a:xfrm flipH="false" flipV="false" rot="0">
            <a:off x="6265267" y="6216310"/>
            <a:ext cx="706120" cy="1248765"/>
          </a:xfrm>
          <a:custGeom>
            <a:avLst/>
            <a:gdLst/>
            <a:ahLst/>
            <a:cxnLst/>
            <a:rect r="r" b="b" t="t" l="l"/>
            <a:pathLst>
              <a:path h="1248765" w="706120">
                <a:moveTo>
                  <a:pt x="0" y="0"/>
                </a:moveTo>
                <a:lnTo>
                  <a:pt x="706120" y="0"/>
                </a:lnTo>
                <a:lnTo>
                  <a:pt x="706120" y="1248765"/>
                </a:lnTo>
                <a:lnTo>
                  <a:pt x="0" y="124876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7" id="17"/>
          <p:cNvSpPr/>
          <p:nvPr/>
        </p:nvSpPr>
        <p:spPr>
          <a:xfrm flipH="false" flipV="false" rot="0">
            <a:off x="12954000" y="8425074"/>
            <a:ext cx="1053003" cy="1284150"/>
          </a:xfrm>
          <a:custGeom>
            <a:avLst/>
            <a:gdLst/>
            <a:ahLst/>
            <a:cxnLst/>
            <a:rect r="r" b="b" t="t" l="l"/>
            <a:pathLst>
              <a:path h="1284150" w="1053003">
                <a:moveTo>
                  <a:pt x="0" y="0"/>
                </a:moveTo>
                <a:lnTo>
                  <a:pt x="1053003" y="0"/>
                </a:lnTo>
                <a:lnTo>
                  <a:pt x="1053003" y="1284151"/>
                </a:lnTo>
                <a:lnTo>
                  <a:pt x="0" y="1284151"/>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AutoShape 18" id="18"/>
          <p:cNvSpPr/>
          <p:nvPr/>
        </p:nvSpPr>
        <p:spPr>
          <a:xfrm>
            <a:off x="8417477" y="3705145"/>
            <a:ext cx="2095500" cy="0"/>
          </a:xfrm>
          <a:prstGeom prst="line">
            <a:avLst/>
          </a:prstGeom>
          <a:ln cap="flat" w="66675">
            <a:solidFill>
              <a:srgbClr val="000001"/>
            </a:solidFill>
            <a:prstDash val="sysDot"/>
            <a:headEnd type="none" len="sm" w="sm"/>
            <a:tailEnd type="none" len="sm" w="sm"/>
          </a:ln>
        </p:spPr>
      </p:sp>
      <p:sp>
        <p:nvSpPr>
          <p:cNvPr name="AutoShape 19" id="19"/>
          <p:cNvSpPr/>
          <p:nvPr/>
        </p:nvSpPr>
        <p:spPr>
          <a:xfrm>
            <a:off x="4067577" y="5143500"/>
            <a:ext cx="0" cy="1333500"/>
          </a:xfrm>
          <a:prstGeom prst="line">
            <a:avLst/>
          </a:prstGeom>
          <a:ln cap="flat" w="66675">
            <a:solidFill>
              <a:srgbClr val="000001"/>
            </a:solidFill>
            <a:prstDash val="sysDot"/>
            <a:headEnd type="none" len="sm" w="sm"/>
            <a:tailEnd type="none" len="sm" w="sm"/>
          </a:ln>
        </p:spPr>
      </p:sp>
      <p:sp>
        <p:nvSpPr>
          <p:cNvPr name="AutoShape 20" id="20"/>
          <p:cNvSpPr/>
          <p:nvPr/>
        </p:nvSpPr>
        <p:spPr>
          <a:xfrm>
            <a:off x="15621000" y="995362"/>
            <a:ext cx="1333500" cy="0"/>
          </a:xfrm>
          <a:prstGeom prst="line">
            <a:avLst/>
          </a:prstGeom>
          <a:ln cap="flat" w="66675">
            <a:solidFill>
              <a:srgbClr val="000001"/>
            </a:solidFill>
            <a:prstDash val="sysDot"/>
            <a:headEnd type="none" len="sm" w="sm"/>
            <a:tailEnd type="none" len="sm" w="sm"/>
          </a:ln>
        </p:spPr>
      </p:sp>
      <p:grpSp>
        <p:nvGrpSpPr>
          <p:cNvPr name="Group 21" id="21"/>
          <p:cNvGrpSpPr/>
          <p:nvPr/>
        </p:nvGrpSpPr>
        <p:grpSpPr>
          <a:xfrm rot="0">
            <a:off x="7855428" y="8035549"/>
            <a:ext cx="1124098" cy="1123645"/>
            <a:chOff x="0" y="0"/>
            <a:chExt cx="1498798" cy="1498194"/>
          </a:xfrm>
        </p:grpSpPr>
        <p:grpSp>
          <p:nvGrpSpPr>
            <p:cNvPr name="Group 22" id="22"/>
            <p:cNvGrpSpPr/>
            <p:nvPr/>
          </p:nvGrpSpPr>
          <p:grpSpPr>
            <a:xfrm rot="0">
              <a:off x="254198" y="253594"/>
              <a:ext cx="1244600" cy="1244600"/>
              <a:chOff x="0" y="0"/>
              <a:chExt cx="245847" cy="245847"/>
            </a:xfrm>
          </p:grpSpPr>
          <p:sp>
            <p:nvSpPr>
              <p:cNvPr name="Freeform 23" id="23"/>
              <p:cNvSpPr/>
              <p:nvPr/>
            </p:nvSpPr>
            <p:spPr>
              <a:xfrm flipH="false" flipV="false" rot="0">
                <a:off x="0" y="0"/>
                <a:ext cx="245847" cy="245847"/>
              </a:xfrm>
              <a:custGeom>
                <a:avLst/>
                <a:gdLst/>
                <a:ahLst/>
                <a:cxnLst/>
                <a:rect r="r" b="b" t="t" l="l"/>
                <a:pathLst>
                  <a:path h="245847" w="245847">
                    <a:moveTo>
                      <a:pt x="0" y="0"/>
                    </a:moveTo>
                    <a:lnTo>
                      <a:pt x="245847" y="0"/>
                    </a:lnTo>
                    <a:lnTo>
                      <a:pt x="245847" y="245847"/>
                    </a:lnTo>
                    <a:lnTo>
                      <a:pt x="0" y="245847"/>
                    </a:lnTo>
                    <a:close/>
                  </a:path>
                </a:pathLst>
              </a:custGeom>
              <a:solidFill>
                <a:srgbClr val="707070"/>
              </a:solidFill>
              <a:ln cap="sq">
                <a:noFill/>
                <a:prstDash val="solid"/>
                <a:miter/>
              </a:ln>
            </p:spPr>
          </p:sp>
          <p:sp>
            <p:nvSpPr>
              <p:cNvPr name="TextBox 24" id="24"/>
              <p:cNvSpPr txBox="true"/>
              <p:nvPr/>
            </p:nvSpPr>
            <p:spPr>
              <a:xfrm>
                <a:off x="0" y="0"/>
                <a:ext cx="245847" cy="245847"/>
              </a:xfrm>
              <a:prstGeom prst="rect">
                <a:avLst/>
              </a:prstGeom>
            </p:spPr>
            <p:txBody>
              <a:bodyPr anchor="ctr" rtlCol="false" tIns="50800" lIns="50800" bIns="50800" rIns="50800"/>
              <a:lstStyle/>
              <a:p>
                <a:pPr algn="ctr">
                  <a:lnSpc>
                    <a:spcPts val="2999"/>
                  </a:lnSpc>
                </a:pPr>
              </a:p>
            </p:txBody>
          </p:sp>
        </p:grpSp>
        <p:sp>
          <p:nvSpPr>
            <p:cNvPr name="Freeform 25" id="25"/>
            <p:cNvSpPr/>
            <p:nvPr/>
          </p:nvSpPr>
          <p:spPr>
            <a:xfrm flipH="false" flipV="false" rot="0">
              <a:off x="0" y="0"/>
              <a:ext cx="1244600" cy="1244600"/>
            </a:xfrm>
            <a:custGeom>
              <a:avLst/>
              <a:gdLst/>
              <a:ahLst/>
              <a:cxnLst/>
              <a:rect r="r" b="b" t="t" l="l"/>
              <a:pathLst>
                <a:path h="1244600" w="1244600">
                  <a:moveTo>
                    <a:pt x="0" y="0"/>
                  </a:moveTo>
                  <a:lnTo>
                    <a:pt x="1244600" y="0"/>
                  </a:lnTo>
                  <a:lnTo>
                    <a:pt x="1244600" y="1244600"/>
                  </a:lnTo>
                  <a:lnTo>
                    <a:pt x="0" y="124460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grpSp>
      <p:sp>
        <p:nvSpPr>
          <p:cNvPr name="Freeform 26" id="26"/>
          <p:cNvSpPr/>
          <p:nvPr/>
        </p:nvSpPr>
        <p:spPr>
          <a:xfrm flipH="false" flipV="false" rot="0">
            <a:off x="1467345" y="834390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a:ln cap="sq">
            <a:noFill/>
            <a:prstDash val="solid"/>
            <a:miter/>
          </a:ln>
        </p:spPr>
      </p:sp>
      <p:sp>
        <p:nvSpPr>
          <p:cNvPr name="Freeform 27" id="27"/>
          <p:cNvSpPr/>
          <p:nvPr/>
        </p:nvSpPr>
        <p:spPr>
          <a:xfrm flipH="true" flipV="false" rot="0">
            <a:off x="1043639" y="2832474"/>
            <a:ext cx="2510051" cy="1889384"/>
          </a:xfrm>
          <a:custGeom>
            <a:avLst/>
            <a:gdLst/>
            <a:ahLst/>
            <a:cxnLst/>
            <a:rect r="r" b="b" t="t" l="l"/>
            <a:pathLst>
              <a:path h="1889384" w="2510051">
                <a:moveTo>
                  <a:pt x="2510051" y="0"/>
                </a:moveTo>
                <a:lnTo>
                  <a:pt x="0" y="0"/>
                </a:lnTo>
                <a:lnTo>
                  <a:pt x="0" y="1889384"/>
                </a:lnTo>
                <a:lnTo>
                  <a:pt x="2510051" y="1889384"/>
                </a:lnTo>
                <a:lnTo>
                  <a:pt x="2510051"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28" id="28"/>
          <p:cNvSpPr/>
          <p:nvPr/>
        </p:nvSpPr>
        <p:spPr>
          <a:xfrm flipH="false" flipV="false" rot="0">
            <a:off x="8706652" y="6183272"/>
            <a:ext cx="3610255" cy="3704553"/>
          </a:xfrm>
          <a:custGeom>
            <a:avLst/>
            <a:gdLst/>
            <a:ahLst/>
            <a:cxnLst/>
            <a:rect r="r" b="b" t="t" l="l"/>
            <a:pathLst>
              <a:path h="3704553" w="3610255">
                <a:moveTo>
                  <a:pt x="0" y="0"/>
                </a:moveTo>
                <a:lnTo>
                  <a:pt x="3610255" y="0"/>
                </a:lnTo>
                <a:lnTo>
                  <a:pt x="3610255" y="3704553"/>
                </a:lnTo>
                <a:lnTo>
                  <a:pt x="0" y="3704553"/>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a:ln cap="sq">
            <a:noFill/>
            <a:prstDash val="solid"/>
            <a:miter/>
          </a:ln>
        </p:spPr>
      </p:sp>
      <p:sp>
        <p:nvSpPr>
          <p:cNvPr name="Freeform 29" id="29"/>
          <p:cNvSpPr/>
          <p:nvPr/>
        </p:nvSpPr>
        <p:spPr>
          <a:xfrm flipH="false" flipV="false" rot="0">
            <a:off x="3915570" y="-223343"/>
            <a:ext cx="3055817" cy="3055817"/>
          </a:xfrm>
          <a:custGeom>
            <a:avLst/>
            <a:gdLst/>
            <a:ahLst/>
            <a:cxnLst/>
            <a:rect r="r" b="b" t="t" l="l"/>
            <a:pathLst>
              <a:path h="3055817" w="3055817">
                <a:moveTo>
                  <a:pt x="0" y="0"/>
                </a:moveTo>
                <a:lnTo>
                  <a:pt x="3055817" y="0"/>
                </a:lnTo>
                <a:lnTo>
                  <a:pt x="3055817" y="3055817"/>
                </a:lnTo>
                <a:lnTo>
                  <a:pt x="0" y="3055817"/>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a:ln cap="sq">
            <a:noFill/>
            <a:prstDash val="solid"/>
            <a:miter/>
          </a:ln>
        </p:spPr>
      </p:sp>
      <p:sp>
        <p:nvSpPr>
          <p:cNvPr name="Freeform 30" id="30"/>
          <p:cNvSpPr/>
          <p:nvPr/>
        </p:nvSpPr>
        <p:spPr>
          <a:xfrm flipH="false" flipV="false" rot="0">
            <a:off x="12681291" y="3705145"/>
            <a:ext cx="1673458" cy="1457429"/>
          </a:xfrm>
          <a:custGeom>
            <a:avLst/>
            <a:gdLst/>
            <a:ahLst/>
            <a:cxnLst/>
            <a:rect r="r" b="b" t="t" l="l"/>
            <a:pathLst>
              <a:path h="1457429" w="1673458">
                <a:moveTo>
                  <a:pt x="0" y="0"/>
                </a:moveTo>
                <a:lnTo>
                  <a:pt x="1673457" y="0"/>
                </a:lnTo>
                <a:lnTo>
                  <a:pt x="1673457" y="1457429"/>
                </a:lnTo>
                <a:lnTo>
                  <a:pt x="0" y="1457429"/>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31" id="31"/>
          <p:cNvSpPr/>
          <p:nvPr/>
        </p:nvSpPr>
        <p:spPr>
          <a:xfrm flipH="false" flipV="false" rot="0">
            <a:off x="6742346" y="3163255"/>
            <a:ext cx="613911" cy="613911"/>
          </a:xfrm>
          <a:custGeom>
            <a:avLst/>
            <a:gdLst/>
            <a:ahLst/>
            <a:cxnLst/>
            <a:rect r="r" b="b" t="t" l="l"/>
            <a:pathLst>
              <a:path h="613911" w="613911">
                <a:moveTo>
                  <a:pt x="0" y="0"/>
                </a:moveTo>
                <a:lnTo>
                  <a:pt x="613911" y="0"/>
                </a:lnTo>
                <a:lnTo>
                  <a:pt x="613911" y="613911"/>
                </a:lnTo>
                <a:lnTo>
                  <a:pt x="0" y="613911"/>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a:ln cap="sq">
            <a:noFill/>
            <a:prstDash val="solid"/>
            <a:miter/>
          </a:ln>
        </p:spPr>
      </p:sp>
      <p:grpSp>
        <p:nvGrpSpPr>
          <p:cNvPr name="Group 32" id="32"/>
          <p:cNvGrpSpPr/>
          <p:nvPr/>
        </p:nvGrpSpPr>
        <p:grpSpPr>
          <a:xfrm rot="0">
            <a:off x="6742346" y="4148641"/>
            <a:ext cx="5098572" cy="1663156"/>
            <a:chOff x="0" y="0"/>
            <a:chExt cx="6798097" cy="2217542"/>
          </a:xfrm>
        </p:grpSpPr>
        <p:grpSp>
          <p:nvGrpSpPr>
            <p:cNvPr name="Group 33" id="33"/>
            <p:cNvGrpSpPr/>
            <p:nvPr/>
          </p:nvGrpSpPr>
          <p:grpSpPr>
            <a:xfrm rot="0">
              <a:off x="174310" y="171418"/>
              <a:ext cx="6623786" cy="2034431"/>
              <a:chOff x="0" y="0"/>
              <a:chExt cx="1308402" cy="401863"/>
            </a:xfrm>
          </p:grpSpPr>
          <p:sp>
            <p:nvSpPr>
              <p:cNvPr name="Freeform 34" id="34"/>
              <p:cNvSpPr/>
              <p:nvPr/>
            </p:nvSpPr>
            <p:spPr>
              <a:xfrm flipH="false" flipV="false" rot="0">
                <a:off x="0" y="0"/>
                <a:ext cx="1308402" cy="401863"/>
              </a:xfrm>
              <a:custGeom>
                <a:avLst/>
                <a:gdLst/>
                <a:ahLst/>
                <a:cxnLst/>
                <a:rect r="r" b="b" t="t" l="l"/>
                <a:pathLst>
                  <a:path h="401863" w="1308402">
                    <a:moveTo>
                      <a:pt x="0" y="0"/>
                    </a:moveTo>
                    <a:lnTo>
                      <a:pt x="1308402" y="0"/>
                    </a:lnTo>
                    <a:lnTo>
                      <a:pt x="1308402" y="401863"/>
                    </a:lnTo>
                    <a:lnTo>
                      <a:pt x="0" y="401863"/>
                    </a:lnTo>
                    <a:close/>
                  </a:path>
                </a:pathLst>
              </a:custGeom>
              <a:solidFill>
                <a:srgbClr val="707070"/>
              </a:solidFill>
            </p:spPr>
          </p:sp>
          <p:sp>
            <p:nvSpPr>
              <p:cNvPr name="TextBox 35" id="35"/>
              <p:cNvSpPr txBox="true"/>
              <p:nvPr/>
            </p:nvSpPr>
            <p:spPr>
              <a:xfrm>
                <a:off x="0" y="0"/>
                <a:ext cx="1308402" cy="401863"/>
              </a:xfrm>
              <a:prstGeom prst="rect">
                <a:avLst/>
              </a:prstGeom>
            </p:spPr>
            <p:txBody>
              <a:bodyPr anchor="ctr" rtlCol="false" tIns="50800" lIns="50800" bIns="50800" rIns="50800"/>
              <a:lstStyle/>
              <a:p>
                <a:pPr algn="ctr">
                  <a:lnSpc>
                    <a:spcPts val="1080"/>
                  </a:lnSpc>
                </a:pPr>
              </a:p>
            </p:txBody>
          </p:sp>
        </p:grpSp>
        <p:grpSp>
          <p:nvGrpSpPr>
            <p:cNvPr name="Group 36" id="36"/>
            <p:cNvGrpSpPr/>
            <p:nvPr/>
          </p:nvGrpSpPr>
          <p:grpSpPr>
            <a:xfrm rot="0">
              <a:off x="0" y="0"/>
              <a:ext cx="6623786" cy="2217542"/>
              <a:chOff x="0" y="0"/>
              <a:chExt cx="1308402" cy="438033"/>
            </a:xfrm>
          </p:grpSpPr>
          <p:sp>
            <p:nvSpPr>
              <p:cNvPr name="Freeform 37" id="37"/>
              <p:cNvSpPr/>
              <p:nvPr/>
            </p:nvSpPr>
            <p:spPr>
              <a:xfrm flipH="false" flipV="false" rot="0">
                <a:off x="0" y="0"/>
                <a:ext cx="1308402" cy="438033"/>
              </a:xfrm>
              <a:custGeom>
                <a:avLst/>
                <a:gdLst/>
                <a:ahLst/>
                <a:cxnLst/>
                <a:rect r="r" b="b" t="t" l="l"/>
                <a:pathLst>
                  <a:path h="438033" w="1308402">
                    <a:moveTo>
                      <a:pt x="0" y="0"/>
                    </a:moveTo>
                    <a:lnTo>
                      <a:pt x="1308402" y="0"/>
                    </a:lnTo>
                    <a:lnTo>
                      <a:pt x="1308402" y="438033"/>
                    </a:lnTo>
                    <a:lnTo>
                      <a:pt x="0" y="438033"/>
                    </a:lnTo>
                    <a:close/>
                  </a:path>
                </a:pathLst>
              </a:custGeom>
              <a:solidFill>
                <a:srgbClr val="FFFFFF"/>
              </a:solidFill>
              <a:ln w="66675" cap="sq">
                <a:solidFill>
                  <a:srgbClr val="000001"/>
                </a:solidFill>
                <a:prstDash val="solid"/>
                <a:miter/>
              </a:ln>
            </p:spPr>
          </p:sp>
          <p:sp>
            <p:nvSpPr>
              <p:cNvPr name="TextBox 38" id="38"/>
              <p:cNvSpPr txBox="true"/>
              <p:nvPr/>
            </p:nvSpPr>
            <p:spPr>
              <a:xfrm>
                <a:off x="0" y="-114300"/>
                <a:ext cx="1308402" cy="552333"/>
              </a:xfrm>
              <a:prstGeom prst="rect">
                <a:avLst/>
              </a:prstGeom>
            </p:spPr>
            <p:txBody>
              <a:bodyPr anchor="ctr" rtlCol="false" tIns="228600" lIns="228600" bIns="228600" rIns="228600"/>
              <a:lstStyle/>
              <a:p>
                <a:pPr algn="ctr" marL="0" indent="0" lvl="0">
                  <a:lnSpc>
                    <a:spcPts val="7699"/>
                  </a:lnSpc>
                </a:pPr>
                <a:r>
                  <a:rPr lang="en-US" b="true" sz="5499" spc="-27">
                    <a:solidFill>
                      <a:srgbClr val="000001"/>
                    </a:solidFill>
                    <a:latin typeface="Barlow SemiCondensed Bold"/>
                    <a:ea typeface="Barlow SemiCondensed Bold"/>
                    <a:cs typeface="Barlow SemiCondensed Bold"/>
                    <a:sym typeface="Barlow SemiCondensed Bold"/>
                  </a:rPr>
                  <a:t>THANK YOU </a:t>
                </a:r>
              </a:p>
            </p:txBody>
          </p:sp>
        </p:gr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DAG65OudHrs</dc:identifier>
  <dcterms:modified xsi:type="dcterms:W3CDTF">2011-08-01T06:04:30Z</dcterms:modified>
  <cp:revision>1</cp:revision>
  <dc:title>100k Asia Genome Project</dc:title>
</cp:coreProperties>
</file>